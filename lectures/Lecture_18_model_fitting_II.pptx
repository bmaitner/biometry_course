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4c02cc9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4c02cc9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5bc2b2b1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5bc2b2b1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be3ce13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be3ce13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be3ce137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be3ce137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be3ce137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9be3ce137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be3ce137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be3ce137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be3ce137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be3ce137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be3ce137e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9be3ce137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be3ce137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be3ce137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be3ce137e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be3ce137e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be3ce137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9be3ce137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be3ce137e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be3ce137e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be3ce137e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be3ce137e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be3ce137e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9be3ce137e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be3ce137e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9be3ce137e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be3ce137e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9be3ce137e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be3ce137e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9be3ce137e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be3ce137e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9be3ce137e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be3ce137e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9be3ce137e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be3ce137e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9be3ce137e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be3ce137e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9be3ce137e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be3ce137e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9be3ce137e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9be3ce137e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9be3ce137e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9be3ce137e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9be3ce137e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9be3ce137e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9be3ce137e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9be3ce137e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9be3ce137e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9be3ce137e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9be3ce137e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9be3ce137e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9be3ce137e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64c02cc92f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64c02cc92f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9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Fitting II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897850"/>
            <a:ext cx="8520600" cy="25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Issues with model fitting (7.4)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Last time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discussed different approaches for model fitting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Today, we’ll </a:t>
            </a:r>
            <a:r>
              <a:rPr lang="en"/>
              <a:t>discuss</a:t>
            </a:r>
            <a:r>
              <a:rPr lang="en"/>
              <a:t> some challenges you might encounter</a:t>
            </a:r>
            <a:endParaRPr/>
          </a:p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Dimensionality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Touched on this last 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With brute force, time to fit increases as a power law: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time per fit * number of values per </a:t>
            </a:r>
            <a:r>
              <a:rPr lang="en"/>
              <a:t>parameter</a:t>
            </a:r>
            <a:r>
              <a:rPr baseline="30000" lang="en"/>
              <a:t>n</a:t>
            </a:r>
            <a:r>
              <a:rPr baseline="30000" lang="en"/>
              <a:t> parameters</a:t>
            </a:r>
            <a:endParaRPr baseline="300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Only possible to use brute force for a few parameters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This is why we rely on faster algorithms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Even faster algorithms can be slow with lots of parameters</a:t>
            </a:r>
            <a:endParaRPr/>
          </a:p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Dimensionality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Also causes issues for trying to </a:t>
            </a:r>
            <a:r>
              <a:rPr lang="en"/>
              <a:t>understand</a:t>
            </a:r>
            <a:r>
              <a:rPr lang="en"/>
              <a:t> likelihood surfaces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1 parameter model: likelihood function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2 parameter model: likelihood surface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More than 2 parameter: need to use slices or profiles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This can be a lot of slices/profiles!</a:t>
            </a:r>
            <a:endParaRPr/>
          </a:p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 rotWithShape="1">
          <a:blip r:embed="rId3">
            <a:alphaModFix/>
          </a:blip>
          <a:srcRect b="4036" l="0" r="0" t="15551"/>
          <a:stretch/>
        </p:blipFill>
        <p:spPr>
          <a:xfrm>
            <a:off x="4486275" y="2571750"/>
            <a:ext cx="4212075" cy="2315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Slow function evaluations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Slowness of high dimensional problems makes speed important!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Most of the models we’ve fit take less than a second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More complex models (or lots of models) can take MUCH longer!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Not uncommon for advanced analyses to take </a:t>
            </a:r>
            <a:r>
              <a:rPr lang="en"/>
              <a:t>weeks or months to run</a:t>
            </a:r>
            <a:endParaRPr/>
          </a:p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Dealing with slow functions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Try to use a faster algorithm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Rewrite the code: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Apply is faster (but worse on memory)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for() is slower (but better on memory)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Use a simpler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Run analyses in parallel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Switch to a better computer or cluster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Wait a long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make sure to include code to resume interrupted runs</a:t>
            </a:r>
            <a:endParaRPr/>
          </a:p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Discontinuities and thresholds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Likelihood surfaces with many “flat” areas can cause problems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E.g., if there is only a small area where the likelihood surface changes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Derivative</a:t>
            </a:r>
            <a:r>
              <a:rPr lang="en"/>
              <a:t> based metrics fail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Other metrics will fail if not given the right starting parameters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because there is no likelihood variation to “climb”</a:t>
            </a:r>
            <a:endParaRPr/>
          </a:p>
        </p:txBody>
      </p:sp>
      <p:sp>
        <p:nvSpPr>
          <p:cNvPr id="98" name="Google Shape;9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Discontinuities and thresholds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Potential options: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Try different algorithms, starting values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profiles for parameters with these issues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Modify the function to something smoother and easier to optimize</a:t>
            </a:r>
            <a:endParaRPr/>
          </a:p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Minima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Likelihood surfaces can have multiple minima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Optimizers can get stuck in one of these and give an erroneous answer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You can check for this by using multiple algorithms, multiple starting values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If they don’t agree, you might have multiple minima</a:t>
            </a:r>
            <a:endParaRPr/>
          </a:p>
        </p:txBody>
      </p:sp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Minima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Dealing with multiple minima: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Check that models converged (this is reported by optim and mle2)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Compare AICs of the different fits and take the best 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likelihood profiles to examine the surface (including known minima)</a:t>
            </a:r>
            <a:endParaRPr/>
          </a:p>
        </p:txBody>
      </p:sp>
      <p:sp>
        <p:nvSpPr>
          <p:cNvPr id="119" name="Google Shape;11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Impossible Parameter values</a:t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Sometimes, there are constraints on parameter values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E.g., total prey consumption has to be equal to consumption of each species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some cases, model optimization will select values that don’t make sense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(This is why you should check your model </a:t>
            </a:r>
            <a:r>
              <a:rPr lang="en"/>
              <a:t>predictions)</a:t>
            </a:r>
            <a:endParaRPr/>
          </a:p>
        </p:txBody>
      </p:sp>
      <p:sp>
        <p:nvSpPr>
          <p:cNvPr id="126" name="Google Shape;12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Impossible Parameter values</a:t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Dealing with impossible parameter values: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Try different algorithms or starting values and hope you get something good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Transform parameter values to avoid impossible values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E.g., log (keep parameters positive) and logit (keep between 0 and 1) transformations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a method that allows you to constrain values (L-BFGS-B, nlminb)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Modify your NLL function to penalize nonsensical values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Note: this is roughly the order I would recommend trying these in.</a:t>
            </a:r>
            <a:endParaRPr/>
          </a:p>
        </p:txBody>
      </p:sp>
      <p:sp>
        <p:nvSpPr>
          <p:cNvPr id="133" name="Google Shape;13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returning to the tadpole from last time</a:t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library(emdbook)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library(bbmle)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data("ReedfrogFuncresp")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m2.bad_start &lt;- mle2(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Killed ~ dbinom(size = Initial,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prob = a / (1 + a * h * Initial)),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start = list(a = 0.01, h = 10),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data = ReedfrogFuncresp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0" name="Google Shape;14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returning to the tadpole from last time</a:t>
            </a:r>
            <a:endParaRPr/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compare our model estimates using the “predict” function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plot(x = ReedfrogFuncresp$Initial,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y = ReedfrogFuncresp$Killed)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	points(x = ReedfrogFuncresp$Initial,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y = predict(m2.bad_start),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col = "red")</a:t>
            </a:r>
            <a:endParaRPr/>
          </a:p>
        </p:txBody>
      </p:sp>
      <p:sp>
        <p:nvSpPr>
          <p:cNvPr id="147" name="Google Shape;14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returning to the tadpole from last time</a:t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might also plot the actual data against the predicted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plot(x = predict(m2.bad_start),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y = ReedfrogFuncresp$Killed,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xlab = "Predicted Killed",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ylab = "Actually Killed")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model doesn’t fit great</a:t>
            </a:r>
            <a:endParaRPr/>
          </a:p>
        </p:txBody>
      </p:sp>
      <p:sp>
        <p:nvSpPr>
          <p:cNvPr id="160" name="Google Shape;16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1" name="Google Shape;16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522974" cy="312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4275" y="1138700"/>
            <a:ext cx="4629725" cy="320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Profiling our model</a:t>
            </a:r>
            <a:endParaRPr/>
          </a:p>
        </p:txBody>
      </p:sp>
      <p:sp>
        <p:nvSpPr>
          <p:cNvPr id="168" name="Google Shape;168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 a look at the parameters of your model: which value seems more extreme?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It makes sense to start with whichever parameters seems less sensible</a:t>
            </a:r>
            <a:endParaRPr/>
          </a:p>
        </p:txBody>
      </p:sp>
      <p:sp>
        <p:nvSpPr>
          <p:cNvPr id="169" name="Google Shape;16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Profiling our model</a:t>
            </a:r>
            <a:endParaRPr/>
          </a:p>
        </p:txBody>
      </p:sp>
      <p:sp>
        <p:nvSpPr>
          <p:cNvPr id="175" name="Google Shape;175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Since a is around 33, we’ll start with that one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First, make a vector of “a” values to check, then a vector to store output data: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a_profile_seq &lt;- seq(from = 0.1,to = 40,by=0.1)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a_profile_nll &lt;- numeric(length(a_profile_seq))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Profiling our model</a:t>
            </a:r>
            <a:endParaRPr/>
          </a:p>
        </p:txBody>
      </p:sp>
      <p:sp>
        <p:nvSpPr>
          <p:cNvPr id="182" name="Google Shape;182;p31"/>
          <p:cNvSpPr txBox="1"/>
          <p:nvPr>
            <p:ph idx="1" type="body"/>
          </p:nvPr>
        </p:nvSpPr>
        <p:spPr>
          <a:xfrm>
            <a:off x="311700" y="1152475"/>
            <a:ext cx="8520600" cy="3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Now, we calculate NLL for each a value in the vector and record the output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for(i in 1:length(a_profile_seq)){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out_i &lt;- mle2(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Killed ~ dbinom(size = Initial,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prob = a / (1 + a * h * Initial)),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start = list(a = 0.01, h = 10),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data = ReedfrogFuncresp,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fixed =  c(a = a_profile_seq[i])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a_profile_nll[i]  &lt;- out_i@min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} #end for loop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Run this loop. What happens?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83" name="Google Shape;18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errors</a:t>
            </a:r>
            <a:endParaRPr/>
          </a:p>
        </p:txBody>
      </p:sp>
      <p:sp>
        <p:nvSpPr>
          <p:cNvPr id="189" name="Google Shape;189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optimization threw errors for some values, stopping the loop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 has different error handling functions for these instances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tryCatch() is among the most powerful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It allows you to “catch” the error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tryCatch</a:t>
            </a:r>
            <a:endParaRPr/>
          </a:p>
        </p:txBody>
      </p:sp>
      <p:sp>
        <p:nvSpPr>
          <p:cNvPr id="196" name="Google Shape;196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usual way to use tryCatch is: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output &lt;- tryCatch(expr = &lt;some code to run&gt;,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			error = function(e){e})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there is an error, your output will be of class “error”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can then replace the output with NA or whatever we like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Revising our profile with tryCatch</a:t>
            </a:r>
            <a:endParaRPr/>
          </a:p>
        </p:txBody>
      </p:sp>
      <p:sp>
        <p:nvSpPr>
          <p:cNvPr id="203" name="Google Shape;203;p34"/>
          <p:cNvSpPr txBox="1"/>
          <p:nvPr>
            <p:ph idx="1" type="body"/>
          </p:nvPr>
        </p:nvSpPr>
        <p:spPr>
          <a:xfrm>
            <a:off x="150600" y="1017725"/>
            <a:ext cx="8681700" cy="39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525">
                <a:latin typeface="Consolas"/>
                <a:ea typeface="Consolas"/>
                <a:cs typeface="Consolas"/>
                <a:sym typeface="Consolas"/>
              </a:rPr>
              <a:t>    for(i in 1:length(a_profile_seq)){</a:t>
            </a:r>
            <a:endParaRPr sz="1525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525">
                <a:latin typeface="Consolas"/>
                <a:ea typeface="Consolas"/>
                <a:cs typeface="Consolas"/>
                <a:sym typeface="Consolas"/>
              </a:rPr>
              <a:t>         </a:t>
            </a:r>
            <a:endParaRPr sz="1525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525">
                <a:latin typeface="Consolas"/>
                <a:ea typeface="Consolas"/>
                <a:cs typeface="Consolas"/>
                <a:sym typeface="Consolas"/>
              </a:rPr>
              <a:t>      out_i&lt;- </a:t>
            </a:r>
            <a:r>
              <a:rPr lang="en" sz="1525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tryCatch(</a:t>
            </a:r>
            <a:endParaRPr sz="1525"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525"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 sz="1525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525">
                <a:latin typeface="Consolas"/>
                <a:ea typeface="Consolas"/>
                <a:cs typeface="Consolas"/>
                <a:sym typeface="Consolas"/>
              </a:rPr>
              <a:t>      mle2( Killed ~ dbinom(size = Initial,</a:t>
            </a:r>
            <a:endParaRPr sz="1525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525">
                <a:latin typeface="Consolas"/>
                <a:ea typeface="Consolas"/>
                <a:cs typeface="Consolas"/>
                <a:sym typeface="Consolas"/>
              </a:rPr>
              <a:t>                            prob = a / (1 + a * h * Initial)),</a:t>
            </a:r>
            <a:endParaRPr sz="1525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525">
                <a:latin typeface="Consolas"/>
                <a:ea typeface="Consolas"/>
                <a:cs typeface="Consolas"/>
                <a:sym typeface="Consolas"/>
              </a:rPr>
              <a:t>        start = list(a = 0.01, h = 10),</a:t>
            </a:r>
            <a:endParaRPr sz="1525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525">
                <a:latin typeface="Consolas"/>
                <a:ea typeface="Consolas"/>
                <a:cs typeface="Consolas"/>
                <a:sym typeface="Consolas"/>
              </a:rPr>
              <a:t>        data = ReedfrogFuncresp,</a:t>
            </a:r>
            <a:endParaRPr sz="1525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525">
                <a:latin typeface="Consolas"/>
                <a:ea typeface="Consolas"/>
                <a:cs typeface="Consolas"/>
                <a:sym typeface="Consolas"/>
              </a:rPr>
              <a:t>        fixed =  c(a = a_profile_seq[i])</a:t>
            </a:r>
            <a:endParaRPr sz="1525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525"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1525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), error = function(e){e})</a:t>
            </a:r>
            <a:endParaRPr sz="1525"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525">
                <a:latin typeface="Consolas"/>
                <a:ea typeface="Consolas"/>
                <a:cs typeface="Consolas"/>
                <a:sym typeface="Consolas"/>
              </a:rPr>
              <a:t>         </a:t>
            </a:r>
            <a:endParaRPr sz="1525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525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      if(inherits(x = out_i, what = "error")){       </a:t>
            </a:r>
            <a:endParaRPr sz="1525"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525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        a_profile_nll[i]  &lt;- NA</a:t>
            </a:r>
            <a:endParaRPr sz="1525"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525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      }else{</a:t>
            </a:r>
            <a:endParaRPr sz="1525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525">
                <a:latin typeface="Consolas"/>
                <a:ea typeface="Consolas"/>
                <a:cs typeface="Consolas"/>
                <a:sym typeface="Consolas"/>
              </a:rPr>
              <a:t>        a_profile_nll[i]  &lt;- out_i@min</a:t>
            </a:r>
            <a:endParaRPr sz="1525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525"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1525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25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525">
                <a:latin typeface="Consolas"/>
                <a:ea typeface="Consolas"/>
                <a:cs typeface="Consolas"/>
                <a:sym typeface="Consolas"/>
              </a:rPr>
              <a:t>    } </a:t>
            </a:r>
            <a:endParaRPr sz="1525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4" name="Google Shape;204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Plotting our likelihood profile</a:t>
            </a:r>
            <a:endParaRPr/>
          </a:p>
        </p:txBody>
      </p:sp>
      <p:sp>
        <p:nvSpPr>
          <p:cNvPr id="210" name="Google Shape;210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plot(x = a_profile_seq,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y = a_profile_nll,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xlab = "a",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ylab = "NLL")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abline(v = m2.bad_start@coef["a"]) # add a line for our model fit estimate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 Does out estimate for a correspond to the best NLL? What went wrong?</a:t>
            </a:r>
            <a:endParaRPr/>
          </a:p>
        </p:txBody>
      </p:sp>
      <p:sp>
        <p:nvSpPr>
          <p:cNvPr id="211" name="Google Shape;211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Plotting our likelihood profile</a:t>
            </a:r>
            <a:endParaRPr/>
          </a:p>
        </p:txBody>
      </p:sp>
      <p:sp>
        <p:nvSpPr>
          <p:cNvPr id="217" name="Google Shape;217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plot(x = a_profile_seq,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y = a_profile_nll,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xlab = "a",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ylab = "NLL")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abline(v = m2.bad_start@coef["a"]) # add a line for our model fit estimate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 Does out estimate for a correspond to the best NLL? What went wrong?</a:t>
            </a:r>
            <a:endParaRPr/>
          </a:p>
        </p:txBody>
      </p:sp>
      <p:sp>
        <p:nvSpPr>
          <p:cNvPr id="218" name="Google Shape;21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Updating out model</a:t>
            </a:r>
            <a:endParaRPr/>
          </a:p>
        </p:txBody>
      </p:sp>
      <p:sp>
        <p:nvSpPr>
          <p:cNvPr id="224" name="Google Shape;224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get a new starting estimate for “a” based on our profile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best_guess_a &lt;- a_profile_seq[which.min(a_profile_nll)]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we re-run the model with the new starting estimate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m2.good_start &lt;- mle2(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Killed ~ dbinom(size = Initial,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prob = a / (1 + a * h * Initial)),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start = list(a = best_guess_a, h = 10),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data = ReedfrogFuncresp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5" name="Google Shape;225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 the updated model</a:t>
            </a:r>
            <a:endParaRPr/>
          </a:p>
        </p:txBody>
      </p:sp>
      <p:sp>
        <p:nvSpPr>
          <p:cNvPr id="231" name="Google Shape;231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</a:t>
            </a:r>
            <a:r>
              <a:rPr lang="en"/>
              <a:t>heck out the parameters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m2.bad_start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m2.good_start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</a:t>
            </a:r>
            <a:r>
              <a:rPr lang="en"/>
              <a:t>ompare using aic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AICtab(m2.bad_start,m2.good_start)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980000"/>
                </a:solidFill>
              </a:rPr>
              <a:t>Which model is best?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Plotting out new model results</a:t>
            </a:r>
            <a:endParaRPr/>
          </a:p>
        </p:txBody>
      </p:sp>
      <p:sp>
        <p:nvSpPr>
          <p:cNvPr id="238" name="Google Shape;238;p39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Plot predictions on top of actual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plot(x = ReedfrogFuncresp$Initial,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y = ReedfrogFuncresp$Killed,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ylab = "Killed",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xlab = "Initial")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points(x = ReedfrogFuncresp$Initial,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y = predict(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m2.good_start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col = "red")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Plot killed vs predicted killed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plot(x = predict(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m2.good_start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y = ReedfrogFuncresp$Killed,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xlab = "Predicted Killed",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ylab = "Actually Killed")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Does the model predictions seem better?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39" name="Google Shape;239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Take-aways</a:t>
            </a:r>
            <a:endParaRPr/>
          </a:p>
        </p:txBody>
      </p:sp>
      <p:sp>
        <p:nvSpPr>
          <p:cNvPr id="245" name="Google Shape;245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Compare your model predictions to reality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the model fit seems poor, try: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Different optimizers or starting values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profiles/slices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Using constraints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Transforming model parameters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Using a different model</a:t>
            </a:r>
            <a:endParaRPr/>
          </a:p>
        </p:txBody>
      </p:sp>
      <p:sp>
        <p:nvSpPr>
          <p:cNvPr id="246" name="Google Shape;246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1"/>
          <p:cNvSpPr txBox="1"/>
          <p:nvPr>
            <p:ph idx="1" type="body"/>
          </p:nvPr>
        </p:nvSpPr>
        <p:spPr>
          <a:xfrm>
            <a:off x="311700" y="390475"/>
            <a:ext cx="8520600" cy="41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Before next class: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Read 7.5</a:t>
            </a:r>
            <a:endParaRPr/>
          </a:p>
        </p:txBody>
      </p:sp>
      <p:sp>
        <p:nvSpPr>
          <p:cNvPr id="252" name="Google Shape;252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