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y="5143500" cx="9144000"/>
  <p:notesSz cx="6858000" cy="9144000"/>
  <p:embeddedFontLst>
    <p:embeddedFont>
      <p:font typeface="Roboto"/>
      <p:regular r:id="rId46"/>
      <p:bold r:id="rId47"/>
      <p:italic r:id="rId48"/>
      <p:boldItalic r:id="rId4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635678D-738B-4430-B221-87BD309180A6}">
  <a:tblStyle styleId="{0635678D-738B-4430-B221-87BD309180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4.xml"/><Relationship Id="rId42" Type="http://schemas.openxmlformats.org/officeDocument/2006/relationships/slide" Target="slides/slide36.xml"/><Relationship Id="rId41" Type="http://schemas.openxmlformats.org/officeDocument/2006/relationships/slide" Target="slides/slide35.xml"/><Relationship Id="rId44" Type="http://schemas.openxmlformats.org/officeDocument/2006/relationships/slide" Target="slides/slide38.xml"/><Relationship Id="rId43" Type="http://schemas.openxmlformats.org/officeDocument/2006/relationships/slide" Target="slides/slide37.xml"/><Relationship Id="rId46" Type="http://schemas.openxmlformats.org/officeDocument/2006/relationships/font" Target="fonts/Roboto-regular.fntdata"/><Relationship Id="rId45" Type="http://schemas.openxmlformats.org/officeDocument/2006/relationships/slide" Target="slides/slide39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Roboto-italic.fntdata"/><Relationship Id="rId47" Type="http://schemas.openxmlformats.org/officeDocument/2006/relationships/font" Target="fonts/Roboto-bold.fntdata"/><Relationship Id="rId49" Type="http://schemas.openxmlformats.org/officeDocument/2006/relationships/font" Target="fonts/Roboto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33" Type="http://schemas.openxmlformats.org/officeDocument/2006/relationships/slide" Target="slides/slide27.xml"/><Relationship Id="rId32" Type="http://schemas.openxmlformats.org/officeDocument/2006/relationships/slide" Target="slides/slide26.xml"/><Relationship Id="rId35" Type="http://schemas.openxmlformats.org/officeDocument/2006/relationships/slide" Target="slides/slide29.xml"/><Relationship Id="rId34" Type="http://schemas.openxmlformats.org/officeDocument/2006/relationships/slide" Target="slides/slide28.xml"/><Relationship Id="rId37" Type="http://schemas.openxmlformats.org/officeDocument/2006/relationships/slide" Target="slides/slide31.xml"/><Relationship Id="rId36" Type="http://schemas.openxmlformats.org/officeDocument/2006/relationships/slide" Target="slides/slide30.xml"/><Relationship Id="rId39" Type="http://schemas.openxmlformats.org/officeDocument/2006/relationships/slide" Target="slides/slide33.xml"/><Relationship Id="rId38" Type="http://schemas.openxmlformats.org/officeDocument/2006/relationships/slide" Target="slides/slide32.xml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64c02cc92f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64c02cc92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2062905e9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2062905e9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a66edb23b7_1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" name="Google Shape;65;g3a66edb23b7_1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a66edb23b7_1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3a66edb23b7_1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3a66edb23b7_1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3a66edb23b7_1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66edb23b7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a66edb23b7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a66edb23b7_1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a66edb23b7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66edb23b7_1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a66edb23b7_1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66edb23b7_1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a66edb23b7_1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a66edb23b7_1_13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a66edb23b7_1_1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a66edb23b7_1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a66edb23b7_1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66edb23b7_1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a66edb23b7_1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66edb23b7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a66edb23b7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a66edb23b7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a66edb23b7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a66edb23b7_1_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a66edb23b7_1_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a66edb23b7_1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a66edb23b7_1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66edb23b7_1_1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3a66edb23b7_1_1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66edb23b7_1_1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a66edb23b7_1_1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a66edb23b7_1_1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a66edb23b7_1_1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a66edb23b7_1_1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a66edb23b7_1_1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66edb23b7_1_1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a66edb23b7_1_1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a66edb23b7_1_1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a66edb23b7_1_1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a66edb23b7_1_1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a66edb23b7_1_1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a66edb23b7_1_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a66edb23b7_1_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a66edb23b7_1_17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a66edb23b7_1_1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a66edb23b7_1_1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a66edb23b7_1_1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a66edb23b7_1_1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a66edb23b7_1_1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a66edb23b7_1_19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a66edb23b7_1_19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a66edb23b7_1_2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a66edb23b7_1_2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a66edb23b7_1_2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a66edb23b7_1_2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a66edb23b7_1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a66edb23b7_1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a66edb23b7_1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a66edb23b7_1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a66edb23b7_1_2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a66edb23b7_1_2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a66edb23b7_1_2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a66edb23b7_1_2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g3a66edb23b7_1_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8" name="Google Shape;298;g3a66edb23b7_1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a66edb23b7_1_2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a66edb23b7_1_2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a66edb23b7_1_2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a66edb23b7_1_2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a66edb23b7_1_2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9" name="Google Shape;319;g3a66edb23b7_1_2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64c02cc92f_0_19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64c02cc92f_0_1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tinyurl.com/avonetdata" TargetMode="Externa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3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rstudio.github.io/cheatsheets/html/data-visualization.html" TargetMode="Externa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r4ds.hadley.nz/workflow-help.html" TargetMode="External"/><Relationship Id="rId4" Type="http://schemas.openxmlformats.org/officeDocument/2006/relationships/hyperlink" Target="https://doi.org/10.1038/s41559-023-02063-3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99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Better figures with ggplot2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1897850"/>
            <a:ext cx="8520600" cy="255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sz="1800"/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ggplot2 (R for Data Science Chapter 1)</a:t>
            </a:r>
            <a:endParaRPr sz="18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ggplot2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package in the tidyverse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“</a:t>
            </a:r>
            <a:r>
              <a:rPr lang="en"/>
              <a:t>g</a:t>
            </a:r>
            <a:r>
              <a:rPr lang="en"/>
              <a:t>g” refers to “grammar of graphics”, a consistent format for plotting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Offers a lot of options for </a:t>
            </a:r>
            <a:r>
              <a:rPr lang="en"/>
              <a:t>publication</a:t>
            </a:r>
            <a:r>
              <a:rPr lang="en"/>
              <a:t>-quality figures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Additional packages play (usually starting with “gg”) add more features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Syntax can be tricky at first</a:t>
            </a:r>
            <a:endParaRPr/>
          </a:p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Getting set up</a:t>
            </a:r>
            <a:endParaRPr/>
          </a:p>
        </p:txBody>
      </p:sp>
      <p:sp>
        <p:nvSpPr>
          <p:cNvPr id="68" name="Google Shape;68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library(tidyverse)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library(ggplot2)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library(ggpubr)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avo &lt;- read_rds("</a:t>
            </a:r>
            <a:r>
              <a:rPr lang="en" u="sng">
                <a:solidFill>
                  <a:schemeClr val="hlink"/>
                </a:solidFill>
                <a:latin typeface="Consolas"/>
                <a:ea typeface="Consolas"/>
                <a:cs typeface="Consolas"/>
                <a:sym typeface="Consolas"/>
                <a:hlinkClick r:id="rId3"/>
              </a:rPr>
              <a:t>https://tinyurl.com/avonetdata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")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980000"/>
                </a:solidFill>
              </a:rPr>
              <a:t>Go ahead and run this</a:t>
            </a:r>
            <a:endParaRPr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69" name="Google Shape;69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Understanding ggplot</a:t>
            </a:r>
            <a:endParaRPr/>
          </a:p>
        </p:txBody>
      </p:sp>
      <p:sp>
        <p:nvSpPr>
          <p:cNvPr id="75" name="Google Shape;75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Today, we’re going to work through some examples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We’ll start with single variables, then work up to more complicated figures</a:t>
            </a:r>
            <a:endParaRPr/>
          </a:p>
        </p:txBody>
      </p:sp>
      <p:sp>
        <p:nvSpPr>
          <p:cNvPr id="76" name="Google Shape;76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Distributions</a:t>
            </a:r>
            <a:endParaRPr/>
          </a:p>
        </p:txBody>
      </p:sp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Let’s start with the single variable case and look at distributions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Base R:</a:t>
            </a:r>
            <a:endParaRPr/>
          </a:p>
          <a:p>
            <a:pPr indent="45720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hist(avo$Hand.Wing.Index)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/>
              <a:t>ggplot:  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ggplot(mapping = aes(x = Hand.Wing.Index)) 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geom_histogram()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out now and examine the output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83" name="Google Shape;83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Distributions</a:t>
            </a:r>
            <a:endParaRPr/>
          </a:p>
        </p:txBody>
      </p:sp>
      <p:sp>
        <p:nvSpPr>
          <p:cNvPr id="89" name="Google Shape;89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could also use a density plot: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 avo |&gt;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   ggplot(mapping = aes(x = Hand.Wing.Index))+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    geom_density()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out now and examine the output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90" name="Google Shape;90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</a:t>
            </a:r>
            <a:r>
              <a:rPr lang="en"/>
              <a:t>gplot syntax</a:t>
            </a:r>
            <a:endParaRPr/>
          </a:p>
        </p:txBody>
      </p:sp>
      <p:sp>
        <p:nvSpPr>
          <p:cNvPr id="96" name="Google Shape;96;p1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ggplot(mapping = aes(x = Hand.Wing.Index)) 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geom_histogram()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What happens if we omit the “geom_histogram” bit?</a:t>
            </a:r>
            <a:endParaRPr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97" name="Google Shape;97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8" name="Google Shape;98;p19"/>
          <p:cNvSpPr txBox="1"/>
          <p:nvPr/>
        </p:nvSpPr>
        <p:spPr>
          <a:xfrm>
            <a:off x="3448800" y="1605600"/>
            <a:ext cx="4685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80000"/>
                </a:solidFill>
              </a:rPr>
              <a:t>Maps data to plot elements</a:t>
            </a:r>
            <a:endParaRPr sz="1800">
              <a:solidFill>
                <a:srgbClr val="980000"/>
              </a:solidFill>
            </a:endParaRPr>
          </a:p>
        </p:txBody>
      </p:sp>
      <p:sp>
        <p:nvSpPr>
          <p:cNvPr id="99" name="Google Shape;99;p19"/>
          <p:cNvSpPr txBox="1"/>
          <p:nvPr/>
        </p:nvSpPr>
        <p:spPr>
          <a:xfrm>
            <a:off x="3448800" y="2988203"/>
            <a:ext cx="4685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80000"/>
                </a:solidFill>
              </a:rPr>
              <a:t>Tells ggplot what type of plot to make</a:t>
            </a:r>
            <a:endParaRPr sz="1800">
              <a:solidFill>
                <a:srgbClr val="980000"/>
              </a:solidFill>
            </a:endParaRPr>
          </a:p>
        </p:txBody>
      </p:sp>
      <p:cxnSp>
        <p:nvCxnSpPr>
          <p:cNvPr id="100" name="Google Shape;100;p19"/>
          <p:cNvCxnSpPr/>
          <p:nvPr/>
        </p:nvCxnSpPr>
        <p:spPr>
          <a:xfrm flipH="1">
            <a:off x="1645800" y="1736100"/>
            <a:ext cx="1803000" cy="3312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01" name="Google Shape;101;p19"/>
          <p:cNvCxnSpPr>
            <a:stCxn id="99" idx="1"/>
          </p:cNvCxnSpPr>
          <p:nvPr/>
        </p:nvCxnSpPr>
        <p:spPr>
          <a:xfrm rot="10800000">
            <a:off x="2536800" y="2941853"/>
            <a:ext cx="912000" cy="2772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ggplot syntax</a:t>
            </a:r>
            <a:endParaRPr/>
          </a:p>
        </p:txBody>
      </p:sp>
      <p:sp>
        <p:nvSpPr>
          <p:cNvPr id="107" name="Google Shape;107;p2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ggplot(mapping = aes(x = Hand.Wing.Index)) 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geom_histogram()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What are some of the other “geom_” options? (hint: use tab completion)</a:t>
            </a:r>
            <a:endParaRPr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Do they result in a figure if we call them instead of geom_histogram?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08" name="Google Shape;108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9" name="Google Shape;109;p20"/>
          <p:cNvSpPr txBox="1"/>
          <p:nvPr/>
        </p:nvSpPr>
        <p:spPr>
          <a:xfrm>
            <a:off x="2335250" y="2629828"/>
            <a:ext cx="4685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80000"/>
                </a:solidFill>
              </a:rPr>
              <a:t>Plot functions begin with “geom_”</a:t>
            </a:r>
            <a:endParaRPr sz="1800">
              <a:solidFill>
                <a:srgbClr val="980000"/>
              </a:solidFill>
            </a:endParaRPr>
          </a:p>
        </p:txBody>
      </p:sp>
      <p:cxnSp>
        <p:nvCxnSpPr>
          <p:cNvPr id="110" name="Google Shape;110;p20"/>
          <p:cNvCxnSpPr/>
          <p:nvPr/>
        </p:nvCxnSpPr>
        <p:spPr>
          <a:xfrm rot="10800000">
            <a:off x="1306625" y="2571753"/>
            <a:ext cx="912000" cy="2772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Two variables</a:t>
            </a:r>
            <a:endParaRPr/>
          </a:p>
        </p:txBody>
      </p:sp>
      <p:sp>
        <p:nvSpPr>
          <p:cNvPr id="116" name="Google Shape;116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Options depend on type of data: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aphicFrame>
        <p:nvGraphicFramePr>
          <p:cNvPr id="118" name="Google Shape;118;p21"/>
          <p:cNvGraphicFramePr/>
          <p:nvPr/>
        </p:nvGraphicFramePr>
        <p:xfrm>
          <a:off x="623725" y="18093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{0635678D-738B-4430-B221-87BD309180A6}</a:tableStyleId>
              </a:tblPr>
              <a:tblGrid>
                <a:gridCol w="871200"/>
                <a:gridCol w="1586700"/>
                <a:gridCol w="2096450"/>
                <a:gridCol w="2175625"/>
              </a:tblGrid>
              <a:tr h="429825">
                <a:tc gridSpan="2" rowSpan="2"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rowSpan="2" hMerge="1"/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y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302550">
                <a:tc gridSpan="2" vMerge="1"/>
                <a:tc hMerge="1"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Continuous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Categorical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22300">
                <a:tc row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x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Continuous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</a:t>
                      </a:r>
                      <a:r>
                        <a:rPr lang="en"/>
                        <a:t>eom_point,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geom_line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geom_density_ridges,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coord_flip()-ed versions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99500">
                <a:tc v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Categorical</a:t>
                      </a:r>
                      <a:endParaRPr/>
                    </a:p>
                  </a:txBody>
                  <a:tcPr marT="91425" marB="91425" marR="91425" marL="91425" anchor="ctr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geom_bar,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geom_boxplot,</a:t>
                      </a:r>
                      <a:endParaRPr>
                        <a:solidFill>
                          <a:schemeClr val="dk1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</a:rPr>
                        <a:t>geom_violin</a:t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</a:t>
                      </a:r>
                      <a:r>
                        <a:rPr lang="en"/>
                        <a:t>eom_tile,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g</a:t>
                      </a:r>
                      <a:r>
                        <a:rPr lang="en"/>
                        <a:t>eom_raster,</a:t>
                      </a:r>
                      <a:endParaRPr/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/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Continuous x, continuous y</a:t>
            </a:r>
            <a:endParaRPr/>
          </a:p>
        </p:txBody>
      </p:sp>
      <p:sp>
        <p:nvSpPr>
          <p:cNvPr id="124" name="Google Shape;124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geom_point</a:t>
            </a:r>
            <a:endParaRPr/>
          </a:p>
        </p:txBody>
      </p:sp>
      <p:sp>
        <p:nvSpPr>
          <p:cNvPr id="131" name="Google Shape;131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ggplot(mapping = aes(x = Hand.Wing.Index,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y = Kipps.Distance))+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geom_point()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out. Then, plot two other continuous variables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32" name="Google Shape;13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geom_point</a:t>
            </a:r>
            <a:endParaRPr/>
          </a:p>
        </p:txBody>
      </p:sp>
      <p:sp>
        <p:nvSpPr>
          <p:cNvPr id="138" name="Google Shape;138;p2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ggplot(mapping = aes(x = Hand.Wing.Index,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y = Kipps.Distance))+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geom_point()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How would we plot a line showing the relationship between the two?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39" name="Google Shape;139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lines</a:t>
            </a:r>
            <a:endParaRPr/>
          </a:p>
        </p:txBody>
      </p:sp>
      <p:sp>
        <p:nvSpPr>
          <p:cNvPr id="145" name="Google Shape;145;p2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main approaches: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latin typeface="Consolas"/>
                <a:ea typeface="Consolas"/>
                <a:cs typeface="Consolas"/>
                <a:sym typeface="Consolas"/>
              </a:rPr>
              <a:t>geom_line()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adds a line connecting adjacent points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Doesn’t work in this case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latin typeface="Consolas"/>
                <a:ea typeface="Consolas"/>
                <a:cs typeface="Consolas"/>
                <a:sym typeface="Consolas"/>
              </a:rPr>
              <a:t>geom_abline()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allows you to add a line you specify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Good option here if we fit a line first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>
                <a:latin typeface="Consolas"/>
                <a:ea typeface="Consolas"/>
                <a:cs typeface="Consolas"/>
                <a:sym typeface="Consolas"/>
              </a:rPr>
              <a:t>geom_smooth()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fits a line for you and add it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G</a:t>
            </a:r>
            <a:r>
              <a:rPr lang="en"/>
              <a:t>ood option here</a:t>
            </a:r>
            <a:endParaRPr/>
          </a:p>
        </p:txBody>
      </p:sp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geom_line()</a:t>
            </a:r>
            <a:endParaRPr/>
          </a:p>
        </p:txBody>
      </p:sp>
      <p:sp>
        <p:nvSpPr>
          <p:cNvPr id="152" name="Google Shape;152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ggplot(mapping = aes(x = Hand.Wing.Index,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y = Kipps.Distance))+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geom_line()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out. Is it useful?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53" name="Google Shape;153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geom_line()</a:t>
            </a:r>
            <a:endParaRPr/>
          </a:p>
        </p:txBody>
      </p:sp>
      <p:sp>
        <p:nvSpPr>
          <p:cNvPr id="159" name="Google Shape;159;p2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mutate(rounded_hwi = round(Hand.Wing.Index))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group_by(rounded_hwi)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summarise(mean_kipps = mean(Kipps.Distance))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ggplot(mapping = aes(x = rounded_hwi,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y = mean_kipps))+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geom_line()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one.  Is this useful?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60" name="Google Shape;160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geom_abline()</a:t>
            </a:r>
            <a:endParaRPr/>
          </a:p>
        </p:txBody>
      </p:sp>
      <p:sp>
        <p:nvSpPr>
          <p:cNvPr id="166" name="Google Shape;166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With this, we can add a fitted line to a plot.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First, we need to decide on a line, or model one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kipps_v_hwi_model &lt;- avo |&gt;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4572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lm(formula = Kipps.Distance ~ Hand.Wing.Index)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    </a:t>
            </a:r>
            <a:endParaRPr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What data do we need from the model to plot the fitted line?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67" name="Google Shape;167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geom_abline()</a:t>
            </a:r>
            <a:endParaRPr/>
          </a:p>
        </p:txBody>
      </p:sp>
      <p:sp>
        <p:nvSpPr>
          <p:cNvPr id="173" name="Google Shape;173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ggplot(data = avo,mapping = aes(x = Hand.Wing.Index,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            y = Kipps.Distance))+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geom_point()+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geom_abline(slope = kipps_v_hwi_model$coefficients[2],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intercept = kipps_v_hwi_model$coefficients[1],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color = "blue")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Run this.  How does it look? Any changes you’d want to make?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74" name="Google Shape;174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geom_smooth()</a:t>
            </a:r>
            <a:endParaRPr/>
          </a:p>
        </p:txBody>
      </p:sp>
      <p:sp>
        <p:nvSpPr>
          <p:cNvPr id="180" name="Google Shape;180;p3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Fits a line for you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By default uses a loess fit</a:t>
            </a:r>
            <a:endParaRPr>
              <a:solidFill>
                <a:schemeClr val="dk1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n">
                <a:solidFill>
                  <a:schemeClr val="dk1"/>
                </a:solidFill>
              </a:rPr>
              <a:t>In many cases, we want an lm instead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ggplot(data = avo,mapping = aes(x = Hand.Wing.Index,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              y = Kipps.Distance))+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geom_point()+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geom_smooth()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Run this now. How does the fitted line look?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81" name="Google Shape;181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geom_smooth()</a:t>
            </a:r>
            <a:endParaRPr/>
          </a:p>
        </p:txBody>
      </p:sp>
      <p:sp>
        <p:nvSpPr>
          <p:cNvPr id="187" name="Google Shape;187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ggplot(data = avo,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mapping = aes(x = Hand.Wing.Index,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y = Kipps.Distance)) +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geom_point() +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45720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geom_smooth(method = "lm")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Run this. How does it compare with the plot you made using geom_abline?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188" name="Google Shape;188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Categorical x, continuous y</a:t>
            </a:r>
            <a:endParaRPr/>
          </a:p>
        </p:txBody>
      </p:sp>
      <p:sp>
        <p:nvSpPr>
          <p:cNvPr id="194" name="Google Shape;194;p3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geom_bar</a:t>
            </a:r>
            <a:endParaRPr/>
          </a:p>
        </p:txBody>
      </p:sp>
      <p:sp>
        <p:nvSpPr>
          <p:cNvPr id="201" name="Google Shape;201;p3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group_by(Order1)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summarise(mean_mass = mean(Mass))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slice_max(n = 5, order_by = mean_mass)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ggplot(mapping = aes(y = mean_mass, x = Order1)) 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geom_bar(stat = "identity")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980000"/>
                </a:solidFill>
              </a:rPr>
              <a:t>Try this out.  Then, try it for different variable(s)</a:t>
            </a:r>
            <a:endParaRPr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geom_bar</a:t>
            </a:r>
            <a:endParaRPr/>
          </a:p>
        </p:txBody>
      </p:sp>
      <p:sp>
        <p:nvSpPr>
          <p:cNvPr id="208" name="Google Shape;208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By default, geom_bar uses count data.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We forced it to use the raw data we gave it (mean_mass)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Let’s try the default setting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geom_bar</a:t>
            </a:r>
            <a:endParaRPr/>
          </a:p>
        </p:txBody>
      </p:sp>
      <p:sp>
        <p:nvSpPr>
          <p:cNvPr id="215" name="Google Shape;215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6" name="Google Shape;216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filter(Order1 %in% c("Struthioniformes",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"Cathartiformes",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"Gaviiformes",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"Sphenisciformes",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"Ciconiiformes"))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ggplot(mapping = aes(x= Order1)) 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geom_bar()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one.  Why don’t we have to specify y in the aesthetics?</a:t>
            </a:r>
            <a:endParaRPr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geom_boxplot</a:t>
            </a:r>
            <a:endParaRPr/>
          </a:p>
        </p:txBody>
      </p:sp>
      <p:sp>
        <p:nvSpPr>
          <p:cNvPr id="222" name="Google Shape;222;p3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filter(Order1 %in% c("Struthioniformes",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"Cathartiformes",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"Gaviiformes",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"Sphenisciformes",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"Ciconiiformes"))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ggplot(mapping = aes(x= Order1,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y = Wing.Length)) 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geom_boxplot()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Run this now.  Who remembers what the different features denote?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223" name="Google Shape;223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geom_boxplot</a:t>
            </a:r>
            <a:endParaRPr/>
          </a:p>
        </p:txBody>
      </p:sp>
      <p:sp>
        <p:nvSpPr>
          <p:cNvPr id="229" name="Google Shape;229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30" name="Google Shape;230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1700" y="1159525"/>
            <a:ext cx="6080493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37"/>
          <p:cNvSpPr txBox="1"/>
          <p:nvPr/>
        </p:nvSpPr>
        <p:spPr>
          <a:xfrm>
            <a:off x="6630350" y="492075"/>
            <a:ext cx="2532600" cy="37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Horizontal</a:t>
            </a:r>
            <a:r>
              <a:rPr lang="en" sz="1800">
                <a:solidFill>
                  <a:schemeClr val="dk2"/>
                </a:solidFill>
              </a:rPr>
              <a:t> line = Median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Hinges = Q1 and Q3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Whiskers = 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Furthest data within 1.5*IQR from Q1/Q3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IQR = Q3-Q1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Dots = outliers (points outside whiskers)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geom_violin</a:t>
            </a:r>
            <a:endParaRPr/>
          </a:p>
        </p:txBody>
      </p:sp>
      <p:sp>
        <p:nvSpPr>
          <p:cNvPr id="237" name="Google Shape;237;p3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sort of combination of a density plot and a boxplot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Contains more information than a boxplot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Revise the code we used for our boxplot to make a violin plot instead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238" name="Google Shape;238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Box vs violin</a:t>
            </a:r>
            <a:endParaRPr/>
          </a:p>
        </p:txBody>
      </p:sp>
      <p:sp>
        <p:nvSpPr>
          <p:cNvPr id="244" name="Google Shape;244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5" name="Google Shape;245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5499" y="1128000"/>
            <a:ext cx="6177425" cy="3881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Continuous x, categorical y</a:t>
            </a:r>
            <a:endParaRPr/>
          </a:p>
        </p:txBody>
      </p:sp>
      <p:sp>
        <p:nvSpPr>
          <p:cNvPr id="251" name="Google Shape;251;p4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Same functions as for categorical x and continuous 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Just flip the x and y variables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Can also use “coord_flip)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group_by(Order1)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summarise(mean_mass = mean(Mass))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slice_max(n = 5, order_by = mean_mass)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ggplot(mapping = aes(y = mean_mass, x = Order1)) 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geom_bar(stat = "identity")+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coord_flip()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one out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252" name="Google Shape;252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Joy Plots (aka Ridgeline plots)</a:t>
            </a:r>
            <a:endParaRPr/>
          </a:p>
        </p:txBody>
      </p:sp>
      <p:sp>
        <p:nvSpPr>
          <p:cNvPr id="258" name="Google Shape;258;p41"/>
          <p:cNvSpPr txBox="1"/>
          <p:nvPr>
            <p:ph idx="1" type="body"/>
          </p:nvPr>
        </p:nvSpPr>
        <p:spPr>
          <a:xfrm>
            <a:off x="311700" y="1152475"/>
            <a:ext cx="4187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Inspired by Joy Division’s album, </a:t>
            </a:r>
            <a:r>
              <a:rPr i="1" lang="en"/>
              <a:t>Unknown Pleasures</a:t>
            </a:r>
            <a:r>
              <a:rPr lang="en"/>
              <a:t> (1979)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Essentially a stacked set of distributions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Implemented in R using          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geom_density_ridges()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0" name="Google Shape;260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29725" y="565725"/>
            <a:ext cx="3733750" cy="3708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geom_density_ridges</a:t>
            </a:r>
            <a:endParaRPr/>
          </a:p>
        </p:txBody>
      </p:sp>
      <p:sp>
        <p:nvSpPr>
          <p:cNvPr id="266" name="Google Shape;266;p4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group_by(Order1)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mutate(mean_mass = mean(Mass))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filter(Order1 %in% c("Struthioniformes",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"Cathartiformes",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"Gaviiformes",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"Sphenisciformes",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"Ciconiiformes"))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ggplot(mapping = aes(x = Wing.Length,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Y = Order1,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    group = Order1))+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geom_density_ridges()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out!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267" name="Google Shape;267;p4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Categorical x, categorical y</a:t>
            </a:r>
            <a:endParaRPr/>
          </a:p>
        </p:txBody>
      </p:sp>
      <p:sp>
        <p:nvSpPr>
          <p:cNvPr id="273" name="Google Shape;273;p4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 a common thing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Sometimes done to show the counts in the different categories</a:t>
            </a:r>
            <a:endParaRPr/>
          </a:p>
        </p:txBody>
      </p:sp>
      <p:sp>
        <p:nvSpPr>
          <p:cNvPr id="274" name="Google Shape;274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geom_count</a:t>
            </a:r>
            <a:endParaRPr/>
          </a:p>
        </p:txBody>
      </p:sp>
      <p:sp>
        <p:nvSpPr>
          <p:cNvPr id="280" name="Google Shape;280;p4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filter(Family1 %in% c("Psittacidae","Cacatuidae"))|&gt;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ggplot(mapping = aes(x = Family1,y = Habitat))+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geom_count()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out. Are there situations where it might be useful?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281" name="Google Shape;281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geom_tile</a:t>
            </a:r>
            <a:endParaRPr/>
          </a:p>
        </p:txBody>
      </p:sp>
      <p:sp>
        <p:nvSpPr>
          <p:cNvPr id="287" name="Google Shape;287;p4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group_by(Family1, Trophic.Level)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mutate(n_species = n(),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log10_species = n() |&gt; log10())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filter(Family1 %in% c("Psittacidae", "Cacatuidae"))|&gt;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ggplot(mapping = aes(x = Family1,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y = Trophic.Level,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fill = log10_species))+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geom_tile()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one out as well.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288" name="Google Shape;288;p4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than 2 variables?</a:t>
            </a:r>
            <a:endParaRPr/>
          </a:p>
        </p:txBody>
      </p:sp>
      <p:sp>
        <p:nvSpPr>
          <p:cNvPr id="294" name="Google Shape;294;p4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When you have more than two variables, options include: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Using color/fill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Using shape/line type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Using size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Using faceting </a:t>
            </a:r>
            <a:endParaRPr/>
          </a:p>
        </p:txBody>
      </p:sp>
      <p:sp>
        <p:nvSpPr>
          <p:cNvPr id="295" name="Google Shape;295;p4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Color and fill</a:t>
            </a:r>
            <a:endParaRPr/>
          </a:p>
        </p:txBody>
      </p:sp>
      <p:sp>
        <p:nvSpPr>
          <p:cNvPr id="301" name="Google Shape;301;p4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Color used for lines and points, fill for polygons</a:t>
            </a:r>
            <a:endParaRPr/>
          </a:p>
          <a:p>
            <a:pPr indent="-334327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-"/>
            </a:pPr>
            <a:r>
              <a:rPr lang="en"/>
              <a:t>Example of using color to show three variables: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filter(Family1 %in% c("Psittacidae","Cacatuidae"))|&gt;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group_by(Family1,Habitat)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summarise(mean_mass = mean(Mass))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slice_max(n = 5, order_by = mean_mass)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ggplot(mapping = aes(y = mean_mass,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457200" lvl="0" marL="2743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x = Family1, fill = Habitat)) 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geom_bar(stat = "identity", position = "dodge")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80000"/>
                </a:solidFill>
              </a:rPr>
              <a:t>Try this one out</a:t>
            </a:r>
            <a:endParaRPr>
              <a:solidFill>
                <a:srgbClr val="980000"/>
              </a:solidFill>
            </a:endParaRPr>
          </a:p>
        </p:txBody>
      </p:sp>
      <p:sp>
        <p:nvSpPr>
          <p:cNvPr id="302" name="Google Shape;302;p4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faceting</a:t>
            </a:r>
            <a:endParaRPr/>
          </a:p>
        </p:txBody>
      </p:sp>
      <p:sp>
        <p:nvSpPr>
          <p:cNvPr id="308" name="Google Shape;308;p4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</a:t>
            </a:r>
            <a:r>
              <a:rPr lang="en"/>
              <a:t>acet_wrap and facet_grid split up plots into different facets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rgbClr val="980000"/>
              </a:buClr>
              <a:buSzPts val="1800"/>
              <a:buChar char="-"/>
            </a:pPr>
            <a:r>
              <a:rPr lang="en">
                <a:solidFill>
                  <a:srgbClr val="980000"/>
                </a:solidFill>
              </a:rPr>
              <a:t>Try out this example:</a:t>
            </a:r>
            <a:endParaRPr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filter(Family1 %in% c("Psittacidae", "Cacatuidae"))|&gt;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ggplot(mapping = aes(x = Mass,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y = Wing.Length))+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geom_point()+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facet_wrap(~Family1)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4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faceting</a:t>
            </a:r>
            <a:endParaRPr/>
          </a:p>
        </p:txBody>
      </p:sp>
      <p:sp>
        <p:nvSpPr>
          <p:cNvPr id="315" name="Google Shape;315;p4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Facet grid allows you to have plots divided into rows/columns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avo 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filter(Family1 %in% c("Psittacidae", "Cacatuidae"))|&gt;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ggplot(mapping = aes(x = Mass,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                     y = Wing.Length))+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geom_point()+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      facet_grid(Family1 ~ Trophic.Niche)</a:t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>
                <a:solidFill>
                  <a:srgbClr val="990000"/>
                </a:solidFill>
              </a:rPr>
              <a:t>Try this one out as well. Note the structure of the facet_grid arguments (y ~ x)</a:t>
            </a:r>
            <a:endParaRPr>
              <a:solidFill>
                <a:srgbClr val="990000"/>
              </a:solidFill>
            </a:endParaRPr>
          </a:p>
        </p:txBody>
      </p:sp>
      <p:sp>
        <p:nvSpPr>
          <p:cNvPr id="316" name="Google Shape;316;p4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Soooo many more options</a:t>
            </a:r>
            <a:endParaRPr/>
          </a:p>
        </p:txBody>
      </p:sp>
      <p:sp>
        <p:nvSpPr>
          <p:cNvPr id="322" name="Google Shape;322;p50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What we’ve done today only scratches the surface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Many ways of combining plots, customizing, etc.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Lots of blogs and tutorials to look at once you have the basics down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Check out the cheat sheet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https://rstudio.github.io/cheatsheets/html/data-visualization.html</a:t>
            </a:r>
            <a:r>
              <a:rPr lang="en"/>
              <a:t> </a:t>
            </a:r>
            <a:endParaRPr/>
          </a:p>
        </p:txBody>
      </p:sp>
      <p:sp>
        <p:nvSpPr>
          <p:cNvPr id="323" name="Google Shape;323;p5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51"/>
          <p:cNvSpPr txBox="1"/>
          <p:nvPr>
            <p:ph idx="1" type="body"/>
          </p:nvPr>
        </p:nvSpPr>
        <p:spPr>
          <a:xfrm>
            <a:off x="311700" y="390475"/>
            <a:ext cx="8520600" cy="4178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Before next class:</a:t>
            </a:r>
            <a:endParaRPr b="1"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Read “R for Data Science” chapter 8: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https://r4ds.hadley.nz/workflow-help.html</a:t>
            </a:r>
            <a:r>
              <a:rPr lang="en"/>
              <a:t>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Read Merow, </a:t>
            </a:r>
            <a:r>
              <a:rPr i="1" lang="en"/>
              <a:t>et al.</a:t>
            </a:r>
            <a:r>
              <a:rPr lang="en"/>
              <a:t> 2023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200">
                <a:solidFill>
                  <a:srgbClr val="22222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Merow, C., Serra-Diaz, J.M., Enquist, B.J. </a:t>
            </a:r>
            <a:r>
              <a:rPr i="1" lang="en" sz="1200">
                <a:solidFill>
                  <a:srgbClr val="22222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et al.</a:t>
            </a:r>
            <a:r>
              <a:rPr lang="en" sz="1200">
                <a:solidFill>
                  <a:srgbClr val="22222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AI chatbots can boost scientific coding. </a:t>
            </a:r>
            <a:r>
              <a:rPr i="1" lang="en" sz="1200">
                <a:solidFill>
                  <a:srgbClr val="22222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Nat Ecol Evol</a:t>
            </a:r>
            <a:r>
              <a:rPr lang="en" sz="1200">
                <a:solidFill>
                  <a:srgbClr val="22222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7, 960–962 (2023). </a:t>
            </a:r>
            <a:r>
              <a:rPr lang="en" sz="1200" u="sng">
                <a:solidFill>
                  <a:schemeClr val="hlink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  <a:hlinkClick r:id="rId4"/>
              </a:rPr>
              <a:t>https://doi.org/10.1038/s41559-023-02063-3</a:t>
            </a:r>
            <a:r>
              <a:rPr lang="en" sz="1200">
                <a:solidFill>
                  <a:srgbClr val="222222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/>
              <a:t> 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May be a quiz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Turn in Assignment 4 (Friday, Nov 21 by midnight)</a:t>
            </a:r>
            <a:endParaRPr/>
          </a:p>
        </p:txBody>
      </p:sp>
      <p:sp>
        <p:nvSpPr>
          <p:cNvPr id="329" name="Google Shape;329;p5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