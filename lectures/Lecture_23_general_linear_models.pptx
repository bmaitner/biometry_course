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64c02cc92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64c02cc92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85bc2b2b1f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85bc2b2b1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9fdd263a0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9fdd263a0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9fdd263a05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9fdd263a0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9fdd263a05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9fdd263a05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9fdd263a05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9fdd263a05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9fdd263a05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9fdd263a05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9fdd263a05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9fdd263a05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9fdd263a05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9fdd263a05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9fdd263a05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9fdd263a05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9fdd263a05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9fdd263a05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9fdd263a05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9fdd263a05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9fdd263a05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9fdd263a05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9fdd263a05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9fdd263a05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9fdd263a05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9fdd263a05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9fdd263a05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9fdd263a05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9fdd263a05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9fdd263a05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9fdd263a05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9fdd263a05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9fdd263a05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9fdd263a05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9fdd263a05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9fdd263a05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9fdd263a05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9fdd263a05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9fdd263a05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9fdd263a05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9fdd263a05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9fdd263a05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9fdd263a05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9fdd263a05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9fdd263a05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9fdd263a05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9fdd263a05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9fdd263a05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64c02cc92f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64c02cc92f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744575"/>
            <a:ext cx="8520600" cy="99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 Linear Models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1897850"/>
            <a:ext cx="8520600" cy="25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Today’s agenda: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GLMS (9.1 - 9.2)</a:t>
            </a: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Previously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We’ve talked about the different steps of the modelling process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-  We’ve focused on how to build models from component bits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- E.g., distributions + functional forms + parameters + fitting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Today, we’ll look at an alternative route</a:t>
            </a:r>
            <a:endParaRPr/>
          </a:p>
        </p:txBody>
      </p:sp>
      <p:sp>
        <p:nvSpPr>
          <p:cNvPr id="62" name="Google Shape;62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 Linear Models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GLMs among the most common analyses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Have a standard format of writing (makes reporting easier)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Pre-built functions (makes writing methods easier)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Lots of helper functions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BUT less flexible than MLE approaches</a:t>
            </a:r>
            <a:endParaRPr/>
          </a:p>
        </p:txBody>
      </p:sp>
      <p:sp>
        <p:nvSpPr>
          <p:cNvPr id="69" name="Google Shape;69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 Linear Models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general linear model?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Normal error distribution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Observed values are independent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Constant variance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No measurement error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Linear with respect to the parameters</a:t>
            </a:r>
            <a:endParaRPr/>
          </a:p>
        </p:txBody>
      </p:sp>
      <p:sp>
        <p:nvSpPr>
          <p:cNvPr id="76" name="Google Shape;76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Linearity in GLMs</a:t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</a:t>
            </a:r>
            <a:r>
              <a:rPr lang="en"/>
              <a:t> ~ a + bx</a:t>
            </a:r>
            <a:r>
              <a:rPr baseline="30000" lang="en"/>
              <a:t>2</a:t>
            </a:r>
            <a:endParaRPr baseline="30000"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Linear: </a:t>
            </a:r>
            <a:r>
              <a:rPr lang="en"/>
              <a:t>x</a:t>
            </a:r>
            <a:r>
              <a:rPr baseline="30000" lang="en"/>
              <a:t>2 </a:t>
            </a:r>
            <a:r>
              <a:rPr lang="en"/>
              <a:t>is basically just a transformation (like log-transforming)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So still just a parameter multiplied by a predictor variable (hence linear)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y</a:t>
            </a:r>
            <a:r>
              <a:rPr lang="en"/>
              <a:t> ~ a + bx</a:t>
            </a:r>
            <a:r>
              <a:rPr baseline="30000" lang="en"/>
              <a:t>c</a:t>
            </a:r>
            <a:endParaRPr baseline="30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NOT linear: </a:t>
            </a:r>
            <a:r>
              <a:rPr lang="en"/>
              <a:t>x</a:t>
            </a:r>
            <a:r>
              <a:rPr baseline="30000" lang="en"/>
              <a:t>c</a:t>
            </a:r>
            <a:r>
              <a:rPr lang="en"/>
              <a:t> </a:t>
            </a:r>
            <a:r>
              <a:rPr lang="en"/>
              <a:t>is not a transformed predictor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Predictor variable raised to a parameter, so non-linear</a:t>
            </a:r>
            <a:endParaRPr/>
          </a:p>
        </p:txBody>
      </p:sp>
      <p:sp>
        <p:nvSpPr>
          <p:cNvPr id="83" name="Google Shape;8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get some data</a:t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We’ll grab the Avonet data for the parrot family: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library(tidyverse)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library(readr)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library(bbmle)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avo &lt;- read_rds("https://tinyurl.com/avonetdata") %&gt;%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filter(Family1 == "Psittacidae")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980000"/>
                </a:solidFill>
              </a:rPr>
              <a:t>Run this and make sure the data load alright</a:t>
            </a:r>
            <a:endParaRPr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Simple Linear Regression</a:t>
            </a:r>
            <a:endParaRPr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A.k.a. Ordinary Linear Regression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Single, continuous </a:t>
            </a:r>
            <a:r>
              <a:rPr lang="en"/>
              <a:t>predictor</a:t>
            </a:r>
            <a:r>
              <a:rPr lang="en"/>
              <a:t> variable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Let’s compare the linear regression </a:t>
            </a:r>
            <a:r>
              <a:rPr lang="en"/>
              <a:t>approach</a:t>
            </a:r>
            <a:r>
              <a:rPr lang="en"/>
              <a:t> to the MLE approach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Simple Linear Regression</a:t>
            </a:r>
            <a:endParaRPr/>
          </a:p>
        </p:txBody>
      </p:sp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We’re going to look at Beak Width vs Beak Depth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plot(avo$Beak.Depth, avo$Beak.Width)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With the MLE </a:t>
            </a:r>
            <a:r>
              <a:rPr lang="en"/>
              <a:t>approach</a:t>
            </a:r>
            <a:r>
              <a:rPr lang="en"/>
              <a:t>, this would look like: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avo.mle &lt;- mle2(data = avo,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minuslogl = Beak.Width ~ dnorm(mean = int + a*Beak.Depth,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                sd = sd),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start = list(int = 0,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a = 1,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sd = 1))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980000"/>
                </a:solidFill>
              </a:rPr>
              <a:t>Run this now.  How do you get a model summary? Model fit look ok?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104" name="Google Shape;104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Simple Linear Regression</a:t>
            </a:r>
            <a:endParaRPr/>
          </a:p>
        </p:txBody>
      </p:sp>
      <p:sp>
        <p:nvSpPr>
          <p:cNvPr id="110" name="Google Shape;110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equivalent simple linear regression is: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avo.lm &lt;- lm(data = avo,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formula = Beak.Width ~ Beak.Depth)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85200C"/>
                </a:solidFill>
              </a:rPr>
              <a:t>Run this.  </a:t>
            </a:r>
            <a:endParaRPr>
              <a:solidFill>
                <a:srgbClr val="85200C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85200C"/>
                </a:solidFill>
              </a:rPr>
              <a:t>How do we get a summary of this model? </a:t>
            </a:r>
            <a:endParaRPr>
              <a:solidFill>
                <a:srgbClr val="85200C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85200C"/>
                </a:solidFill>
              </a:rPr>
              <a:t>How does the fitted model compare with our mle2 fit?</a:t>
            </a:r>
            <a:endParaRPr>
              <a:solidFill>
                <a:srgbClr val="85200C"/>
              </a:solidFill>
            </a:endParaRPr>
          </a:p>
        </p:txBody>
      </p:sp>
      <p:sp>
        <p:nvSpPr>
          <p:cNvPr id="111" name="Google Shape;111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</a:t>
            </a:r>
            <a:r>
              <a:rPr lang="en"/>
              <a:t>m vs mle2 syntax</a:t>
            </a:r>
            <a:endParaRPr/>
          </a:p>
        </p:txBody>
      </p:sp>
      <p:sp>
        <p:nvSpPr>
          <p:cNvPr id="117" name="Google Shape;117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avo.mle &lt;- mle2(data = avo,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minuslogl = Beak.Width ~ dnorm(mean = int + a*Beak.Depth,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                sd = sd),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start = list(int = 0,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a = 1,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sd = 1))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avo.lm &lt;- lm(data = avo,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formula = Beak.Width ~ Beak.Depth)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980000"/>
                </a:solidFill>
              </a:rPr>
              <a:t>What are the differences you see?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118" name="Google Shape;11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lm vs mle2 syntax</a:t>
            </a:r>
            <a:endParaRPr/>
          </a:p>
        </p:txBody>
      </p:sp>
      <p:sp>
        <p:nvSpPr>
          <p:cNvPr id="124" name="Google Shape;124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</a:t>
            </a:r>
            <a:r>
              <a:rPr lang="en"/>
              <a:t>m: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Fits intercept and sd automatically (remove intercept with -1)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Don’t need to specify parameter names (e.g., a*Beak.Depth)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Don’t need to specify start values (but you can)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</a:t>
            </a:r>
            <a:r>
              <a:rPr lang="en"/>
              <a:t>m parameters</a:t>
            </a:r>
            <a:endParaRPr/>
          </a:p>
        </p:txBody>
      </p:sp>
      <p:sp>
        <p:nvSpPr>
          <p:cNvPr id="131" name="Google Shape;131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get some of the key parameters: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avo.lm$coefficients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avo.lm.summary &lt;- summary(avo.lm)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avo.lm.summary$r.squared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avo.lm.summary$sigma #Equivalent to the SD in our mle2 fit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avo.lm.summary$coefficients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980000"/>
                </a:solidFill>
              </a:rPr>
              <a:t>Try this out. How does this compare with getting mle2 parameters?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132" name="Google Shape;13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Comparing the approaches</a:t>
            </a:r>
            <a:endParaRPr/>
          </a:p>
        </p:txBody>
      </p:sp>
      <p:sp>
        <p:nvSpPr>
          <p:cNvPr id="138" name="Google Shape;138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the AICs of the two models compare?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Multiple Linear Regression</a:t>
            </a:r>
            <a:endParaRPr/>
          </a:p>
        </p:txBody>
      </p:sp>
      <p:sp>
        <p:nvSpPr>
          <p:cNvPr id="145" name="Google Shape;145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Extension of simple linear regression with more parameters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Can be new </a:t>
            </a:r>
            <a:r>
              <a:rPr lang="en"/>
              <a:t>predictors</a:t>
            </a:r>
            <a:r>
              <a:rPr lang="en"/>
              <a:t> or powers of existing predictor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If parameters are powers of predictors: Polynomial regression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O</a:t>
            </a:r>
            <a:r>
              <a:rPr lang="en"/>
              <a:t>r e</a:t>
            </a:r>
            <a:r>
              <a:rPr lang="en"/>
              <a:t>.g., quadratic for ^2, cubic for ^3, etc.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So if we add in another predictor of Beak Width, it’s a multiple regression</a:t>
            </a:r>
            <a:endParaRPr/>
          </a:p>
        </p:txBody>
      </p:sp>
      <p:sp>
        <p:nvSpPr>
          <p:cNvPr id="146" name="Google Shape;146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Polynomials in lm</a:t>
            </a:r>
            <a:endParaRPr/>
          </a:p>
        </p:txBody>
      </p:sp>
      <p:sp>
        <p:nvSpPr>
          <p:cNvPr id="152" name="Google Shape;152;p27"/>
          <p:cNvSpPr txBox="1"/>
          <p:nvPr>
            <p:ph idx="1" type="body"/>
          </p:nvPr>
        </p:nvSpPr>
        <p:spPr>
          <a:xfrm>
            <a:off x="129375" y="1152475"/>
            <a:ext cx="8703000" cy="379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Polynomials are pretty easy in mle2, but have special syntax in lm()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avo.mle.poly &lt;- mle2(data = avo,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828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minuslogl = Beak.Width ~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dnorm(mean = int + a*Beak.Depth + </a:t>
            </a:r>
            <a:r>
              <a:rPr lang="en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b*Beak.Depth^2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     sd = sd),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 start = list(int = 0,a = 1,</a:t>
            </a:r>
            <a:r>
              <a:rPr lang="en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b = 0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, sd = 1))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avo.lm.poly.1 &lt;- lm(data = avo,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formula = Beak.Width ~ </a:t>
            </a:r>
            <a:r>
              <a:rPr lang="en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poly(Beak.Depth,2)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avo.lm.poly.3 &lt;- lm(data = avo,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formula = Beak.Width ~ Beak.Depth + </a:t>
            </a:r>
            <a:r>
              <a:rPr lang="en">
                <a:solidFill>
                  <a:srgbClr val="A61C00"/>
                </a:solidFill>
                <a:latin typeface="Consolas"/>
                <a:ea typeface="Consolas"/>
                <a:cs typeface="Consolas"/>
                <a:sym typeface="Consolas"/>
              </a:rPr>
              <a:t>I(Beak.Depth^2)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80000"/>
                </a:solidFill>
              </a:rPr>
              <a:t>Try these three out and compare the fits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153" name="Google Shape;153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Polynomials in lm</a:t>
            </a:r>
            <a:endParaRPr/>
          </a:p>
        </p:txBody>
      </p:sp>
      <p:sp>
        <p:nvSpPr>
          <p:cNvPr id="159" name="Google Shape;159;p28"/>
          <p:cNvSpPr txBox="1"/>
          <p:nvPr>
            <p:ph idx="1" type="body"/>
          </p:nvPr>
        </p:nvSpPr>
        <p:spPr>
          <a:xfrm>
            <a:off x="129375" y="1152475"/>
            <a:ext cx="8703000" cy="379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Fitting polynomials in R: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I()</a:t>
            </a:r>
            <a:r>
              <a:rPr lang="en"/>
              <a:t> function 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makes R take things “as is”, e.g.,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I(Beak.Depth^2)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Easier to interpret coefficients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Can cause issues with correlated predictors</a:t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poly()</a:t>
            </a:r>
            <a:r>
              <a:rPr lang="en"/>
              <a:t> function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add all polynomial terms up to the degree specified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So,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poly(Beak.Depth)</a:t>
            </a:r>
            <a:r>
              <a:rPr lang="en"/>
              <a:t> will give us both Beak.Depth and Beak.Depth</a:t>
            </a:r>
            <a:r>
              <a:rPr baseline="30000" lang="en"/>
              <a:t>2</a:t>
            </a:r>
            <a:endParaRPr baseline="30000"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Uses uncorrelated polynomials (better statistically)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Harder to interpret coefficients</a:t>
            </a:r>
            <a:endParaRPr/>
          </a:p>
        </p:txBody>
      </p:sp>
      <p:sp>
        <p:nvSpPr>
          <p:cNvPr id="160" name="Google Shape;160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Multiple predictors</a:t>
            </a:r>
            <a:endParaRPr/>
          </a:p>
        </p:txBody>
      </p:sp>
      <p:sp>
        <p:nvSpPr>
          <p:cNvPr id="166" name="Google Shape;166;p29"/>
          <p:cNvSpPr txBox="1"/>
          <p:nvPr>
            <p:ph idx="1" type="body"/>
          </p:nvPr>
        </p:nvSpPr>
        <p:spPr>
          <a:xfrm>
            <a:off x="193025" y="1152475"/>
            <a:ext cx="8781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try adding Beak Length (nares) to the model: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 avo.mle.mr &lt;- mle2(data = avo,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m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inuslogl = Beak.Width ~ dnorm(mean = int + a*Beak.Depth + b*Beak.Depth^2 + </a:t>
            </a:r>
            <a:r>
              <a:rPr lang="en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c</a:t>
            </a:r>
            <a:r>
              <a:rPr lang="en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*Beak.Length_Nares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	sd = sd),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   start = list(int = 0,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                a = 1,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                b = 0,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                </a:t>
            </a:r>
            <a:r>
              <a:rPr lang="en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c = 0,</a:t>
            </a:r>
            <a:endParaRPr>
              <a:solidFill>
                <a:srgbClr val="98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                sd = 1))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avo.lm.mr &lt;- lm(data = avo,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  formula = Beak.Width ~ poly(Beak.Depth,2) + </a:t>
            </a:r>
            <a:r>
              <a:rPr lang="en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Beak.Length_Nares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80000"/>
                </a:solidFill>
              </a:rPr>
              <a:t>Run these and compare fits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167" name="Google Shape;167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Best model so far?</a:t>
            </a:r>
            <a:endParaRPr/>
          </a:p>
        </p:txBody>
      </p:sp>
      <p:sp>
        <p:nvSpPr>
          <p:cNvPr id="173" name="Google Shape;173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Use AICtab() to figure out which model(s) are the best so far</a:t>
            </a:r>
            <a:endParaRPr/>
          </a:p>
        </p:txBody>
      </p:sp>
      <p:sp>
        <p:nvSpPr>
          <p:cNvPr id="174" name="Google Shape;174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Categorical predictors</a:t>
            </a:r>
            <a:endParaRPr/>
          </a:p>
        </p:txBody>
      </p:sp>
      <p:sp>
        <p:nvSpPr>
          <p:cNvPr id="180" name="Google Shape;180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 far we’ve been using continuous predictors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What about categorical?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Same basic approach, but then its called an ANOVA rather than a linear model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ANOVA = analysis of variance</a:t>
            </a:r>
            <a:endParaRPr/>
          </a:p>
        </p:txBody>
      </p:sp>
      <p:sp>
        <p:nvSpPr>
          <p:cNvPr id="181" name="Google Shape;181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Categorical predictors</a:t>
            </a:r>
            <a:endParaRPr/>
          </a:p>
        </p:txBody>
      </p:sp>
      <p:sp>
        <p:nvSpPr>
          <p:cNvPr id="187" name="Google Shape;187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can test </a:t>
            </a:r>
            <a:r>
              <a:rPr lang="en"/>
              <a:t>whether</a:t>
            </a:r>
            <a:r>
              <a:rPr lang="en"/>
              <a:t> different habitats have different beak widths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 avo.lm.anova.1 &lt;- lm(data = avo,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					formula = Beak.Width ~ Habitat)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avo.lm.anova.2 &lt;- lm(data = avo,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   formula = Beak.Width ~ Habitat-1)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980000"/>
                </a:solidFill>
              </a:rPr>
              <a:t>What is the difference between these models?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188" name="Google Shape;188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Categorical predictors</a:t>
            </a:r>
            <a:endParaRPr/>
          </a:p>
        </p:txBody>
      </p:sp>
      <p:sp>
        <p:nvSpPr>
          <p:cNvPr id="194" name="Google Shape;194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 default, the first category is used as the “intercept”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Everything else is then relative to that intercept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Useful if you have one </a:t>
            </a:r>
            <a:r>
              <a:rPr lang="en"/>
              <a:t>category that is a “control”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E.g., you’ll know which values are more/less than the control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Removing the intercept with -1 forces each group to get its own covariate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Easier to interpret directly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Statistically identical in terms of model fit</a:t>
            </a:r>
            <a:endParaRPr/>
          </a:p>
        </p:txBody>
      </p:sp>
      <p:sp>
        <p:nvSpPr>
          <p:cNvPr id="195" name="Google Shape;195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Multi-way ANOVA</a:t>
            </a:r>
            <a:endParaRPr/>
          </a:p>
        </p:txBody>
      </p:sp>
      <p:sp>
        <p:nvSpPr>
          <p:cNvPr id="201" name="Google Shape;201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ANOVA, but with multiple categorical predictors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avo.lm.multianova.1 &lt;- lm(data = avo,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   formula = Beak.Width ~ Habitat + Trophic.Niche -1 )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avo.lm.multianova.2 &lt;- lm(data = avo,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32004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formula = Beak.Width ~ Habitat * Trophic.Niche -1)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980000"/>
                </a:solidFill>
              </a:rPr>
              <a:t>What is the difference between these two? Which fits better?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202" name="Google Shape;202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Multi-way ANOVA</a:t>
            </a:r>
            <a:endParaRPr/>
          </a:p>
        </p:txBody>
      </p:sp>
      <p:sp>
        <p:nvSpPr>
          <p:cNvPr id="208" name="Google Shape;208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Understanding ANOVA data: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summary(avo.lm.multianova.2)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Tests </a:t>
            </a:r>
            <a:r>
              <a:rPr lang="en"/>
              <a:t>whether</a:t>
            </a:r>
            <a:r>
              <a:rPr lang="en"/>
              <a:t> each individual covariate differs from zero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anova(avo.lm.multianova.2)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Tests parameter as a whole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avo.lm.multianova.2 |&gt; aov() |&gt; TukeyHSD()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Tests pairwise comparisons for all factor levels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980000"/>
                </a:solidFill>
              </a:rPr>
              <a:t>Try these and inspect the outputs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209" name="Google Shape;209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if we have categorical and continuous?</a:t>
            </a:r>
            <a:endParaRPr/>
          </a:p>
        </p:txBody>
      </p:sp>
      <p:sp>
        <p:nvSpPr>
          <p:cNvPr id="215" name="Google Shape;215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ANCOVA (analysis of covariance)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Al</a:t>
            </a:r>
            <a:r>
              <a:rPr lang="en"/>
              <a:t>lows intercepts to vary by group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Allows slopes to vary by group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Similar syntax to the rest of lm()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Any idea how we would construct a model where: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Slope of Beak.Width vs Beak.Length varies by trophic niche?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Each trophic niche has their own intercept?</a:t>
            </a:r>
            <a:endParaRPr/>
          </a:p>
        </p:txBody>
      </p:sp>
      <p:sp>
        <p:nvSpPr>
          <p:cNvPr id="216" name="Google Shape;216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ANCOVA</a:t>
            </a:r>
            <a:endParaRPr/>
          </a:p>
        </p:txBody>
      </p:sp>
      <p:sp>
        <p:nvSpPr>
          <p:cNvPr id="222" name="Google Shape;222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avo.ancova.1 &lt;- lm(data = avo,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formula = Beak.Width ~ Beak.Depth + Trophic.Niche -1 )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avo.ancova.2 &lt;- lm(data = avo,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formula = Beak.Width ~ Beak.Depth * Trophic.Niche -1 )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80000"/>
                </a:solidFill>
              </a:rPr>
              <a:t>How do these models differ in terms of slope and intercept?</a:t>
            </a:r>
            <a:endParaRPr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980000"/>
                </a:solidFill>
              </a:rPr>
              <a:t>Which fits best? What does that mean biologically?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223" name="Google Shape;223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</a:t>
            </a:r>
            <a:endParaRPr/>
          </a:p>
        </p:txBody>
      </p:sp>
      <p:sp>
        <p:nvSpPr>
          <p:cNvPr id="229" name="Google Shape;229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lm(), try to construct the best model you can of Beak.Width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Is the best you find an anova,ancova, or lm?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What parameters did you use?</a:t>
            </a:r>
            <a:endParaRPr/>
          </a:p>
        </p:txBody>
      </p:sp>
      <p:sp>
        <p:nvSpPr>
          <p:cNvPr id="230" name="Google Shape;230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9"/>
          <p:cNvSpPr txBox="1"/>
          <p:nvPr>
            <p:ph idx="1" type="body"/>
          </p:nvPr>
        </p:nvSpPr>
        <p:spPr>
          <a:xfrm>
            <a:off x="311700" y="390475"/>
            <a:ext cx="8520600" cy="417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Before next class: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Read 9.3 - 9.4</a:t>
            </a:r>
            <a:endParaRPr/>
          </a:p>
        </p:txBody>
      </p:sp>
      <p:sp>
        <p:nvSpPr>
          <p:cNvPr id="236" name="Google Shape;236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