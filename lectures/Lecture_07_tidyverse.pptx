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2062905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2062905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2c5a3b3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2c5a3b3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2c5a3b35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2c5a3b35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fd3c1ee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fd3c1ee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2c5a3b3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2c5a3b3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2c5a3b35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2c5a3b35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2c5a3b3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2c5a3b3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2c5a3b35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2c5a3b35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2c5a3b35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2c5a3b35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2c5a3b35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2c5a3b35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2c5a3b35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2c5a3b35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2c5a3b35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2c5a3b35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2c5a3b35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2c5a3b35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2c5a3b35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2c5a3b35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2c5a3b35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2c5a3b35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2c5a3b35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2c5a3b35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2c5a3b35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2c5a3b35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2c5a3b35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2c5a3b35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2c5a3b35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2c5a3b35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2c5a3b35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2c5a3b35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2c5a3b35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2c5a3b35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2c5a3b35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2c5a3b35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2c5a3b35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2c5a3b35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2c5a3b35c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2c5a3b35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aaa488915_3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aaa488915_3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aaa488915_3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aaa488915_3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aaa488915_35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aaa488915_35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aaa488915_35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aaa488915_3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aaa488915_35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aaa488915_35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aaa488915_35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aaa488915_35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2c5a3b35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2c5a3b35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2c5a3b35c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2c5a3b35c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adley.github.io/genzplyr/index.html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inyurl.com/avonetbirddata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r4ds.hadley.nz/data-visualiz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Into the Tidyverse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Tidyverse</a:t>
            </a:r>
            <a:endParaRPr sz="1800"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tidyverse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collection of R packages built on a similar syntax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Functions/packages designed to work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useful for data wrangling and data visualization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people find them more intuitive than base 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dplyr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for data wrangling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readable than base R (to most)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Downside is that the syntax is still evolving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Designed for use with pipes: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%&gt;%</a:t>
            </a:r>
            <a:r>
              <a:rPr lang="en"/>
              <a:t> 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dplyr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plyr functions: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 in a data.frame (or tibble)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 something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Return a data.frame (or tibble)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means that you can easily chain functions together with pipes!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ata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do_something()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do_something_else()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Tidyverse update!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https://hadley.github.io/genzplyr/index.html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genzplyr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 what dplyr does, but using Gen Z slang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on Assignment 2 for 1% extra credit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3000" y="537925"/>
            <a:ext cx="2785725" cy="27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data</a:t>
            </a:r>
            <a:endParaRPr b="1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work with the Avonet data again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pc="0" sz="1900">
                <a:solidFill>
                  <a:srgbClr val="C5621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" spc="0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(tidyverse)</a:t>
            </a:r>
            <a:endParaRPr spc="0" sz="19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pc="0" sz="19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pc="0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avo </a:t>
            </a:r>
            <a:r>
              <a:rPr lang="en" spc="0" sz="19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pc="0" sz="19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read_rds</a:t>
            </a:r>
            <a:r>
              <a:rPr lang="en" spc="0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pc="0" sz="19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pc="0" sz="19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https://tinyurl.com/avonetbirddata</a:t>
            </a:r>
            <a:r>
              <a:rPr lang="en" spc="0" sz="19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pc="0" sz="19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pc="0" sz="19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80000"/>
                </a:solidFill>
              </a:rPr>
              <a:t>Go ahead and load the data now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Operating on rows</a:t>
            </a:r>
            <a:endParaRPr b="1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start by talking about functions that operate on rows: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filter()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arrange()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distinct()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Filtering data</a:t>
            </a:r>
            <a:endParaRPr b="1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base 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parrot_fam1 &lt;- avo[which(avo$Family1 == "Psittacidae"),]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dplyr: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parrot_fam2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filter(Family1 == "Psittacidae")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Try these now and see if you notice any differences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Filtering on multiple columns</a:t>
            </a:r>
            <a:endParaRPr b="1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 R we can use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“&amp;” </a:t>
            </a:r>
            <a:r>
              <a:rPr lang="en"/>
              <a:t>(AND) </a:t>
            </a:r>
            <a:r>
              <a:rPr lang="en"/>
              <a:t>to specify that multiple conditions have to be met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“|” </a:t>
            </a:r>
            <a:r>
              <a:rPr lang="en"/>
              <a:t>(OR) </a:t>
            </a:r>
            <a:r>
              <a:rPr lang="en"/>
              <a:t>(vertical line) to specify that either condition can be met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used to make our filtering more complex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(Note that my favorite Star Wars media is thus “&amp;|”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Filtering on multiple columns: &amp;</a:t>
            </a:r>
            <a:endParaRPr b="1"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forest_parrots1 &lt;- avo[which(avo$Family1 == "Psittacidae"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avo$Habitat == "Forest"),]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forest_parrots2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filter(Family1 == "Psittacidae"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		Habitat == "Forest")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forest_parrots3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			 filter(Family1 == "Psittacidae")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			 filter(Habitat == "Forest")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Are these all equivalent? Try them and find out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Filtering on multiple columns: &amp;</a:t>
            </a:r>
            <a:endParaRPr b="1"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Filter the avo dataset to only include:</a:t>
            </a:r>
            <a:endParaRPr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A single order (of your choice)</a:t>
            </a:r>
            <a:endParaRPr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A single trophic level</a:t>
            </a:r>
            <a:endParaRPr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Filtering on multiple columns: |</a:t>
            </a:r>
            <a:endParaRPr b="1"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parrots_or_cockatoos &lt;- avo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filter(Family1 == "Psittacidae" |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Family1 == "Cacatuidae")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using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%in%</a:t>
            </a:r>
            <a:r>
              <a:rPr lang="en"/>
              <a:t> and a vector: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parrots_or_cockatoos2 &lt;- avo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filter(Family1 %in% c("Psittacidae","Cacatuidae")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running these now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Filtering on multiple columns: &amp; and |</a:t>
            </a:r>
            <a:endParaRPr b="1"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 say we wanted to only keep forest parrots OR woodland cockatoos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need to make our filter more complex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combine &amp;, |, and () to </a:t>
            </a:r>
            <a:r>
              <a:rPr lang="en"/>
              <a:t>achieve</a:t>
            </a:r>
            <a:r>
              <a:rPr lang="en"/>
              <a:t>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fp_or_wc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filter(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Family1 == "Psittacidae"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Habitat == "Forest"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Family1 == "Cacatuidae"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Habitat == "Woodland"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this now! What would happen if we forgot the grouping parentheses?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Filtering on multiple columns: &amp; and |</a:t>
            </a:r>
            <a:endParaRPr b="1"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Make a version of the data that only contains: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Forest Carnivores in either the family "Accipitridae" or "Falconidae"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Sorting your data</a:t>
            </a:r>
            <a:endParaRPr b="1"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“arrange” to sort by a column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avo_by_mass &lt;- avo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arrange(Mass)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avo_by_mass_dec &lt;- avo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arrange(-Mass)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avo_by_mass_dec2 &lt;- avo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arrange(desc(Mass))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Use this syntax to figure out which bird has the longest wings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distinct</a:t>
            </a:r>
            <a:endParaRPr b="1"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remove duplicate rows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avo_no_dupes &lt;- avo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distinct()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also be used on particular fields, combinations of fields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avo_fams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distinct(Family1)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family_trophic_levels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distinct(Family1, Trophic.Level)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do these two data frames contain?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Operating on columns</a:t>
            </a:r>
            <a:endParaRPr b="1"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also function that operate on columns: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mutate()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rename()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select()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relocate()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Mutate</a:t>
            </a:r>
            <a:endParaRPr b="1"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used to create new variables or </a:t>
            </a:r>
            <a:r>
              <a:rPr lang="en"/>
              <a:t>modify</a:t>
            </a:r>
            <a:r>
              <a:rPr lang="en"/>
              <a:t> existing 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Let’s </a:t>
            </a:r>
            <a:r>
              <a:rPr lang="en"/>
              <a:t>create</a:t>
            </a:r>
            <a:r>
              <a:rPr lang="en"/>
              <a:t> a variable calculating the difference bt beak length measures: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avo_w_beak_diff &lt;- avo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mutate(beak_length_difference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Beak.Length_Culmen - Beak.Length_Nares)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Which bird has the largest difference between these measurements?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Is this an error?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Select</a:t>
            </a:r>
            <a:endParaRPr b="1"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Selects fields to keep (or remove)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Keep only family, species, mass: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fsm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select(Family1, Species1, 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Toss range size: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no_rangesize &lt;-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 |&gt; select(!Range.Size)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these out now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Select</a:t>
            </a:r>
            <a:endParaRPr b="1"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also use the “:” syntax to select multiple fields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avo_tax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select(Species1:Order1)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and see if you understand what it did.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How would you remove Primary.Lifestyle, Range.Size and </a:t>
            </a:r>
            <a:r>
              <a:rPr lang="en">
                <a:solidFill>
                  <a:srgbClr val="980000"/>
                </a:solidFill>
              </a:rPr>
              <a:t>everything</a:t>
            </a:r>
            <a:r>
              <a:rPr lang="en">
                <a:solidFill>
                  <a:srgbClr val="980000"/>
                </a:solidFill>
              </a:rPr>
              <a:t> in between?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Rename</a:t>
            </a:r>
            <a:endParaRPr b="1"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1495"/>
              <a:t>Let’s say we wanted to remove the 1s from the taxonomic variables:</a:t>
            </a:r>
            <a:endParaRPr b="1" sz="149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avo_tax1 &lt;- </a:t>
            </a: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avo </a:t>
            </a: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|&gt;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  rename(Species = Species1,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         Family = Family1,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         Order = Order1)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495"/>
              <a:t>Note that you can do this during a select() as well:</a:t>
            </a:r>
            <a:endParaRPr b="1" sz="149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 avo_tax2 &lt;- avo |&gt;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  select(Species = Species1,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         Family = Family1,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         Order = Order1,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latin typeface="Consolas"/>
                <a:ea typeface="Consolas"/>
                <a:cs typeface="Consolas"/>
                <a:sym typeface="Consolas"/>
              </a:rPr>
              <a:t>                 Mass)</a:t>
            </a:r>
            <a:endParaRPr sz="1495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en" sz="1495">
                <a:solidFill>
                  <a:srgbClr val="980000"/>
                </a:solidFill>
              </a:rPr>
              <a:t>Try these both out.  How do they differ?</a:t>
            </a:r>
            <a:endParaRPr b="1" sz="1495">
              <a:solidFill>
                <a:srgbClr val="980000"/>
              </a:solidFill>
            </a:endParaRPr>
          </a:p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Relocate</a:t>
            </a:r>
            <a:endParaRPr b="1"/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 easier to have important variables on the left-most columns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avo_relocated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relocate(Order1,Family1,Species1,Mass,Wing.Length)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this and look at the avo_relocated dataframe.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Why are only some of the variables relocated?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Grouping</a:t>
            </a:r>
            <a:endParaRPr b="1"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“group” rows of data together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you to create summary statistics for those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Usually combined with another function like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summarize()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Important functions: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group_by()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ungroup()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summarize()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slice..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Using group_by()</a:t>
            </a:r>
            <a:endParaRPr b="1"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add in family level mean mass information: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avo_w_family_mass &lt;- avo 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group_by(Family1)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mutate(fam_mean_mass = mean(Mass))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Run this and see if the results make sense.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summarize</a:t>
            </a:r>
            <a:endParaRPr b="1"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ONLY wanted the data at the family level, we can use summarize: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family_mass &lt;- avo 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group_by(Family1)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summarise(Mean_Mass = mean(Mass))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this.  How many columns and how many rows do you get back. 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Why these?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More than one statistic</a:t>
            </a:r>
            <a:endParaRPr b="1"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 </a:t>
            </a:r>
            <a:r>
              <a:rPr lang="en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group_by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(Trophic.Level) </a:t>
            </a:r>
            <a:r>
              <a:rPr lang="en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summarise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(n</a:t>
            </a:r>
            <a:r>
              <a:rPr lang="en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=</a:t>
            </a:r>
            <a:r>
              <a:rPr lang="en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n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mean_mass</a:t>
            </a:r>
            <a:r>
              <a:rPr lang="en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  =</a:t>
            </a:r>
            <a:r>
              <a:rPr lang="en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mean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(Mass)</a:t>
            </a:r>
            <a:r>
              <a:rPr lang="en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median_mass</a:t>
            </a:r>
            <a:r>
              <a:rPr lang="en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median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(Mass))</a:t>
            </a:r>
            <a:endParaRPr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0B0B"/>
                </a:solidFill>
              </a:rPr>
              <a:t>n()</a:t>
            </a:r>
            <a:r>
              <a:rPr lang="en" sz="1600">
                <a:solidFill>
                  <a:srgbClr val="52514E"/>
                </a:solidFill>
              </a:rPr>
              <a:t> counts the rows in each group.</a:t>
            </a:r>
            <a:endParaRPr sz="16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2514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980000"/>
                </a:solidFill>
              </a:rPr>
              <a:t>Try this and inspect the output</a:t>
            </a:r>
            <a:endParaRPr b="1" sz="16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went wrong?</a:t>
            </a:r>
            <a:endParaRPr b="1"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 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9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group_by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(Trophic.Level) 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9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summarise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(mean_range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9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mean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(Range.Size))</a:t>
            </a:r>
            <a:endParaRPr sz="1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80000"/>
                </a:solidFill>
              </a:rPr>
              <a:t>What do you notice about the output?</a:t>
            </a:r>
            <a:endParaRPr b="1" sz="1900">
              <a:solidFill>
                <a:srgbClr val="980000"/>
              </a:solidFill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80000"/>
                </a:solidFill>
              </a:rPr>
              <a:t>What happened and what should we do?</a:t>
            </a:r>
            <a:endParaRPr b="1" sz="19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Still grouped</a:t>
            </a:r>
            <a:endParaRPr b="1"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Remember this, from earlier?</a:t>
            </a:r>
            <a:endParaRPr b="1" sz="20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avo_w_family_mass 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avo 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9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group_by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(Family1) 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9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mutate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(fam_mean_mass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9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mean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(Mass))</a:t>
            </a:r>
            <a:endParaRPr sz="1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Simple question. How many species are in the dataset?</a:t>
            </a:r>
            <a:endParaRPr b="1" sz="20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avo_w_family_mass 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9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summarise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(total_species</a:t>
            </a:r>
            <a:r>
              <a:rPr lang="en" sz="19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9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n</a:t>
            </a:r>
            <a:r>
              <a:rPr lang="en" sz="19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9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Try it. Is that what you expected?</a:t>
            </a:r>
            <a:endParaRPr b="1" sz="20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group_by() is sticky</a:t>
            </a:r>
            <a:endParaRPr b="1"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Grouping stays attached to the data until you remove it.</a:t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R does tell you:</a:t>
            </a:r>
            <a:endParaRPr b="1"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A tibble: 11,009 × 38 </a:t>
            </a:r>
            <a:endParaRPr sz="16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Groups:   Family1 [243]</a:t>
            </a:r>
            <a:endParaRPr sz="16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The fix:</a:t>
            </a:r>
            <a:endParaRPr b="1" sz="17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avo_w_family_mass </a:t>
            </a:r>
            <a:r>
              <a:rPr lang="en" sz="16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6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ungroup</a:t>
            </a:r>
            <a:r>
              <a:rPr lang="en"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6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6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summarise</a:t>
            </a:r>
            <a:r>
              <a:rPr lang="en"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(total_species</a:t>
            </a:r>
            <a:r>
              <a:rPr lang="en" sz="16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6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n</a:t>
            </a:r>
            <a:r>
              <a:rPr lang="en"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2500"/>
          </a:p>
        </p:txBody>
      </p:sp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quiet version</a:t>
            </a:r>
            <a:endParaRPr b="1"/>
          </a:p>
        </p:txBody>
      </p:sp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2514E"/>
                </a:solidFill>
                <a:highlight>
                  <a:srgbClr val="FFFFFF"/>
                </a:highlight>
              </a:rPr>
              <a:t>Let’s calculate the fraction of total mass represented by each species:</a:t>
            </a:r>
            <a:endParaRPr sz="1500">
              <a:solidFill>
                <a:srgbClr val="52514E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52514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pc="0" sz="1400">
                <a:solidFill>
                  <a:srgbClr val="1418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avo_frac &lt;- avo_w_family_mass |&gt;</a:t>
            </a:r>
            <a:endParaRPr spc="0" sz="1400">
              <a:solidFill>
                <a:srgbClr val="14181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pc="0" sz="1400">
                <a:solidFill>
                  <a:srgbClr val="1418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pc="0" sz="1400">
                <a:solidFill>
                  <a:srgbClr val="0051C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mutate</a:t>
            </a:r>
            <a:r>
              <a:rPr lang="en" spc="0" sz="1400">
                <a:solidFill>
                  <a:srgbClr val="1418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pc="0" sz="1400">
                <a:solidFill>
                  <a:srgbClr val="B84F0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frac</a:t>
            </a:r>
            <a:r>
              <a:rPr lang="en" spc="0" sz="1400">
                <a:solidFill>
                  <a:srgbClr val="1418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Mass / </a:t>
            </a:r>
            <a:r>
              <a:rPr lang="en" spc="0" sz="1400">
                <a:solidFill>
                  <a:srgbClr val="0051C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" spc="0" sz="1400">
                <a:solidFill>
                  <a:srgbClr val="1418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(Mass))</a:t>
            </a:r>
            <a:endParaRPr sz="14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11,009 rows. Right shape. Looks fine.</a:t>
            </a:r>
            <a:endParaRPr sz="1400">
              <a:solidFill>
                <a:srgbClr val="52514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Species1                Mass  frac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 Struthio camelus      111000   0.5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 Struthio molybdophanes 111000   0.5</a:t>
            </a:r>
            <a:endParaRPr sz="13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2514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2514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Half of all bird mass is one ostrich?</a:t>
            </a:r>
            <a:endParaRPr sz="1300">
              <a:solidFill>
                <a:srgbClr val="52514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pc="0" sz="13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" spc="0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(avo_frac</a:t>
            </a:r>
            <a:r>
              <a:rPr lang="en" spc="0" sz="13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" spc="0" sz="13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frac)   </a:t>
            </a:r>
            <a:r>
              <a:rPr lang="en" spc="0" sz="13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243, not 1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happened?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60" name="Google Shape;26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Your turn: Grouping</a:t>
            </a:r>
            <a:endParaRPr b="1"/>
          </a:p>
        </p:txBody>
      </p:sp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311700" y="1152475"/>
            <a:ext cx="8520600" cy="36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Using </a:t>
            </a:r>
            <a:r>
              <a:rPr lang="en" sz="17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group_by()</a:t>
            </a:r>
            <a:r>
              <a:rPr lang="en">
                <a:solidFill>
                  <a:srgbClr val="980000"/>
                </a:solidFill>
              </a:rPr>
              <a:t> and </a:t>
            </a:r>
            <a:r>
              <a:rPr lang="en" sz="17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summarise()</a:t>
            </a:r>
            <a:r>
              <a:rPr lang="en">
                <a:solidFill>
                  <a:srgbClr val="980000"/>
                </a:solidFill>
              </a:rPr>
              <a:t>:</a:t>
            </a:r>
            <a:endParaRPr>
              <a:solidFill>
                <a:srgbClr val="980000"/>
              </a:solidFill>
            </a:endParaRPr>
          </a:p>
          <a:p>
            <a:pPr indent="-342900" lvl="0" marL="533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How many species are in each Habitat?</a:t>
            </a:r>
            <a:endParaRPr>
              <a:solidFill>
                <a:schemeClr val="dk1"/>
              </a:solidFill>
            </a:endParaRPr>
          </a:p>
          <a:p>
            <a:pPr indent="-342900" lvl="0" marL="533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Which habitat has the heaviest birds on average?</a:t>
            </a:r>
            <a:endParaRPr>
              <a:solidFill>
                <a:schemeClr val="dk1"/>
              </a:solidFill>
            </a:endParaRPr>
          </a:p>
          <a:p>
            <a:pPr indent="-342900" lvl="0" marL="533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Add the number of species to your answer for 2. 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eriod"/>
            </a:pPr>
            <a:r>
              <a:rPr lang="en" sz="1800">
                <a:solidFill>
                  <a:schemeClr val="dk1"/>
                </a:solidFill>
              </a:rPr>
              <a:t>Does that change which habitat you would report?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</a:rPr>
              <a:t>Take avo_w_family_mass and find the single heaviest bird in the whole dataset. Watch the row count.</a:t>
            </a:r>
            <a:endParaRPr sz="1800">
              <a:solidFill>
                <a:schemeClr val="dk1"/>
              </a:solidFill>
            </a:endParaRPr>
          </a:p>
          <a:p>
            <a:pPr indent="0" lvl="0" marL="76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(Watch out for </a:t>
            </a:r>
            <a:r>
              <a:rPr i="1" lang="en" sz="1700">
                <a:solidFill>
                  <a:schemeClr val="dk1"/>
                </a:solidFill>
              </a:rPr>
              <a:t>NA</a:t>
            </a:r>
            <a:r>
              <a:rPr i="1" lang="en">
                <a:solidFill>
                  <a:schemeClr val="dk1"/>
                </a:solidFill>
              </a:rPr>
              <a:t>s)</a:t>
            </a:r>
            <a:endParaRPr/>
          </a:p>
        </p:txBody>
      </p:sp>
      <p:sp>
        <p:nvSpPr>
          <p:cNvPr id="267" name="Google Shape;26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Slice functions</a:t>
            </a:r>
            <a:endParaRPr b="1"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return a subset of data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Can be used to see just the first, the last, or a random sample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Useful for examining a subset of data (speeds up analyses)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Useful for subsetting biggest/smallest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Include: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slice_head()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slice_tail()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slice_min()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slice_max()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slice_sample()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Slice functions</a:t>
            </a:r>
            <a:endParaRPr b="1"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the largest bird species in each family: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biggest_in_fams &lt;-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group_by(Family1)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slice_max(Mass,n = 1) |&gt;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select(Family1, Species1, Mass)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How would we modify this to get the smallest bird in each family?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it and see if you’re right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"R for Data Science" chapter 1: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https://r4ds.hadley.nz/data-visualize.html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time: ggplot2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Assignment 1 due Friday, 11:59 pm</a:t>
            </a:r>
            <a:endParaRPr/>
          </a:p>
        </p:txBody>
      </p:sp>
      <p:sp>
        <p:nvSpPr>
          <p:cNvPr id="287" name="Google Shape;28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