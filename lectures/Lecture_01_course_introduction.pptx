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6858000" cy="9144000"/>
  <p:embeddedFontLst>
    <p:embeddedFont>
      <p:font typeface="Inter SemiBold"/>
      <p:regular r:id="rId32"/>
      <p:bold r:id="rId33"/>
      <p:italic r:id="rId34"/>
      <p:boldItalic r:id="rId35"/>
    </p:embeddedFont>
    <p:embeddedFont>
      <p:font typeface="Montserrat"/>
      <p:bold r:id="rId36"/>
      <p:boldItalic r:id="rId37"/>
    </p:embeddedFont>
    <p:embeddedFont>
      <p:font typeface="Inter"/>
      <p:bold r:id="rId38"/>
      <p:boldItalic r:id="rId39"/>
    </p:embeddedFont>
    <p:embeddedFont>
      <p:font typeface="Inter ExtraBold"/>
      <p:bold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ExtraBold-bold.fntdata"/><Relationship Id="rId20" Type="http://schemas.openxmlformats.org/officeDocument/2006/relationships/slide" Target="slides/slide15.xml"/><Relationship Id="rId41" Type="http://schemas.openxmlformats.org/officeDocument/2006/relationships/font" Target="fonts/InterExtraBold-bold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InterSemiBold-bold.fntdata"/><Relationship Id="rId10" Type="http://schemas.openxmlformats.org/officeDocument/2006/relationships/slide" Target="slides/slide5.xml"/><Relationship Id="rId32" Type="http://schemas.openxmlformats.org/officeDocument/2006/relationships/font" Target="fonts/InterSemiBold-regular.fntdata"/><Relationship Id="rId13" Type="http://schemas.openxmlformats.org/officeDocument/2006/relationships/slide" Target="slides/slide8.xml"/><Relationship Id="rId35" Type="http://schemas.openxmlformats.org/officeDocument/2006/relationships/font" Target="fonts/InterSemiBold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SemiBold-italic.fntdata"/><Relationship Id="rId15" Type="http://schemas.openxmlformats.org/officeDocument/2006/relationships/slide" Target="slides/slide10.xml"/><Relationship Id="rId37" Type="http://schemas.openxmlformats.org/officeDocument/2006/relationships/font" Target="fonts/Montserrat-boldItalic.fntdata"/><Relationship Id="rId14" Type="http://schemas.openxmlformats.org/officeDocument/2006/relationships/slide" Target="slides/slide9.xml"/><Relationship Id="rId36" Type="http://schemas.openxmlformats.org/officeDocument/2006/relationships/font" Target="fonts/Montserrat-bold.fntdata"/><Relationship Id="rId17" Type="http://schemas.openxmlformats.org/officeDocument/2006/relationships/slide" Target="slides/slide12.xml"/><Relationship Id="rId39" Type="http://schemas.openxmlformats.org/officeDocument/2006/relationships/font" Target="fonts/Inter-boldItalic.fntdata"/><Relationship Id="rId16" Type="http://schemas.openxmlformats.org/officeDocument/2006/relationships/slide" Target="slides/slide11.xml"/><Relationship Id="rId38" Type="http://schemas.openxmlformats.org/officeDocument/2006/relationships/font" Target="fonts/Inter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4c02cc9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4c02cc9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64c02cc92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64c02cc92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64c02cc92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64c02cc92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4019a4882_0_3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f4019a4882_0_3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64c02cc92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64c02cc92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64c02cc92f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64c02cc92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4c02cc92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4c02cc92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64c02cc92f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64c02cc92f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c02cc92f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c02cc92f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4c02cc92f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4c02cc92f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4019a4882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4019a4882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4c02cc92f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4c02cc92f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4c02cc92f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64c02cc92f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64c02cc92f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64c02cc92f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4c02cc92f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64c02cc92f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84df5010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f84df5010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4019a4882_0_6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f4019a4882_0_6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64c02cc92f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64c02cc92f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64c02cc92f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64c02cc92f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64c02cc92f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64c02cc92f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64c02cc92f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64c02cc92f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64c02cc92f_0_1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64c02cc92f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64c02cc92f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64c02cc92f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64c02cc92f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64c02cc92f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64c02cc92f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64c02cc92f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64c02cc92f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64c02cc92f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mailto:bmaitner@usf.edu" TargetMode="External"/><Relationship Id="rId4" Type="http://schemas.openxmlformats.org/officeDocument/2006/relationships/hyperlink" Target="https://github.com/bmaitner/biometry_cours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99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Biometry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897850"/>
            <a:ext cx="8520600" cy="25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Syllabus,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we need stats,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Reproducibility and Openness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71500" y="428625"/>
            <a:ext cx="80010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Introductions</a:t>
            </a:r>
            <a:endParaRPr b="1" sz="3200">
              <a:solidFill>
                <a:srgbClr val="0F172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571500" y="1095375"/>
            <a:ext cx="8001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1600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rPr>
              <a:t>Please take a moment to tell us about yourself:</a:t>
            </a:r>
            <a:endParaRPr b="1" sz="1600">
              <a:solidFill>
                <a:srgbClr val="98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2" name="Google Shape;62;p14"/>
          <p:cNvGrpSpPr/>
          <p:nvPr/>
        </p:nvGrpSpPr>
        <p:grpSpPr>
          <a:xfrm>
            <a:off x="571500" y="1762125"/>
            <a:ext cx="8001150" cy="2667000"/>
            <a:chOff x="571500" y="1762125"/>
            <a:chExt cx="8001150" cy="2667000"/>
          </a:xfrm>
        </p:grpSpPr>
        <p:sp>
          <p:nvSpPr>
            <p:cNvPr id="63" name="Google Shape;63;p14"/>
            <p:cNvSpPr/>
            <p:nvPr/>
          </p:nvSpPr>
          <p:spPr>
            <a:xfrm>
              <a:off x="571500" y="1762125"/>
              <a:ext cx="2571900" cy="2667000"/>
            </a:xfrm>
            <a:prstGeom prst="roundRect">
              <a:avLst>
                <a:gd fmla="val 592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3286125" y="1762125"/>
              <a:ext cx="2571900" cy="2667000"/>
            </a:xfrm>
            <a:prstGeom prst="roundRect">
              <a:avLst>
                <a:gd fmla="val 592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14"/>
            <p:cNvSpPr/>
            <p:nvPr/>
          </p:nvSpPr>
          <p:spPr>
            <a:xfrm>
              <a:off x="6000750" y="1762125"/>
              <a:ext cx="2571900" cy="2667000"/>
            </a:xfrm>
            <a:prstGeom prst="roundRect">
              <a:avLst>
                <a:gd fmla="val 5925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" name="Google Shape;66;p14"/>
            <p:cNvSpPr txBox="1"/>
            <p:nvPr/>
          </p:nvSpPr>
          <p:spPr>
            <a:xfrm>
              <a:off x="571500" y="1762125"/>
              <a:ext cx="2571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04800" lIns="228600" spcFirstLastPara="1" rIns="228600" wrap="square" tIns="304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800">
                  <a:solidFill>
                    <a:srgbClr val="980000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b="0" sz="2800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Your Name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Introduce yourself to the class, including what you prefer to be called and your pronouns if you'd like to share.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14"/>
            <p:cNvSpPr txBox="1"/>
            <p:nvPr/>
          </p:nvSpPr>
          <p:spPr>
            <a:xfrm>
              <a:off x="3286125" y="1762125"/>
              <a:ext cx="2571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04800" lIns="228600" spcFirstLastPara="1" rIns="228600" wrap="square" tIns="304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800">
                  <a:solidFill>
                    <a:srgbClr val="980000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b="0" sz="2800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Research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Describe your current research interests, what systems or questions you study, or what you hope to work on.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6000750" y="1762125"/>
              <a:ext cx="2571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04800" lIns="228600" spcFirstLastPara="1" rIns="228600" wrap="square" tIns="3048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800">
                  <a:solidFill>
                    <a:srgbClr val="980000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b="0" sz="2800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1" lang="en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Fun Fact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Tell us something interesting or unique about yourself—hobbies, favorite travel spots, pets, or hidden talents!</a:t>
              </a:r>
              <a:endParaRPr b="0" sz="11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Syllabus: basic stuff</a:t>
            </a:r>
            <a:endParaRPr b="1"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Days: T, Th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Time: 2:00 – 3:50 pm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Location: DAV 265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Instructor: Dr. Brian Maitner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Office Location: DAV 226  (but I’m usually in URL 106, because it’s warmer)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Office Hours: TBD - ?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Email: </a:t>
            </a:r>
            <a:r>
              <a:rPr lang="en" sz="2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bmaitner@usf.edu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date syllabus: </a:t>
            </a:r>
            <a:r>
              <a:rPr lang="en" sz="2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https://github.com/bmaitner/biometry_course</a:t>
            </a:r>
            <a:r>
              <a:rPr lang="en" sz="2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Github page</a:t>
            </a:r>
            <a:endParaRPr/>
          </a:p>
        </p:txBody>
      </p:sp>
      <p:pic>
        <p:nvPicPr>
          <p:cNvPr id="80" name="Google Shape;80;p16"/>
          <p:cNvPicPr preferRelativeResize="0"/>
          <p:nvPr/>
        </p:nvPicPr>
        <p:blipFill rotWithShape="1">
          <a:blip r:embed="rId3">
            <a:alphaModFix/>
          </a:blip>
          <a:srcRect b="0" l="0" r="27066" t="16771"/>
          <a:stretch/>
        </p:blipFill>
        <p:spPr>
          <a:xfrm>
            <a:off x="55850" y="960675"/>
            <a:ext cx="5671325" cy="3640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6"/>
          <p:cNvSpPr txBox="1"/>
          <p:nvPr/>
        </p:nvSpPr>
        <p:spPr>
          <a:xfrm>
            <a:off x="5851375" y="1126150"/>
            <a:ext cx="330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6072000" y="988250"/>
            <a:ext cx="29373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Full of useful stuff</a:t>
            </a:r>
            <a:endParaRPr b="1"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Syllabus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Lectures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Previous quizzes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Syllabus: Course structure</a:t>
            </a:r>
            <a:endParaRPr b="1"/>
          </a:p>
        </p:txBody>
      </p:sp>
      <p:sp>
        <p:nvSpPr>
          <p:cNvPr id="88" name="Google Shape;8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Flipped course: read before class, work during class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Assignments will focus on data of your choosing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Graded Items		Percent of Final Grade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In-class participation			20%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In-class quizzes				20%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Assignments (4x)			20%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Midterm (take-home)			20%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 (presentation + take-home)	20%</a:t>
            </a:r>
            <a:endParaRPr/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7000" y="123125"/>
            <a:ext cx="2288550" cy="323747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6087875" y="3544850"/>
            <a:ext cx="2907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Digital</a:t>
            </a:r>
            <a:r>
              <a:rPr lang="en" sz="1800">
                <a:solidFill>
                  <a:schemeClr val="dk2"/>
                </a:solidFill>
              </a:rPr>
              <a:t> copies available through the library for free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476250" y="476250"/>
            <a:ext cx="81915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Course Expectations</a:t>
            </a:r>
            <a:endParaRPr b="1" sz="3200">
              <a:solidFill>
                <a:srgbClr val="1E293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96" name="Google Shape;96;p18"/>
          <p:cNvGrpSpPr/>
          <p:nvPr/>
        </p:nvGrpSpPr>
        <p:grpSpPr>
          <a:xfrm>
            <a:off x="476250" y="1428750"/>
            <a:ext cx="3905400" cy="2857500"/>
            <a:chOff x="0" y="0"/>
            <a:chExt cx="3905400" cy="2857500"/>
          </a:xfrm>
        </p:grpSpPr>
        <p:sp>
          <p:nvSpPr>
            <p:cNvPr id="97" name="Google Shape;97;p18"/>
            <p:cNvSpPr/>
            <p:nvPr/>
          </p:nvSpPr>
          <p:spPr>
            <a:xfrm>
              <a:off x="0" y="0"/>
              <a:ext cx="3905400" cy="28575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98" name="Google Shape;98;p18"/>
            <p:cNvGrpSpPr/>
            <p:nvPr/>
          </p:nvGrpSpPr>
          <p:grpSpPr>
            <a:xfrm>
              <a:off x="285750" y="338328"/>
              <a:ext cx="3333900" cy="2233272"/>
              <a:chOff x="0" y="52578"/>
              <a:chExt cx="3333900" cy="2233272"/>
            </a:xfrm>
          </p:grpSpPr>
          <p:sp>
            <p:nvSpPr>
              <p:cNvPr id="99" name="Google Shape;99;p18"/>
              <p:cNvSpPr txBox="1"/>
              <p:nvPr/>
            </p:nvSpPr>
            <p:spPr>
              <a:xfrm>
                <a:off x="0" y="52578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600">
                    <a:solidFill>
                      <a:srgbClr val="3B82F6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forum</a:t>
                </a:r>
                <a:endParaRPr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0" name="Google Shape;100;p18"/>
              <p:cNvSpPr txBox="1"/>
              <p:nvPr/>
            </p:nvSpPr>
            <p:spPr>
              <a:xfrm>
                <a:off x="0" y="666750"/>
                <a:ext cx="3333900" cy="16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Participate!</a:t>
                </a:r>
                <a:endParaRPr b="1" sz="2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13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Ask questions. Share ideas, experiences, and knowledge!</a:t>
                </a:r>
                <a:endParaRPr b="0" sz="13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01" name="Google Shape;101;p18"/>
          <p:cNvGrpSpPr/>
          <p:nvPr/>
        </p:nvGrpSpPr>
        <p:grpSpPr>
          <a:xfrm>
            <a:off x="4762500" y="1428750"/>
            <a:ext cx="3905400" cy="2857500"/>
            <a:chOff x="0" y="0"/>
            <a:chExt cx="3905400" cy="2857500"/>
          </a:xfrm>
        </p:grpSpPr>
        <p:sp>
          <p:nvSpPr>
            <p:cNvPr id="102" name="Google Shape;102;p18"/>
            <p:cNvSpPr/>
            <p:nvPr/>
          </p:nvSpPr>
          <p:spPr>
            <a:xfrm>
              <a:off x="0" y="0"/>
              <a:ext cx="3905400" cy="2857500"/>
            </a:xfrm>
            <a:prstGeom prst="roundRect">
              <a:avLst>
                <a:gd fmla="val 5333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3" name="Google Shape;103;p18"/>
            <p:cNvGrpSpPr/>
            <p:nvPr/>
          </p:nvGrpSpPr>
          <p:grpSpPr>
            <a:xfrm>
              <a:off x="285750" y="338328"/>
              <a:ext cx="3333900" cy="2233272"/>
              <a:chOff x="0" y="52578"/>
              <a:chExt cx="3333900" cy="2233272"/>
            </a:xfrm>
          </p:grpSpPr>
          <p:sp>
            <p:nvSpPr>
              <p:cNvPr id="104" name="Google Shape;104;p18"/>
              <p:cNvSpPr txBox="1"/>
              <p:nvPr/>
            </p:nvSpPr>
            <p:spPr>
              <a:xfrm>
                <a:off x="0" y="52578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3600">
                    <a:solidFill>
                      <a:srgbClr val="10B981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sentiment_satisfied</a:t>
                </a:r>
                <a:endParaRPr sz="36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5" name="Google Shape;105;p18"/>
              <p:cNvSpPr txBox="1"/>
              <p:nvPr/>
            </p:nvSpPr>
            <p:spPr>
              <a:xfrm>
                <a:off x="0" y="666750"/>
                <a:ext cx="3333900" cy="16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Be Respectful.</a:t>
                </a:r>
                <a:endParaRPr b="1" sz="20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b="0" lang="en" sz="13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Create a welcoming environment for everyone to learn, collaborate, and grow together.</a:t>
                </a:r>
                <a:endParaRPr b="0" sz="13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/>
        </p:nvSpPr>
        <p:spPr>
          <a:xfrm>
            <a:off x="476250" y="476250"/>
            <a:ext cx="81915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rgbClr val="1E293B"/>
                </a:solidFill>
                <a:latin typeface="Montserrat"/>
                <a:ea typeface="Montserrat"/>
                <a:cs typeface="Montserrat"/>
                <a:sym typeface="Montserrat"/>
              </a:rPr>
              <a:t>Recommendations</a:t>
            </a:r>
            <a:endParaRPr b="1" sz="3200">
              <a:solidFill>
                <a:srgbClr val="1E293B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1" name="Google Shape;111;p19"/>
          <p:cNvGrpSpPr/>
          <p:nvPr/>
        </p:nvGrpSpPr>
        <p:grpSpPr>
          <a:xfrm>
            <a:off x="476250" y="1428750"/>
            <a:ext cx="1485900" cy="2667000"/>
            <a:chOff x="0" y="0"/>
            <a:chExt cx="1485900" cy="2667000"/>
          </a:xfrm>
        </p:grpSpPr>
        <p:sp>
          <p:nvSpPr>
            <p:cNvPr id="112" name="Google Shape;112;p19"/>
            <p:cNvSpPr/>
            <p:nvPr/>
          </p:nvSpPr>
          <p:spPr>
            <a:xfrm>
              <a:off x="0" y="0"/>
              <a:ext cx="1485900" cy="2667000"/>
            </a:xfrm>
            <a:prstGeom prst="roundRect">
              <a:avLst>
                <a:gd fmla="val 769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9"/>
            <p:cNvSpPr txBox="1"/>
            <p:nvPr/>
          </p:nvSpPr>
          <p:spPr>
            <a:xfrm>
              <a:off x="0" y="0"/>
              <a:ext cx="1485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assignment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Read the syllabus</a:t>
              </a:r>
              <a:endParaRPr b="1" sz="13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4" name="Google Shape;114;p19"/>
          <p:cNvGrpSpPr/>
          <p:nvPr/>
        </p:nvGrpSpPr>
        <p:grpSpPr>
          <a:xfrm>
            <a:off x="2152650" y="1428750"/>
            <a:ext cx="1485900" cy="2667000"/>
            <a:chOff x="0" y="0"/>
            <a:chExt cx="1485900" cy="2667000"/>
          </a:xfrm>
        </p:grpSpPr>
        <p:sp>
          <p:nvSpPr>
            <p:cNvPr id="115" name="Google Shape;115;p19"/>
            <p:cNvSpPr/>
            <p:nvPr/>
          </p:nvSpPr>
          <p:spPr>
            <a:xfrm>
              <a:off x="0" y="0"/>
              <a:ext cx="1485900" cy="2667000"/>
            </a:xfrm>
            <a:prstGeom prst="roundRect">
              <a:avLst>
                <a:gd fmla="val 769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9"/>
            <p:cNvSpPr txBox="1"/>
            <p:nvPr/>
          </p:nvSpPr>
          <p:spPr>
            <a:xfrm>
              <a:off x="0" y="0"/>
              <a:ext cx="1485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menu_book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Read the book</a:t>
              </a:r>
              <a:endParaRPr b="1" sz="13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7" name="Google Shape;117;p19"/>
          <p:cNvGrpSpPr/>
          <p:nvPr/>
        </p:nvGrpSpPr>
        <p:grpSpPr>
          <a:xfrm>
            <a:off x="3829050" y="1428750"/>
            <a:ext cx="1485900" cy="2667000"/>
            <a:chOff x="0" y="0"/>
            <a:chExt cx="1485900" cy="2667000"/>
          </a:xfrm>
        </p:grpSpPr>
        <p:sp>
          <p:nvSpPr>
            <p:cNvPr id="118" name="Google Shape;118;p19"/>
            <p:cNvSpPr/>
            <p:nvPr/>
          </p:nvSpPr>
          <p:spPr>
            <a:xfrm>
              <a:off x="0" y="0"/>
              <a:ext cx="1485900" cy="2667000"/>
            </a:xfrm>
            <a:prstGeom prst="roundRect">
              <a:avLst>
                <a:gd fmla="val 769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9"/>
            <p:cNvSpPr txBox="1"/>
            <p:nvPr/>
          </p:nvSpPr>
          <p:spPr>
            <a:xfrm>
              <a:off x="0" y="0"/>
              <a:ext cx="1485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edit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Take notes on paper</a:t>
              </a:r>
              <a:endParaRPr b="1" sz="13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0" name="Google Shape;120;p19"/>
          <p:cNvGrpSpPr/>
          <p:nvPr/>
        </p:nvGrpSpPr>
        <p:grpSpPr>
          <a:xfrm>
            <a:off x="5505450" y="1428750"/>
            <a:ext cx="1485900" cy="2667000"/>
            <a:chOff x="0" y="0"/>
            <a:chExt cx="1485900" cy="2667000"/>
          </a:xfrm>
        </p:grpSpPr>
        <p:sp>
          <p:nvSpPr>
            <p:cNvPr id="121" name="Google Shape;121;p19"/>
            <p:cNvSpPr/>
            <p:nvPr/>
          </p:nvSpPr>
          <p:spPr>
            <a:xfrm>
              <a:off x="0" y="0"/>
              <a:ext cx="1485900" cy="2667000"/>
            </a:xfrm>
            <a:prstGeom prst="roundRect">
              <a:avLst>
                <a:gd fmla="val 769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9"/>
            <p:cNvSpPr txBox="1"/>
            <p:nvPr/>
          </p:nvSpPr>
          <p:spPr>
            <a:xfrm>
              <a:off x="0" y="0"/>
              <a:ext cx="1485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event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Plan ahead</a:t>
              </a:r>
              <a:endParaRPr b="1" sz="13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3" name="Google Shape;123;p19"/>
          <p:cNvGrpSpPr/>
          <p:nvPr/>
        </p:nvGrpSpPr>
        <p:grpSpPr>
          <a:xfrm>
            <a:off x="7181850" y="1428750"/>
            <a:ext cx="1485900" cy="2667000"/>
            <a:chOff x="0" y="0"/>
            <a:chExt cx="1485900" cy="2667000"/>
          </a:xfrm>
        </p:grpSpPr>
        <p:sp>
          <p:nvSpPr>
            <p:cNvPr id="124" name="Google Shape;124;p19"/>
            <p:cNvSpPr/>
            <p:nvPr/>
          </p:nvSpPr>
          <p:spPr>
            <a:xfrm>
              <a:off x="0" y="0"/>
              <a:ext cx="1485900" cy="2667000"/>
            </a:xfrm>
            <a:prstGeom prst="roundRect">
              <a:avLst>
                <a:gd fmla="val 7692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9"/>
            <p:cNvSpPr txBox="1"/>
            <p:nvPr/>
          </p:nvSpPr>
          <p:spPr>
            <a:xfrm>
              <a:off x="0" y="0"/>
              <a:ext cx="1485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875" lIns="142875" spcFirstLastPara="1" rIns="142875" wrap="square" tIns="14287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2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laptop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Bring a laptop</a:t>
              </a:r>
              <a:endParaRPr b="1" sz="13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Questions so far?</a:t>
            </a:r>
            <a:endParaRPr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will you get out of this class?</a:t>
            </a:r>
            <a:endParaRPr/>
          </a:p>
        </p:txBody>
      </p:sp>
      <p:sp>
        <p:nvSpPr>
          <p:cNvPr id="136" name="Google Shape;13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general: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Ability to do common analyses and visualizations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Ability to go further on your own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will you get out of this class?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specifically: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 Learning Outcomes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Load data into R and conduct common data-wrangling tasks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data visualizations using base R and ggplot2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 the common types of statistical distribution and provide examples of when they might apply.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Choose appropriate analyses for given ecological questions and datasets.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Demonstrate an ability to troubleshoot and de-bug R code.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Explain how they would approach a novel coding problem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the skills learned to their own work</a:t>
            </a:r>
            <a:endParaRPr sz="2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/>
        </p:nvSpPr>
        <p:spPr>
          <a:xfrm>
            <a:off x="571500" y="476250"/>
            <a:ext cx="8001000" cy="10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2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Learning Stats</a:t>
            </a:r>
            <a:endParaRPr b="0" sz="32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" sz="16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People learn differently and stats can be non-intuitive</a:t>
            </a:r>
            <a:endParaRPr b="0" sz="16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8" name="Google Shape;148;p23"/>
          <p:cNvGrpSpPr/>
          <p:nvPr/>
        </p:nvGrpSpPr>
        <p:grpSpPr>
          <a:xfrm>
            <a:off x="571500" y="1714500"/>
            <a:ext cx="2476500" cy="2667000"/>
            <a:chOff x="0" y="0"/>
            <a:chExt cx="2476500" cy="2667000"/>
          </a:xfrm>
        </p:grpSpPr>
        <p:sp>
          <p:nvSpPr>
            <p:cNvPr id="149" name="Google Shape;149;p23"/>
            <p:cNvSpPr/>
            <p:nvPr/>
          </p:nvSpPr>
          <p:spPr>
            <a:xfrm>
              <a:off x="0" y="0"/>
              <a:ext cx="2476500" cy="26670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228600" y="22860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3"/>
            <p:cNvSpPr txBox="1"/>
            <p:nvPr/>
          </p:nvSpPr>
          <p:spPr>
            <a:xfrm>
              <a:off x="0" y="0"/>
              <a:ext cx="24765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3B82F6"/>
                  </a:solidFill>
                  <a:latin typeface="Inter"/>
                  <a:ea typeface="Inter"/>
                  <a:cs typeface="Inter"/>
                  <a:sym typeface="Inter"/>
                </a:rPr>
                <a:t>THE BOOK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Exposes you to verbal and mathematical descriptions of key statistical concepts.</a:t>
              </a:r>
              <a:endParaRPr b="0" sz="13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2" name="Google Shape;152;p23"/>
          <p:cNvGrpSpPr/>
          <p:nvPr/>
        </p:nvGrpSpPr>
        <p:grpSpPr>
          <a:xfrm>
            <a:off x="3333750" y="1714500"/>
            <a:ext cx="2476500" cy="2667000"/>
            <a:chOff x="0" y="0"/>
            <a:chExt cx="2476500" cy="2667000"/>
          </a:xfrm>
        </p:grpSpPr>
        <p:sp>
          <p:nvSpPr>
            <p:cNvPr id="153" name="Google Shape;153;p23"/>
            <p:cNvSpPr/>
            <p:nvPr/>
          </p:nvSpPr>
          <p:spPr>
            <a:xfrm>
              <a:off x="0" y="0"/>
              <a:ext cx="2476500" cy="26670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3"/>
            <p:cNvSpPr/>
            <p:nvPr/>
          </p:nvSpPr>
          <p:spPr>
            <a:xfrm>
              <a:off x="228600" y="22860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3"/>
            <p:cNvSpPr txBox="1"/>
            <p:nvPr/>
          </p:nvSpPr>
          <p:spPr>
            <a:xfrm>
              <a:off x="0" y="0"/>
              <a:ext cx="24765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IN CLASS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Hands-on coding and interactive visualizations help build intuitive understanding.</a:t>
              </a:r>
              <a:endParaRPr b="0" sz="13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6" name="Google Shape;156;p23"/>
          <p:cNvGrpSpPr/>
          <p:nvPr/>
        </p:nvGrpSpPr>
        <p:grpSpPr>
          <a:xfrm>
            <a:off x="6096000" y="1714500"/>
            <a:ext cx="2476500" cy="2667000"/>
            <a:chOff x="0" y="0"/>
            <a:chExt cx="2476500" cy="2667000"/>
          </a:xfrm>
        </p:grpSpPr>
        <p:sp>
          <p:nvSpPr>
            <p:cNvPr id="157" name="Google Shape;157;p23"/>
            <p:cNvSpPr/>
            <p:nvPr/>
          </p:nvSpPr>
          <p:spPr>
            <a:xfrm>
              <a:off x="0" y="0"/>
              <a:ext cx="2476500" cy="2667000"/>
            </a:xfrm>
            <a:prstGeom prst="roundRect">
              <a:avLst>
                <a:gd fmla="val 6153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3"/>
            <p:cNvSpPr/>
            <p:nvPr/>
          </p:nvSpPr>
          <p:spPr>
            <a:xfrm>
              <a:off x="228600" y="22860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6366F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3"/>
            <p:cNvSpPr txBox="1"/>
            <p:nvPr/>
          </p:nvSpPr>
          <p:spPr>
            <a:xfrm>
              <a:off x="0" y="0"/>
              <a:ext cx="24765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28600" lIns="228600" spcFirstLastPara="1" rIns="2286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THE GOAL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Providing multiple teaching methods ensures that at least one appeals to everyone.</a:t>
              </a:r>
              <a:endParaRPr b="0" sz="13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24"/>
          <p:cNvGrpSpPr/>
          <p:nvPr/>
        </p:nvGrpSpPr>
        <p:grpSpPr>
          <a:xfrm>
            <a:off x="571500" y="476250"/>
            <a:ext cx="8001000" cy="762000"/>
            <a:chOff x="0" y="0"/>
            <a:chExt cx="8001000" cy="762000"/>
          </a:xfrm>
        </p:grpSpPr>
        <p:sp>
          <p:nvSpPr>
            <p:cNvPr id="165" name="Google Shape;165;p24"/>
            <p:cNvSpPr/>
            <p:nvPr/>
          </p:nvSpPr>
          <p:spPr>
            <a:xfrm>
              <a:off x="0" y="0"/>
              <a:ext cx="80010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4"/>
            <p:cNvSpPr txBox="1"/>
            <p:nvPr/>
          </p:nvSpPr>
          <p:spPr>
            <a:xfrm>
              <a:off x="0" y="0"/>
              <a:ext cx="8001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3200">
                  <a:solidFill>
                    <a:srgbClr val="0F172A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Learning Stats</a:t>
              </a:r>
              <a:endParaRPr b="0" sz="32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167" name="Google Shape;167;p24"/>
          <p:cNvGrpSpPr/>
          <p:nvPr/>
        </p:nvGrpSpPr>
        <p:grpSpPr>
          <a:xfrm>
            <a:off x="571500" y="1524000"/>
            <a:ext cx="3714900" cy="2667000"/>
            <a:chOff x="0" y="0"/>
            <a:chExt cx="3714900" cy="2667000"/>
          </a:xfrm>
        </p:grpSpPr>
        <p:sp>
          <p:nvSpPr>
            <p:cNvPr id="168" name="Google Shape;168;p24"/>
            <p:cNvSpPr/>
            <p:nvPr/>
          </p:nvSpPr>
          <p:spPr>
            <a:xfrm>
              <a:off x="0" y="0"/>
              <a:ext cx="3714900" cy="26670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4"/>
            <p:cNvSpPr/>
            <p:nvPr/>
          </p:nvSpPr>
          <p:spPr>
            <a:xfrm>
              <a:off x="228600" y="22860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4"/>
            <p:cNvSpPr txBox="1"/>
            <p:nvPr/>
          </p:nvSpPr>
          <p:spPr>
            <a:xfrm>
              <a:off x="0" y="0"/>
              <a:ext cx="3714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04800" lIns="304800" spcFirstLastPara="1" rIns="3048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EF4444"/>
                  </a:solidFill>
                  <a:latin typeface="Inter"/>
                  <a:ea typeface="Inter"/>
                  <a:cs typeface="Inter"/>
                  <a:sym typeface="Inter"/>
                </a:rPr>
                <a:t>What to Avoid</a:t>
              </a:r>
              <a:endParaRPr b="1" sz="110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3341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Don’t focus on memorization</a:t>
              </a:r>
              <a:endParaRPr b="0" sz="2000">
                <a:solidFill>
                  <a:srgbClr val="3341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171" name="Google Shape;171;p24"/>
          <p:cNvGrpSpPr/>
          <p:nvPr/>
        </p:nvGrpSpPr>
        <p:grpSpPr>
          <a:xfrm>
            <a:off x="4857750" y="1524000"/>
            <a:ext cx="3714900" cy="2667000"/>
            <a:chOff x="0" y="0"/>
            <a:chExt cx="3714900" cy="2667000"/>
          </a:xfrm>
        </p:grpSpPr>
        <p:sp>
          <p:nvSpPr>
            <p:cNvPr id="172" name="Google Shape;172;p24"/>
            <p:cNvSpPr/>
            <p:nvPr/>
          </p:nvSpPr>
          <p:spPr>
            <a:xfrm>
              <a:off x="0" y="0"/>
              <a:ext cx="3714900" cy="2667000"/>
            </a:xfrm>
            <a:prstGeom prst="roundRect">
              <a:avLst>
                <a:gd fmla="val 5714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228600" y="228600"/>
              <a:ext cx="571500" cy="573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4"/>
            <p:cNvSpPr txBox="1"/>
            <p:nvPr/>
          </p:nvSpPr>
          <p:spPr>
            <a:xfrm>
              <a:off x="0" y="0"/>
              <a:ext cx="37149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04800" lIns="304800" spcFirstLastPara="1" rIns="304800" wrap="square" tIns="3810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What to Focus On</a:t>
              </a:r>
              <a:endParaRPr b="1" sz="1100">
                <a:solidFill>
                  <a:srgbClr val="10B98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3341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 focus on practice and understanding</a:t>
              </a:r>
              <a:endParaRPr b="0" sz="2000">
                <a:solidFill>
                  <a:srgbClr val="3341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note on AI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We’ll cover AI later in the semester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Strongly recommend that you start out without 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need reasonable fundamentals to be able to effectively use AI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Questions so far?</a:t>
            </a:r>
            <a:endParaRPr b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980000"/>
                </a:solidFill>
              </a:rPr>
              <a:t>Why do we need statistics?</a:t>
            </a:r>
            <a:endParaRPr b="1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8"/>
          <p:cNvSpPr txBox="1"/>
          <p:nvPr/>
        </p:nvSpPr>
        <p:spPr>
          <a:xfrm>
            <a:off x="476250" y="428625"/>
            <a:ext cx="8191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1E293B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Why do we need statistics?</a:t>
            </a:r>
            <a:endParaRPr b="0" sz="2600">
              <a:solidFill>
                <a:srgbClr val="1E293B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96" name="Google Shape;196;p28"/>
          <p:cNvGrpSpPr/>
          <p:nvPr/>
        </p:nvGrpSpPr>
        <p:grpSpPr>
          <a:xfrm>
            <a:off x="476250" y="1238250"/>
            <a:ext cx="2476500" cy="1619100"/>
            <a:chOff x="0" y="0"/>
            <a:chExt cx="2476500" cy="1619100"/>
          </a:xfrm>
        </p:grpSpPr>
        <p:sp>
          <p:nvSpPr>
            <p:cNvPr id="197" name="Google Shape;197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01 . COGNITIVE LIMITS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Imperfect Minds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We must overcome human biases, logical fallacies, and cognitive limitations.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99" name="Google Shape;199;p28"/>
          <p:cNvGrpSpPr/>
          <p:nvPr/>
        </p:nvGrpSpPr>
        <p:grpSpPr>
          <a:xfrm>
            <a:off x="3333750" y="1238250"/>
            <a:ext cx="2476500" cy="1619100"/>
            <a:chOff x="0" y="0"/>
            <a:chExt cx="2476500" cy="1619100"/>
          </a:xfrm>
        </p:grpSpPr>
        <p:sp>
          <p:nvSpPr>
            <p:cNvPr id="200" name="Google Shape;200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02 . MEASUREMENT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Effect Sizes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Accurately quantifying the strength and magnitude of different relationships.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02" name="Google Shape;202;p28"/>
          <p:cNvGrpSpPr/>
          <p:nvPr/>
        </p:nvGrpSpPr>
        <p:grpSpPr>
          <a:xfrm>
            <a:off x="6191250" y="1238250"/>
            <a:ext cx="2476500" cy="1619100"/>
            <a:chOff x="0" y="0"/>
            <a:chExt cx="2476500" cy="1619100"/>
          </a:xfrm>
        </p:grpSpPr>
        <p:sp>
          <p:nvSpPr>
            <p:cNvPr id="203" name="Google Shape;203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03 . VALIDATION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Hypothesis Testing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Systematically validating assumptions against empirical data.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05" name="Google Shape;205;p28"/>
          <p:cNvGrpSpPr/>
          <p:nvPr/>
        </p:nvGrpSpPr>
        <p:grpSpPr>
          <a:xfrm>
            <a:off x="476250" y="3048000"/>
            <a:ext cx="2476500" cy="1619100"/>
            <a:chOff x="0" y="0"/>
            <a:chExt cx="2476500" cy="1619100"/>
          </a:xfrm>
        </p:grpSpPr>
        <p:sp>
          <p:nvSpPr>
            <p:cNvPr id="206" name="Google Shape;206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04 . FORECASTING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Making Predictions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Building robust models to anticipate future outcomes and trends.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08" name="Google Shape;208;p28"/>
          <p:cNvGrpSpPr/>
          <p:nvPr/>
        </p:nvGrpSpPr>
        <p:grpSpPr>
          <a:xfrm>
            <a:off x="3333750" y="3048000"/>
            <a:ext cx="2476500" cy="1619100"/>
            <a:chOff x="0" y="0"/>
            <a:chExt cx="2476500" cy="1619100"/>
          </a:xfrm>
        </p:grpSpPr>
        <p:sp>
          <p:nvSpPr>
            <p:cNvPr id="209" name="Google Shape;209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05 . CLARITY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Visualizations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Making complex numerical relationships instantly clear and intuitive.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1" name="Google Shape;211;p28"/>
          <p:cNvGrpSpPr/>
          <p:nvPr/>
        </p:nvGrpSpPr>
        <p:grpSpPr>
          <a:xfrm>
            <a:off x="6191250" y="3048000"/>
            <a:ext cx="2476500" cy="1619100"/>
            <a:chOff x="0" y="0"/>
            <a:chExt cx="2476500" cy="1619100"/>
          </a:xfrm>
        </p:grpSpPr>
        <p:sp>
          <p:nvSpPr>
            <p:cNvPr id="212" name="Google Shape;212;p28"/>
            <p:cNvSpPr/>
            <p:nvPr/>
          </p:nvSpPr>
          <p:spPr>
            <a:xfrm>
              <a:off x="0" y="0"/>
              <a:ext cx="2476500" cy="1619100"/>
            </a:xfrm>
            <a:prstGeom prst="roundRect">
              <a:avLst>
                <a:gd fmla="val 705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8"/>
            <p:cNvSpPr txBox="1"/>
            <p:nvPr/>
          </p:nvSpPr>
          <p:spPr>
            <a:xfrm>
              <a:off x="171450" y="171450"/>
              <a:ext cx="2133600" cy="12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06 . ETC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Lots of Other Stuff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From optimizing systems to driving data-informed strategic decisions.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Google Shape;218;p29"/>
          <p:cNvGrpSpPr/>
          <p:nvPr/>
        </p:nvGrpSpPr>
        <p:grpSpPr>
          <a:xfrm>
            <a:off x="476250" y="428625"/>
            <a:ext cx="8191500" cy="571500"/>
            <a:chOff x="0" y="0"/>
            <a:chExt cx="8191500" cy="571500"/>
          </a:xfrm>
        </p:grpSpPr>
        <p:sp>
          <p:nvSpPr>
            <p:cNvPr id="219" name="Google Shape;219;p29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9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600">
                  <a:solidFill>
                    <a:srgbClr val="1E293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What is R and why is it useful?</a:t>
              </a:r>
              <a:endParaRPr b="0" sz="2600">
                <a:solidFill>
                  <a:srgbClr val="1E293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221" name="Google Shape;221;p29"/>
          <p:cNvGrpSpPr/>
          <p:nvPr/>
        </p:nvGrpSpPr>
        <p:grpSpPr>
          <a:xfrm>
            <a:off x="476250" y="1333500"/>
            <a:ext cx="2476500" cy="3143400"/>
            <a:chOff x="0" y="0"/>
            <a:chExt cx="2476500" cy="3143400"/>
          </a:xfrm>
        </p:grpSpPr>
        <p:sp>
          <p:nvSpPr>
            <p:cNvPr id="222" name="Google Shape;222;p29"/>
            <p:cNvSpPr/>
            <p:nvPr/>
          </p:nvSpPr>
          <p:spPr>
            <a:xfrm>
              <a:off x="0" y="0"/>
              <a:ext cx="2476500" cy="3143400"/>
            </a:xfrm>
            <a:prstGeom prst="roundRect">
              <a:avLst>
                <a:gd fmla="val 4615" name="adj"/>
              </a:avLst>
            </a:prstGeom>
            <a:solidFill>
              <a:srgbClr val="6366F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9"/>
            <p:cNvSpPr txBox="1"/>
            <p:nvPr/>
          </p:nvSpPr>
          <p:spPr>
            <a:xfrm>
              <a:off x="190500" y="228600"/>
              <a:ext cx="2095500" cy="268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E0E7FF"/>
                  </a:solidFill>
                  <a:latin typeface="Inter"/>
                  <a:ea typeface="Inter"/>
                  <a:cs typeface="Inter"/>
                  <a:sym typeface="Inter"/>
                </a:rPr>
                <a:t>THE CORE IDEA</a:t>
              </a:r>
              <a:endParaRPr b="1" sz="1000">
                <a:solidFill>
                  <a:srgbClr val="E0E7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22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Scripted Language</a:t>
              </a:r>
              <a:endParaRPr b="0" sz="2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Type commands</a:t>
              </a:r>
              <a:r>
                <a:rPr b="0" lang="en" sz="1200">
                  <a:solidFill>
                    <a:srgbClr val="E0E7FF"/>
                  </a:solidFill>
                  <a:latin typeface="Inter"/>
                  <a:ea typeface="Inter"/>
                  <a:cs typeface="Inter"/>
                  <a:sym typeface="Inter"/>
                </a:rPr>
                <a:t> instead of clicking buttons. This fundamental shift unlocks precision and power in data analysis.</a:t>
              </a:r>
              <a:endParaRPr b="0" sz="1200">
                <a:solidFill>
                  <a:srgbClr val="E0E7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4" name="Google Shape;224;p29"/>
          <p:cNvGrpSpPr/>
          <p:nvPr/>
        </p:nvGrpSpPr>
        <p:grpSpPr>
          <a:xfrm>
            <a:off x="3190875" y="1333500"/>
            <a:ext cx="5476800" cy="952500"/>
            <a:chOff x="0" y="0"/>
            <a:chExt cx="5476800" cy="952500"/>
          </a:xfrm>
        </p:grpSpPr>
        <p:sp>
          <p:nvSpPr>
            <p:cNvPr id="225" name="Google Shape;225;p29"/>
            <p:cNvSpPr/>
            <p:nvPr/>
          </p:nvSpPr>
          <p:spPr>
            <a:xfrm>
              <a:off x="0" y="0"/>
              <a:ext cx="5476800" cy="952500"/>
            </a:xfrm>
            <a:prstGeom prst="roundRect">
              <a:avLst>
                <a:gd fmla="val 12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9"/>
            <p:cNvSpPr txBox="1"/>
            <p:nvPr/>
          </p:nvSpPr>
          <p:spPr>
            <a:xfrm>
              <a:off x="190500" y="142875"/>
              <a:ext cx="50958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REPRODUCIBILITY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Easily Re-run &amp; Revise Analyses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Modify your inputs or parameters and re-execute entire workflows instantly.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7" name="Google Shape;227;p29"/>
          <p:cNvGrpSpPr/>
          <p:nvPr/>
        </p:nvGrpSpPr>
        <p:grpSpPr>
          <a:xfrm>
            <a:off x="3190875" y="2428875"/>
            <a:ext cx="5476800" cy="952500"/>
            <a:chOff x="0" y="0"/>
            <a:chExt cx="5476800" cy="952500"/>
          </a:xfrm>
        </p:grpSpPr>
        <p:sp>
          <p:nvSpPr>
            <p:cNvPr id="228" name="Google Shape;228;p29"/>
            <p:cNvSpPr/>
            <p:nvPr/>
          </p:nvSpPr>
          <p:spPr>
            <a:xfrm>
              <a:off x="0" y="0"/>
              <a:ext cx="5476800" cy="952500"/>
            </a:xfrm>
            <a:prstGeom prst="roundRect">
              <a:avLst>
                <a:gd fmla="val 12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9"/>
            <p:cNvSpPr txBox="1"/>
            <p:nvPr/>
          </p:nvSpPr>
          <p:spPr>
            <a:xfrm>
              <a:off x="190500" y="142875"/>
              <a:ext cx="50958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EFFICIENCY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Re-use Code Across Projects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Build on top of previous work by recycling robust scripts for new datasets.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0" name="Google Shape;230;p29"/>
          <p:cNvGrpSpPr/>
          <p:nvPr/>
        </p:nvGrpSpPr>
        <p:grpSpPr>
          <a:xfrm>
            <a:off x="3190875" y="3524250"/>
            <a:ext cx="5476800" cy="952500"/>
            <a:chOff x="0" y="0"/>
            <a:chExt cx="5476800" cy="952500"/>
          </a:xfrm>
        </p:grpSpPr>
        <p:sp>
          <p:nvSpPr>
            <p:cNvPr id="231" name="Google Shape;231;p29"/>
            <p:cNvSpPr/>
            <p:nvPr/>
          </p:nvSpPr>
          <p:spPr>
            <a:xfrm>
              <a:off x="0" y="0"/>
              <a:ext cx="5476800" cy="952500"/>
            </a:xfrm>
            <a:prstGeom prst="roundRect">
              <a:avLst>
                <a:gd fmla="val 120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9"/>
            <p:cNvSpPr txBox="1"/>
            <p:nvPr/>
          </p:nvSpPr>
          <p:spPr>
            <a:xfrm>
              <a:off x="190500" y="142875"/>
              <a:ext cx="50958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25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DOCUMENTATION</a:t>
              </a:r>
              <a:endParaRPr b="1" sz="925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1295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Code as a Methods Section</a:t>
              </a:r>
              <a:endParaRPr b="1" sz="1295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Your codebase serves as a transparent, step-by-step record of your methodology.</a:t>
              </a:r>
              <a:endParaRPr b="0" sz="1018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30"/>
          <p:cNvGrpSpPr/>
          <p:nvPr/>
        </p:nvGrpSpPr>
        <p:grpSpPr>
          <a:xfrm>
            <a:off x="476250" y="428625"/>
            <a:ext cx="8191500" cy="571500"/>
            <a:chOff x="0" y="0"/>
            <a:chExt cx="8191500" cy="571500"/>
          </a:xfrm>
        </p:grpSpPr>
        <p:sp>
          <p:nvSpPr>
            <p:cNvPr id="238" name="Google Shape;238;p30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0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600">
                  <a:solidFill>
                    <a:srgbClr val="1E293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What is R and why is it useful?</a:t>
              </a:r>
              <a:endParaRPr b="0" sz="2600">
                <a:solidFill>
                  <a:srgbClr val="1E293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</p:grpSp>
      <p:grpSp>
        <p:nvGrpSpPr>
          <p:cNvPr id="240" name="Google Shape;240;p30"/>
          <p:cNvGrpSpPr/>
          <p:nvPr/>
        </p:nvGrpSpPr>
        <p:grpSpPr>
          <a:xfrm>
            <a:off x="476250" y="1238250"/>
            <a:ext cx="3905400" cy="1524000"/>
            <a:chOff x="0" y="0"/>
            <a:chExt cx="3905400" cy="1524000"/>
          </a:xfrm>
        </p:grpSpPr>
        <p:sp>
          <p:nvSpPr>
            <p:cNvPr id="241" name="Google Shape;241;p30"/>
            <p:cNvSpPr/>
            <p:nvPr/>
          </p:nvSpPr>
          <p:spPr>
            <a:xfrm>
              <a:off x="0" y="0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0"/>
            <p:cNvSpPr txBox="1"/>
            <p:nvPr/>
          </p:nvSpPr>
          <p:spPr>
            <a:xfrm>
              <a:off x="190500" y="190500"/>
              <a:ext cx="35244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01 . COST-EFFECTIVE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 is Free to Use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Anyone can download and use R without licensing costs, lowering the barrier to entry.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3" name="Google Shape;243;p30"/>
          <p:cNvGrpSpPr/>
          <p:nvPr/>
        </p:nvGrpSpPr>
        <p:grpSpPr>
          <a:xfrm>
            <a:off x="4762500" y="1238250"/>
            <a:ext cx="3905400" cy="1524000"/>
            <a:chOff x="0" y="0"/>
            <a:chExt cx="3905400" cy="1524000"/>
          </a:xfrm>
        </p:grpSpPr>
        <p:sp>
          <p:nvSpPr>
            <p:cNvPr id="244" name="Google Shape;244;p30"/>
            <p:cNvSpPr/>
            <p:nvPr/>
          </p:nvSpPr>
          <p:spPr>
            <a:xfrm>
              <a:off x="0" y="0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0"/>
            <p:cNvSpPr txBox="1"/>
            <p:nvPr/>
          </p:nvSpPr>
          <p:spPr>
            <a:xfrm>
              <a:off x="190500" y="190500"/>
              <a:ext cx="35244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02 . EXTENSIBILITY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User-Contributed Packages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 massive ecosystem of user-developed packages is contributed for free, extending its capabilities.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6" name="Google Shape;246;p30"/>
          <p:cNvGrpSpPr/>
          <p:nvPr/>
        </p:nvGrpSpPr>
        <p:grpSpPr>
          <a:xfrm>
            <a:off x="476250" y="2952750"/>
            <a:ext cx="3905400" cy="1524000"/>
            <a:chOff x="0" y="0"/>
            <a:chExt cx="3905400" cy="1524000"/>
          </a:xfrm>
        </p:grpSpPr>
        <p:sp>
          <p:nvSpPr>
            <p:cNvPr id="247" name="Google Shape;247;p30"/>
            <p:cNvSpPr/>
            <p:nvPr/>
          </p:nvSpPr>
          <p:spPr>
            <a:xfrm>
              <a:off x="0" y="0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0"/>
            <p:cNvSpPr txBox="1"/>
            <p:nvPr/>
          </p:nvSpPr>
          <p:spPr>
            <a:xfrm>
              <a:off x="190500" y="190500"/>
              <a:ext cx="35244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03 . VERSATILITY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Incredible Flexibility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vast range of libraries allows researchers to handle virtually any quantitative analysis task.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9" name="Google Shape;249;p30"/>
          <p:cNvGrpSpPr/>
          <p:nvPr/>
        </p:nvGrpSpPr>
        <p:grpSpPr>
          <a:xfrm>
            <a:off x="4762500" y="2952750"/>
            <a:ext cx="3905400" cy="1524000"/>
            <a:chOff x="0" y="0"/>
            <a:chExt cx="3905400" cy="1524000"/>
          </a:xfrm>
        </p:grpSpPr>
        <p:sp>
          <p:nvSpPr>
            <p:cNvPr id="250" name="Google Shape;250;p30"/>
            <p:cNvSpPr/>
            <p:nvPr/>
          </p:nvSpPr>
          <p:spPr>
            <a:xfrm>
              <a:off x="0" y="0"/>
              <a:ext cx="3905400" cy="1524000"/>
            </a:xfrm>
            <a:prstGeom prst="roundRect">
              <a:avLst>
                <a:gd fmla="val 7500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0"/>
            <p:cNvSpPr txBox="1"/>
            <p:nvPr/>
          </p:nvSpPr>
          <p:spPr>
            <a:xfrm>
              <a:off x="190500" y="190500"/>
              <a:ext cx="35244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6366F1"/>
                  </a:solidFill>
                  <a:latin typeface="Inter"/>
                  <a:ea typeface="Inter"/>
                  <a:cs typeface="Inter"/>
                  <a:sym typeface="Inter"/>
                </a:rPr>
                <a:t>04 . COMMUNITY</a:t>
              </a:r>
              <a:endParaRPr b="1" sz="1000">
                <a:solidFill>
                  <a:srgbClr val="6366F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Popular &amp; Supported</a:t>
              </a:r>
              <a:endParaRPr b="1" sz="14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An active, global developer and user base provides vast documentation and peer-to-peer help.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What is R and why is it useful?</a:t>
            </a:r>
            <a:endParaRPr b="1"/>
          </a:p>
        </p:txBody>
      </p:sp>
      <p:pic>
        <p:nvPicPr>
          <p:cNvPr id="257" name="Google Shape;25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5570200" cy="335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1"/>
          <p:cNvPicPr preferRelativeResize="0"/>
          <p:nvPr/>
        </p:nvPicPr>
        <p:blipFill rotWithShape="1">
          <a:blip r:embed="rId4">
            <a:alphaModFix/>
          </a:blip>
          <a:srcRect b="46974" l="18855" r="18460" t="28026"/>
          <a:stretch/>
        </p:blipFill>
        <p:spPr>
          <a:xfrm>
            <a:off x="5626850" y="4367075"/>
            <a:ext cx="3460901" cy="7764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What is R and why is it useful?</a:t>
            </a:r>
            <a:endParaRPr b="1"/>
          </a:p>
        </p:txBody>
      </p:sp>
      <p:pic>
        <p:nvPicPr>
          <p:cNvPr id="264" name="Google Shape;26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32025"/>
            <a:ext cx="4699576" cy="3738099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2"/>
          <p:cNvSpPr txBox="1"/>
          <p:nvPr/>
        </p:nvSpPr>
        <p:spPr>
          <a:xfrm>
            <a:off x="313475" y="4850087"/>
            <a:ext cx="64521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595959"/>
                </a:solidFill>
              </a:rPr>
              <a:t>Front Ecol Environ 2020; 18(3): 123–124</a:t>
            </a:r>
            <a:endParaRPr sz="8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3"/>
          <p:cNvSpPr txBox="1"/>
          <p:nvPr/>
        </p:nvSpPr>
        <p:spPr>
          <a:xfrm>
            <a:off x="476250" y="428625"/>
            <a:ext cx="8191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200">
                <a:solidFill>
                  <a:srgbClr val="0F172A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Transparency &amp; Reproducibility</a:t>
            </a:r>
            <a:endParaRPr b="0" sz="3200">
              <a:solidFill>
                <a:srgbClr val="0F172A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375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Science needs to be open, clear, and verifiable.</a:t>
            </a:r>
            <a:endParaRPr b="0" sz="14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71" name="Google Shape;271;p33"/>
          <p:cNvGrpSpPr/>
          <p:nvPr/>
        </p:nvGrpSpPr>
        <p:grpSpPr>
          <a:xfrm>
            <a:off x="476250" y="1571625"/>
            <a:ext cx="3905400" cy="2000100"/>
            <a:chOff x="0" y="0"/>
            <a:chExt cx="3905400" cy="2000100"/>
          </a:xfrm>
        </p:grpSpPr>
        <p:sp>
          <p:nvSpPr>
            <p:cNvPr id="272" name="Google Shape;272;p33"/>
            <p:cNvSpPr/>
            <p:nvPr/>
          </p:nvSpPr>
          <p:spPr>
            <a:xfrm>
              <a:off x="0" y="0"/>
              <a:ext cx="3905400" cy="2000100"/>
            </a:xfrm>
            <a:prstGeom prst="roundRect">
              <a:avLst>
                <a:gd fmla="val 761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33"/>
            <p:cNvSpPr/>
            <p:nvPr/>
          </p:nvSpPr>
          <p:spPr>
            <a:xfrm>
              <a:off x="285750" y="285750"/>
              <a:ext cx="476400" cy="476400"/>
            </a:xfrm>
            <a:prstGeom prst="ellipse">
              <a:avLst/>
            </a:prstGeom>
            <a:solidFill>
              <a:srgbClr val="EFF6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33"/>
            <p:cNvSpPr txBox="1"/>
            <p:nvPr/>
          </p:nvSpPr>
          <p:spPr>
            <a:xfrm>
              <a:off x="409575" y="435864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2563E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sz="1800">
                <a:solidFill>
                  <a:srgbClr val="2563E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75" name="Google Shape;275;p33"/>
            <p:cNvSpPr txBox="1"/>
            <p:nvPr/>
          </p:nvSpPr>
          <p:spPr>
            <a:xfrm>
              <a:off x="285750" y="904875"/>
              <a:ext cx="3333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Transparency</a:t>
              </a:r>
              <a:endParaRPr b="1" sz="20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What was done is clear</a:t>
              </a:r>
              <a:endParaRPr b="0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76" name="Google Shape;276;p33"/>
          <p:cNvGrpSpPr/>
          <p:nvPr/>
        </p:nvGrpSpPr>
        <p:grpSpPr>
          <a:xfrm>
            <a:off x="4762500" y="1571625"/>
            <a:ext cx="3905400" cy="2000100"/>
            <a:chOff x="0" y="0"/>
            <a:chExt cx="3905400" cy="2000100"/>
          </a:xfrm>
        </p:grpSpPr>
        <p:sp>
          <p:nvSpPr>
            <p:cNvPr id="277" name="Google Shape;277;p33"/>
            <p:cNvSpPr/>
            <p:nvPr/>
          </p:nvSpPr>
          <p:spPr>
            <a:xfrm>
              <a:off x="0" y="0"/>
              <a:ext cx="3905400" cy="2000100"/>
            </a:xfrm>
            <a:prstGeom prst="roundRect">
              <a:avLst>
                <a:gd fmla="val 7619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33"/>
            <p:cNvSpPr/>
            <p:nvPr/>
          </p:nvSpPr>
          <p:spPr>
            <a:xfrm>
              <a:off x="285750" y="285750"/>
              <a:ext cx="476400" cy="476400"/>
            </a:xfrm>
            <a:prstGeom prst="ellipse">
              <a:avLst/>
            </a:prstGeom>
            <a:solidFill>
              <a:srgbClr val="ECFDF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33"/>
            <p:cNvSpPr txBox="1"/>
            <p:nvPr/>
          </p:nvSpPr>
          <p:spPr>
            <a:xfrm>
              <a:off x="409575" y="435864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rgbClr val="05966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autorenew</a:t>
              </a:r>
              <a:endParaRPr sz="1800">
                <a:solidFill>
                  <a:srgbClr val="05966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0" name="Google Shape;280;p33"/>
            <p:cNvSpPr txBox="1"/>
            <p:nvPr/>
          </p:nvSpPr>
          <p:spPr>
            <a:xfrm>
              <a:off x="285750" y="904875"/>
              <a:ext cx="33339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0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Reproducibility</a:t>
              </a:r>
              <a:endParaRPr b="1" sz="20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Can be re-done with the same results</a:t>
              </a:r>
              <a:endParaRPr b="0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81" name="Google Shape;281;p33"/>
          <p:cNvGrpSpPr/>
          <p:nvPr/>
        </p:nvGrpSpPr>
        <p:grpSpPr>
          <a:xfrm>
            <a:off x="476250" y="3810000"/>
            <a:ext cx="8191500" cy="762000"/>
            <a:chOff x="0" y="0"/>
            <a:chExt cx="8191500" cy="762000"/>
          </a:xfrm>
        </p:grpSpPr>
        <p:sp>
          <p:nvSpPr>
            <p:cNvPr id="282" name="Google Shape;282;p33"/>
            <p:cNvSpPr/>
            <p:nvPr/>
          </p:nvSpPr>
          <p:spPr>
            <a:xfrm>
              <a:off x="0" y="0"/>
              <a:ext cx="8191500" cy="762000"/>
            </a:xfrm>
            <a:prstGeom prst="roundRect">
              <a:avLst>
                <a:gd fmla="val 20000" name="adj"/>
              </a:avLst>
            </a:prstGeom>
            <a:solidFill>
              <a:srgbClr val="F0F9FF"/>
            </a:solidFill>
            <a:ln cap="flat" cmpd="sng" w="14300">
              <a:solidFill>
                <a:srgbClr val="B9E6F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33"/>
            <p:cNvSpPr/>
            <p:nvPr/>
          </p:nvSpPr>
          <p:spPr>
            <a:xfrm>
              <a:off x="285750" y="190500"/>
              <a:ext cx="381000" cy="381000"/>
            </a:xfrm>
            <a:prstGeom prst="ellipse">
              <a:avLst/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33"/>
            <p:cNvSpPr txBox="1"/>
            <p:nvPr/>
          </p:nvSpPr>
          <p:spPr>
            <a:xfrm>
              <a:off x="400050" y="304800"/>
              <a:ext cx="1524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3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</a:t>
              </a:r>
              <a:endParaRPr b="0" sz="93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85" name="Google Shape;285;p33"/>
            <p:cNvSpPr txBox="1"/>
            <p:nvPr/>
          </p:nvSpPr>
          <p:spPr>
            <a:xfrm>
              <a:off x="809625" y="0"/>
              <a:ext cx="70962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0369A1"/>
                  </a:solidFill>
                  <a:latin typeface="Inter"/>
                  <a:ea typeface="Inter"/>
                  <a:cs typeface="Inter"/>
                  <a:sym typeface="Inter"/>
                </a:rPr>
                <a:t>R helps with both of these!</a:t>
              </a:r>
              <a:endParaRPr b="1" sz="1500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Transparency and Reproducibility</a:t>
            </a:r>
            <a:endParaRPr b="1"/>
          </a:p>
        </p:txBody>
      </p:sp>
      <p:pic>
        <p:nvPicPr>
          <p:cNvPr id="291" name="Google Shape;291;p34"/>
          <p:cNvPicPr preferRelativeResize="0"/>
          <p:nvPr/>
        </p:nvPicPr>
        <p:blipFill rotWithShape="1">
          <a:blip r:embed="rId3">
            <a:alphaModFix/>
          </a:blip>
          <a:srcRect b="21190" l="15138" r="14780" t="26542"/>
          <a:stretch/>
        </p:blipFill>
        <p:spPr>
          <a:xfrm>
            <a:off x="5742101" y="17763"/>
            <a:ext cx="3401899" cy="1427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92" name="Google Shape;292;p34"/>
          <p:cNvPicPr preferRelativeResize="0"/>
          <p:nvPr/>
        </p:nvPicPr>
        <p:blipFill rotWithShape="1">
          <a:blip r:embed="rId4">
            <a:alphaModFix/>
          </a:blip>
          <a:srcRect b="17900" l="33827" r="45649" t="26836"/>
          <a:stretch/>
        </p:blipFill>
        <p:spPr>
          <a:xfrm>
            <a:off x="198700" y="1075750"/>
            <a:ext cx="1824101" cy="2762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34"/>
          <p:cNvPicPr preferRelativeResize="0"/>
          <p:nvPr/>
        </p:nvPicPr>
        <p:blipFill rotWithShape="1">
          <a:blip r:embed="rId5">
            <a:alphaModFix/>
          </a:blip>
          <a:srcRect b="1289" l="34980" r="45649" t="15008"/>
          <a:stretch/>
        </p:blipFill>
        <p:spPr>
          <a:xfrm>
            <a:off x="2312125" y="1075750"/>
            <a:ext cx="1534651" cy="373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Transparency and Reproducibility</a:t>
            </a:r>
            <a:endParaRPr b="1"/>
          </a:p>
        </p:txBody>
      </p:sp>
      <p:pic>
        <p:nvPicPr>
          <p:cNvPr id="299" name="Google Shape;299;p35"/>
          <p:cNvPicPr preferRelativeResize="0"/>
          <p:nvPr/>
        </p:nvPicPr>
        <p:blipFill rotWithShape="1">
          <a:blip r:embed="rId3">
            <a:alphaModFix/>
          </a:blip>
          <a:srcRect b="21190" l="15138" r="14780" t="26542"/>
          <a:stretch/>
        </p:blipFill>
        <p:spPr>
          <a:xfrm>
            <a:off x="5742101" y="17763"/>
            <a:ext cx="3401899" cy="1427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00" name="Google Shape;300;p35"/>
          <p:cNvPicPr preferRelativeResize="0"/>
          <p:nvPr/>
        </p:nvPicPr>
        <p:blipFill rotWithShape="1">
          <a:blip r:embed="rId4">
            <a:alphaModFix/>
          </a:blip>
          <a:srcRect b="17900" l="33827" r="45649" t="26836"/>
          <a:stretch/>
        </p:blipFill>
        <p:spPr>
          <a:xfrm>
            <a:off x="198700" y="1075750"/>
            <a:ext cx="1824101" cy="2762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5"/>
          <p:cNvPicPr preferRelativeResize="0"/>
          <p:nvPr/>
        </p:nvPicPr>
        <p:blipFill rotWithShape="1">
          <a:blip r:embed="rId5">
            <a:alphaModFix/>
          </a:blip>
          <a:srcRect b="1289" l="34980" r="45649" t="15008"/>
          <a:stretch/>
        </p:blipFill>
        <p:spPr>
          <a:xfrm>
            <a:off x="2312125" y="1075750"/>
            <a:ext cx="1534651" cy="3730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5"/>
          <p:cNvPicPr preferRelativeResize="0"/>
          <p:nvPr/>
        </p:nvPicPr>
        <p:blipFill rotWithShape="1">
          <a:blip r:embed="rId6">
            <a:alphaModFix/>
          </a:blip>
          <a:srcRect b="0" l="0" r="0" t="6314"/>
          <a:stretch/>
        </p:blipFill>
        <p:spPr>
          <a:xfrm>
            <a:off x="4136100" y="1625400"/>
            <a:ext cx="4992427" cy="263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Transparency and Reproducibility</a:t>
            </a:r>
            <a:endParaRPr b="1"/>
          </a:p>
        </p:txBody>
      </p:sp>
      <p:sp>
        <p:nvSpPr>
          <p:cNvPr id="308" name="Google Shape;308;p36"/>
          <p:cNvSpPr txBox="1"/>
          <p:nvPr/>
        </p:nvSpPr>
        <p:spPr>
          <a:xfrm>
            <a:off x="360225" y="1418100"/>
            <a:ext cx="787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Note: many journals and funders are now requiring code to be published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Questions on any of this?</a:t>
            </a:r>
            <a:endParaRPr b="1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Next time:</a:t>
            </a:r>
            <a:endParaRPr b="1"/>
          </a:p>
        </p:txBody>
      </p:sp>
      <p:sp>
        <p:nvSpPr>
          <p:cNvPr id="319" name="Google Shape;319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class: read 1.1 - 1.3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During class: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Discuss 1.1-1.3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Installing and setting up R, RStudio, and Github (if needed)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