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d419cffaf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d419cffaf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d419cffa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d419cffa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d419cffaf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d419cffa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419cff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d419cff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d419cff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d419cff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419cffa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419cff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d419cffa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d419cffa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d419cffa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d419cffa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d419cff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d419cff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d419cffa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d419cffa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d419cffa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d419cffa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d419cffa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d419cff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d419cffa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d419cffa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d419cffa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d419cffa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419cffa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d419cffa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d419cffa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d419cffa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d419cffa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d419cffa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d419cffa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d419cffa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d419cffa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d419cffa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d419cffa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d419cffa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d419cffa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d419cffa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d419cffa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d419cffa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d419cffa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d419cffa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d419cffa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d419cffa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d419cffa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8d419cffa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d419cffa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8d419cffa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d419cffa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d419cffa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d419cffa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d419cffa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d419cffa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d419cffa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d419cffa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d419cffa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d419cffa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d419cffa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d419cffa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d419cffa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d419cffaf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d419cffaf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d419cffa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d419cffa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Assignment</a:t>
            </a:r>
            <a:r>
              <a:rPr lang="en" sz="1800"/>
              <a:t> 3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 comparisons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3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October 31 before midnight (note: I’ve update this from the syllabus)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Posted Soon (I’m still looking for a variety of data and models for part 1)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3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1: 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give you full models and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make alternative models and decide which is best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Richness ~ elevation + latitude + temperature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2: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 models different models to your focal data, decide which fits the best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You’ll have example models from class, your book, and part 1 to modify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3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they 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get them for a fitted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plot them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 how do we compare models?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individual-level data from fir trees in New York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Fecundity (cones produced)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DBH (Diameter at breast-height)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Population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Wave: Experienced wave-like die offs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Nonwave: Didn’t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more info,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?Fir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815" y="1662804"/>
            <a:ext cx="4791950" cy="33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fecundity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the data using: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data("FirDBHFec_sum")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a quick plot of Fecundity vs DBH to look at the shape of the relationship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(optionally, color by population)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fecundity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model these data using: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𝜇</a:t>
            </a:r>
            <a:r>
              <a:rPr lang="en"/>
              <a:t> = a*DBH</a:t>
            </a:r>
            <a:r>
              <a:rPr baseline="30000" lang="en"/>
              <a:t>b</a:t>
            </a:r>
            <a:endParaRPr baseline="30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Fecundity ~ NegBin(</a:t>
            </a:r>
            <a:r>
              <a:rPr lang="en"/>
              <a:t>𝜇,</a:t>
            </a:r>
            <a:r>
              <a:rPr i="1" lang="en"/>
              <a:t>k</a:t>
            </a:r>
            <a:r>
              <a:rPr lang="en"/>
              <a:t>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a,b,k are fitted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Reminder: See Tables 3.1 and 4.1 for why we chose these functions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fecundity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talked about model fitting and confidence intervals (CIs)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use this equation to ask: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the most likely value of b?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 the CI of b include 1?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well does the model fit the data?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might selective logging impact seed numbers?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5453175" y="218275"/>
            <a:ext cx="3434100" cy="93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𝜇 = a*DBH</a:t>
            </a:r>
            <a:r>
              <a:rPr baseline="30000" lang="en" sz="1800">
                <a:solidFill>
                  <a:schemeClr val="dk2"/>
                </a:solidFill>
              </a:rPr>
              <a:t>b</a:t>
            </a:r>
            <a:endParaRPr baseline="30000" sz="18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Fecundity ~ NegBin(𝜇,</a:t>
            </a:r>
            <a:r>
              <a:rPr i="1" lang="en" sz="1800">
                <a:solidFill>
                  <a:schemeClr val="dk2"/>
                </a:solidFill>
              </a:rPr>
              <a:t>k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different populations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we have data on two populations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modify the model to ask if and how they differ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𝜇 = a*DBH</a:t>
            </a:r>
            <a:r>
              <a:rPr baseline="30000" lang="en"/>
              <a:t>b</a:t>
            </a:r>
            <a:endParaRPr baseline="30000"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Fecundity ~ NegBin(𝜇,</a:t>
            </a:r>
            <a:r>
              <a:rPr i="1" lang="en"/>
              <a:t>k</a:t>
            </a:r>
            <a:r>
              <a:rPr lang="en"/>
              <a:t>)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371" y="241727"/>
            <a:ext cx="2967801" cy="20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different populations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we have data on two populations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modify the model to ask if and how they differ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𝜇 = a</a:t>
            </a:r>
            <a:r>
              <a:rPr baseline="-25000" lang="en"/>
              <a:t>i</a:t>
            </a:r>
            <a:r>
              <a:rPr lang="en"/>
              <a:t>*DBH</a:t>
            </a:r>
            <a:r>
              <a:rPr baseline="30000" lang="en"/>
              <a:t>b</a:t>
            </a:r>
            <a:r>
              <a:rPr baseline="30000" lang="en" sz="1300"/>
              <a:t>i</a:t>
            </a:r>
            <a:endParaRPr baseline="30000" sz="1300"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Fecundity ~ NegBin(𝜇,</a:t>
            </a:r>
            <a:r>
              <a:rPr i="1" lang="en"/>
              <a:t>k</a:t>
            </a:r>
            <a:r>
              <a:rPr baseline="-25000" i="1" lang="en"/>
              <a:t>i</a:t>
            </a:r>
            <a:r>
              <a:rPr lang="en"/>
              <a:t>)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371" y="241727"/>
            <a:ext cx="2967801" cy="20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different populations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𝜇 = </a:t>
            </a:r>
            <a:r>
              <a:rPr i="1" lang="en"/>
              <a:t>a</a:t>
            </a:r>
            <a:r>
              <a:rPr baseline="-25000" lang="en"/>
              <a:t>i</a:t>
            </a:r>
            <a:r>
              <a:rPr lang="en"/>
              <a:t>*DBH</a:t>
            </a:r>
            <a:r>
              <a:rPr baseline="30000" i="1" lang="en"/>
              <a:t>b</a:t>
            </a:r>
            <a:r>
              <a:rPr baseline="30000" lang="en" sz="1300"/>
              <a:t>i</a:t>
            </a:r>
            <a:endParaRPr baseline="30000" sz="13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Fecundity ~ NegBin(𝜇,</a:t>
            </a:r>
            <a:r>
              <a:rPr i="1" lang="en"/>
              <a:t>k</a:t>
            </a:r>
            <a:r>
              <a:rPr baseline="-25000" i="1" lang="en"/>
              <a:t>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now ask: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different populations have different variance?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different populations have different fecundity/DBH relationships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the populations have the same baseline fecundity (</a:t>
            </a:r>
            <a:r>
              <a:rPr i="1" lang="en"/>
              <a:t>a</a:t>
            </a:r>
            <a:r>
              <a:rPr lang="en"/>
              <a:t>)?</a:t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371" y="241727"/>
            <a:ext cx="2967801" cy="20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different populations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𝜇 = </a:t>
            </a:r>
            <a:r>
              <a:rPr i="1" lang="en"/>
              <a:t>a</a:t>
            </a:r>
            <a:r>
              <a:rPr baseline="-25000" lang="en"/>
              <a:t>i</a:t>
            </a:r>
            <a:r>
              <a:rPr lang="en"/>
              <a:t>*DBH</a:t>
            </a:r>
            <a:r>
              <a:rPr baseline="30000" i="1" lang="en"/>
              <a:t>b</a:t>
            </a:r>
            <a:r>
              <a:rPr baseline="30000" lang="en" sz="1300"/>
              <a:t>i</a:t>
            </a:r>
            <a:endParaRPr baseline="30000" sz="13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Fecundity ~ NegBin(𝜇,</a:t>
            </a:r>
            <a:r>
              <a:rPr i="1" lang="en"/>
              <a:t>k</a:t>
            </a:r>
            <a:r>
              <a:rPr baseline="-25000" i="1" lang="en"/>
              <a:t>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now ask: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different populations have different variance?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different populations have different fecundity/DBH relationships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the populations have the same baseline fecundity (</a:t>
            </a:r>
            <a:r>
              <a:rPr i="1" lang="en"/>
              <a:t>a</a:t>
            </a:r>
            <a:r>
              <a:rPr lang="en"/>
              <a:t>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We answer these questions with model comparisons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371" y="241727"/>
            <a:ext cx="2967801" cy="20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comparisons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model comparisons for hypothesis 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there are population-specific differences,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adding population-specific terms should improve models, </a:t>
            </a:r>
            <a:r>
              <a:rPr i="1" lang="en"/>
              <a:t>e.g.</a:t>
            </a:r>
            <a:r>
              <a:rPr lang="en"/>
              <a:t>,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When should each model be preferred?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2144375" y="3221075"/>
            <a:ext cx="516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𝜇 = </a:t>
            </a:r>
            <a:r>
              <a:rPr i="1"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*DBH</a:t>
            </a:r>
            <a:r>
              <a:rPr baseline="30000" i="1" lang="en" sz="1800">
                <a:solidFill>
                  <a:schemeClr val="dk2"/>
                </a:solidFill>
              </a:rPr>
              <a:t>b</a:t>
            </a:r>
            <a:r>
              <a:rPr baseline="30000" i="1" lang="en" sz="1300">
                <a:solidFill>
                  <a:schemeClr val="dk2"/>
                </a:solidFill>
              </a:rPr>
              <a:t>i</a:t>
            </a:r>
            <a:r>
              <a:rPr baseline="30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  vs.  𝜇 = </a:t>
            </a:r>
            <a:r>
              <a:rPr i="1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*DBH</a:t>
            </a:r>
            <a:r>
              <a:rPr baseline="30000" i="1" lang="en" sz="1800">
                <a:solidFill>
                  <a:schemeClr val="dk2"/>
                </a:solidFill>
              </a:rPr>
              <a:t>b</a:t>
            </a:r>
            <a:r>
              <a:rPr baseline="30000" lang="en" sz="13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</a:t>
            </a:r>
            <a:r>
              <a:rPr lang="en"/>
              <a:t>class we discussed the LRT as a way of finding confidence intervals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LRT can also be used for model comparisons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works for </a:t>
            </a:r>
            <a:r>
              <a:rPr i="1" lang="en"/>
              <a:t>nested</a:t>
            </a:r>
            <a:r>
              <a:rPr lang="en"/>
              <a:t> models</a:t>
            </a:r>
            <a:endParaRPr/>
          </a:p>
        </p:txBody>
      </p:sp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</a:t>
            </a:r>
            <a:endParaRPr/>
          </a:p>
        </p:txBody>
      </p:sp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models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 more complex model is a superset of the simpler model, </a:t>
            </a:r>
            <a:r>
              <a:rPr i="1" lang="en"/>
              <a:t>e.g.</a:t>
            </a:r>
            <a:r>
              <a:rPr lang="en"/>
              <a:t>,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Richness ~ latitude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Richness ~ latitude + elevation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Richness ~ latitude + elevation + time since glaciation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Richness ~ latitude + elevation + time since glaciation + distance to mainland</a:t>
            </a:r>
            <a:endParaRPr/>
          </a:p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models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that aren’t nested might be: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Richness ~ latitude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Richness ~ elevation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Richness ~ time since glaciation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Richness ~ distance to mainland + clade age</a:t>
            </a:r>
            <a:endParaRPr/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data("FirDBHFec_sum")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FirDBHFec_sum$fecundity &lt;- as.integer(FirDBHFec_sum$fecundity)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convert to integer to prevent errors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FirDBHFec_sum  &lt;- na.omit(FirDBHFec_sum)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toss NA values (which cause errors)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our fir populations</a:t>
            </a:r>
            <a:endParaRPr/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reduced model without population variation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 this formulation requires less typing (didn’t make a function)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nbfit.0 &lt;- mle2(fecundity ~ dnbinom(mu = a * 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size = k),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start = list(a = 1, b = 1, k = 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data = FirDBHFec_sum)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our fir populations</a:t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that we want separate “a” terms: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nbfit.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mle2(fecundity ~ dnbinom(mu = a * 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size = k),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start = list(a = 1, b = 1, k =1),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data = FirDBHFec_sum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parameters = list(a ~ pop)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our fir populations</a:t>
            </a:r>
            <a:endParaRPr/>
          </a:p>
        </p:txBody>
      </p:sp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that we want separate “a” AND “b” terms: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nbfit.a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mle2(fecundity ~ dnbinom(mu = a * 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size = k),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start = list(a = 1, b = 1, k =1),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data = FirDBHFec_sum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parameters = list(a ~ pop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, b ~ pop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our fir populations</a:t>
            </a:r>
            <a:endParaRPr/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models with LRT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R, the anova() function will </a:t>
            </a:r>
            <a:r>
              <a:rPr lang="en"/>
              <a:t>automatically</a:t>
            </a:r>
            <a:r>
              <a:rPr lang="en"/>
              <a:t> conduct and LRT on mle2 models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Anova: analysis of variance (we’ll talk about this more later)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		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anova(nbfit.0, nbfit.a, nbfit.ab)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Run this now and we’ll walk through the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models with LRT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Likelihood Ratio Tests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 1: nbfit.0, fecundity~dnbinom(mu=a*DBH^b,size=k)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 2: nbfit.a, fecundity~dnbinom(mu=a*DBH^b,size=k): a~pop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 3: nbfit.ab, fecundity~dnbinom(mu=a*DBH^b,size=k): a~pop, b~pop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Tot Df Deviance  Chisq Df Pr(&gt;Chisq) 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1      3   2891.0                      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2      4   2889.1 1.8526  1    0.17348 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      5   2883.5 5.6423  1    0.01753 *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Signif. codes:  0 ‘***’ 0.001 ‘**’ 0.01 ‘*’ 0.05 ‘.’ 0.1 ‘ ’ 1</a:t>
            </a:r>
            <a:endParaRPr sz="2300"/>
          </a:p>
        </p:txBody>
      </p:sp>
      <p:sp>
        <p:nvSpPr>
          <p:cNvPr id="216" name="Google Shape;21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Limits to LRT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big </a:t>
            </a:r>
            <a:r>
              <a:rPr lang="en"/>
              <a:t>drawback of LRT is the need for nested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if we want to compare a models that aren’t nested?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E.g., a ~ pop vs b ~ pop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 we need a different method</a:t>
            </a:r>
            <a:endParaRPr/>
          </a:p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</a:t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Akaike Information Criterion (AIC)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AIC = -2</a:t>
            </a:r>
            <a:r>
              <a:rPr i="1" lang="en"/>
              <a:t>L</a:t>
            </a:r>
            <a:r>
              <a:rPr lang="en"/>
              <a:t> + 2</a:t>
            </a:r>
            <a:r>
              <a:rPr i="1" lang="en"/>
              <a:t>k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 = log-</a:t>
            </a:r>
            <a:r>
              <a:rPr lang="en"/>
              <a:t>likelihood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k</a:t>
            </a:r>
            <a:r>
              <a:rPr lang="en"/>
              <a:t> = number of model parameters estimates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</a:t>
            </a:r>
            <a:endParaRPr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 = -2</a:t>
            </a:r>
            <a:r>
              <a:rPr i="1" lang="en"/>
              <a:t>L</a:t>
            </a:r>
            <a:r>
              <a:rPr lang="en"/>
              <a:t> + 2</a:t>
            </a:r>
            <a:r>
              <a:rPr i="1" lang="en"/>
              <a:t>k</a:t>
            </a:r>
            <a:endParaRPr i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Lower AIC = better model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AIC essentially penalizes your model for adding more parameters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Improvement to likelihood has to </a:t>
            </a:r>
            <a:r>
              <a:rPr lang="en"/>
              <a:t>justify the additional parameters</a:t>
            </a:r>
            <a:endParaRPr/>
          </a:p>
        </p:txBody>
      </p:sp>
      <p:sp>
        <p:nvSpPr>
          <p:cNvPr id="237" name="Google Shape;23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AIC</a:t>
            </a:r>
            <a:endParaRPr/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R we can use the function AIC() to get the AIC value for fitted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 it out!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AIC(nbfit.0)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" name="Google Shape;24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AIC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bbmle package has a really useful way of displaying AIC: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AICtab(nbfit.0, nbfit.a, nbfit.ab)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Run this and we’ll walk through the output together</a:t>
            </a:r>
            <a:endParaRPr/>
          </a:p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AIC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dAIC df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nbfit.ab 0.0  5 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nbfit.0  3.5  3 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nbfit.a  3.6  4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AIC for other models</a:t>
            </a:r>
            <a:endParaRPr/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 can compare non-nested models, let’s try out a few more options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Let’s try a mo</a:t>
            </a:r>
            <a:r>
              <a:rPr lang="en"/>
              <a:t>del (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</a:rPr>
              <a:t>nbfit.b</a:t>
            </a:r>
            <a:r>
              <a:rPr lang="en"/>
              <a:t>) w</a:t>
            </a:r>
            <a:r>
              <a:rPr lang="en"/>
              <a:t>here </a:t>
            </a:r>
            <a:r>
              <a:rPr i="1" lang="en"/>
              <a:t>b</a:t>
            </a:r>
            <a:r>
              <a:rPr lang="en"/>
              <a:t> differs by population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Let’s try a model (nbfit.abk) where </a:t>
            </a:r>
            <a:r>
              <a:rPr i="1" lang="en"/>
              <a:t>a</a:t>
            </a:r>
            <a:r>
              <a:rPr lang="en"/>
              <a:t>, </a:t>
            </a:r>
            <a:r>
              <a:rPr i="1" lang="en"/>
              <a:t>b</a:t>
            </a:r>
            <a:r>
              <a:rPr lang="en"/>
              <a:t>, and </a:t>
            </a:r>
            <a:r>
              <a:rPr i="1" lang="en"/>
              <a:t>k</a:t>
            </a:r>
            <a:r>
              <a:rPr lang="en"/>
              <a:t> differ by population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Modify the code we used for nbfit.ab to fit these new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AICtab()</a:t>
            </a:r>
            <a:r>
              <a:rPr lang="en"/>
              <a:t> to compare these new models with the old 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980000"/>
                </a:solidFill>
              </a:rPr>
              <a:t>Which model(s) are best?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to penalize AIC for more parameters?</a:t>
            </a:r>
            <a:endParaRPr baseline="30000"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Let’s do a little experiment to check</a:t>
            </a:r>
            <a:endParaRPr/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toy model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11700" y="1152475"/>
            <a:ext cx="8520600" cy="3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test_function &lt;- function(x,a,b,sd){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mu &lt;- a+b*x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out &lt;- rnorm(n = length(x),mean = mu,sd = sd)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x_vec &lt;-  runif(n = 1000, min = 0, max = 100)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y_vec &lt;- test_function(x = x_vec, a = 1, b = 2, sd = 100)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Go ahead and plot y_vec vs x_vec</a:t>
            </a:r>
            <a:endParaRPr/>
          </a:p>
        </p:txBody>
      </p:sp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predictors</a:t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97575" y="1152475"/>
            <a:ext cx="884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we’re going to make up some data that are entirely independent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(pick any values you like for these)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nonsense_predictor1 &lt;- rnorm(n = length(x_vec),mean = 1000,sd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nonsense_predictor2 &lt;- rbinom(n = length(x_vec),size = 1000,prob = .3)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nonsense_predictor3 &lt;- rlnorm(n = length(x_vec),meanlog = .1,sdlog = .24)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plot your y_vec against each of these nonsense predictors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predictors</a:t>
            </a:r>
            <a:endParaRPr/>
          </a:p>
        </p:txBody>
      </p:sp>
      <p:sp>
        <p:nvSpPr>
          <p:cNvPr id="292" name="Google Shape;292;p46"/>
          <p:cNvSpPr txBox="1"/>
          <p:nvPr>
            <p:ph idx="1" type="body"/>
          </p:nvPr>
        </p:nvSpPr>
        <p:spPr>
          <a:xfrm>
            <a:off x="97575" y="1152475"/>
            <a:ext cx="884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we’ll compare models with and without these nonsense predictors:</a:t>
            </a:r>
            <a:endParaRPr/>
          </a:p>
          <a:p>
            <a:pPr indent="-571500" lvl="0" marL="8001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v0 &lt;- lm(y_vec ~ x_vec) |&gt; summary()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0" lvl="0" marL="8001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v1 &lt;- lm(y_vec ~ x_vec + nonsense_predictor1) |&gt; summary()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0" lvl="0" marL="8001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v2 &lt;- lm(y_vec ~ x_vec+nonsense_predictor1 + nonsense_predictor2) |&gt; summary()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0" lvl="0" marL="8001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v3 &lt;- lm(y_vec ~ x_vec+nonsense_predictor1 + nonsense_predictor2 + nonsense_predictor3) |&gt; summary()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predictors</a:t>
            </a:r>
            <a:endParaRPr/>
          </a:p>
        </p:txBody>
      </p:sp>
      <p:sp>
        <p:nvSpPr>
          <p:cNvPr id="299" name="Google Shape;299;p47"/>
          <p:cNvSpPr txBox="1"/>
          <p:nvPr>
            <p:ph idx="1" type="body"/>
          </p:nvPr>
        </p:nvSpPr>
        <p:spPr>
          <a:xfrm>
            <a:off x="97575" y="1152475"/>
            <a:ext cx="884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</a:t>
            </a:r>
            <a:r>
              <a:rPr baseline="30000" lang="en"/>
              <a:t>2</a:t>
            </a:r>
            <a:r>
              <a:rPr lang="en"/>
              <a:t> of each mode is a measure of goodness of fit.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Let’s compare the R</a:t>
            </a:r>
            <a:r>
              <a:rPr baseline="30000" lang="en"/>
              <a:t>2</a:t>
            </a:r>
            <a:r>
              <a:rPr lang="en"/>
              <a:t> of all of these models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v0$r.squared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v1$r.squared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v2$r.squared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v3$r.squared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Which model performed the best for your? The worst?</a:t>
            </a:r>
            <a:endParaRPr/>
          </a:p>
        </p:txBody>
      </p:sp>
      <p:sp>
        <p:nvSpPr>
          <p:cNvPr id="300" name="Google Shape;30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predictors</a:t>
            </a:r>
            <a:endParaRPr/>
          </a:p>
        </p:txBody>
      </p:sp>
      <p:sp>
        <p:nvSpPr>
          <p:cNvPr id="306" name="Google Shape;306;p48"/>
          <p:cNvSpPr txBox="1"/>
          <p:nvPr>
            <p:ph idx="1" type="body"/>
          </p:nvPr>
        </p:nvSpPr>
        <p:spPr>
          <a:xfrm>
            <a:off x="97575" y="1152475"/>
            <a:ext cx="884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more predictors improves model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even when the predictors aren’t meaningful!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we need other criteria to identify which models are meaningfully better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7.1 and 7.2</a:t>
            </a:r>
            <a:endParaRPr/>
          </a:p>
        </p:txBody>
      </p:sp>
      <p:sp>
        <p:nvSpPr>
          <p:cNvPr id="313" name="Google Shape;31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