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60D6F7-9FBA-4DF9-82FB-1BF6A7D173CE}">
  <a:tblStyle styleId="{3F60D6F7-9FBA-4DF9-82FB-1BF6A7D173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italic.fntdata"/><Relationship Id="rId14" Type="http://schemas.openxmlformats.org/officeDocument/2006/relationships/slide" Target="slides/slide8.xml"/><Relationship Id="rId36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a618bf1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a618bf1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ca530e7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ca530e7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ca530e7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ca530e7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460d30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460d30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460d303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460d303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460d303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460d30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460d303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a460d303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460d303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a460d303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a530e7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ca530e7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460d303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a460d303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460d303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a460d303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460d303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460d303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460d303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a460d303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460d303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a460d303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0B0B0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Notes:</a:t>
            </a:r>
            <a:r>
              <a:rPr lang="en" sz="1000">
                <a:solidFill>
                  <a:srgbClr val="0B0B0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Any linear axis wide enough for an ostrich makes every songbird a single pixel. This is not a quirk of these data — body size, abundance, range size, population density and seed count are all like this. It is the normal condition in ecology, not the exception.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460d303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a460d303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460d303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a460d303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460d303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a460d303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460d303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a460d303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460d303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a460d303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genus name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460d303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a460d303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460d303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a460d303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a460d303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a460d303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a460d303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a460d303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a460d303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a460d303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a460d303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a460d303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a460d303f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a460d303f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bmaitner/biometry_cours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Analyses 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course repository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data of interest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analyses and graphics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through 2.6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Exploratory Analyses and Graphics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Why do we do exploratory analyses and graphing?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Exploratory Analyses and Graphics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do exploratory analyses and graphing?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Detect errors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 nonsensical values, perfect correlations, “weird” patterns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Understand statistical distributions/ check for violation of assumptions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non-normal </a:t>
            </a:r>
            <a:r>
              <a:rPr lang="en"/>
              <a:t>distributions</a:t>
            </a:r>
            <a:r>
              <a:rPr lang="en"/>
              <a:t> where normal are assumed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patterns and relationships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mapping variables, pairwise correlation plots,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 variables to drop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highly correlated variables (in some cases)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Exploratory Analyses and Graphics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Critical part of science!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from Github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 you downloaded one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Today you need several, and I'll add more all semester.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There's a better way:</a:t>
            </a:r>
            <a:r>
              <a:rPr b="1" lang="en"/>
              <a:t> get the whole repo at once, and update it with one click.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github.com/bmaitner/biometry_course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Cloning a repo</a:t>
            </a:r>
            <a:endParaRPr b="1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Same as your own repo in Lecture 2, different URL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80000"/>
                </a:solidFill>
              </a:rPr>
              <a:t>In RStudio: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File → New Project… → Version Control → Git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Paste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https://github.com/bmaitner/biometry_course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Pick a folder. Create Project.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(Big download, we’ll continue while it runs)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a Project, not just a folder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 scripts use paths like: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read.csv("data/Avonet/AVONET1_BirdLife.csv")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Those only resolve if</a:t>
            </a:r>
            <a:r>
              <a:rPr lang="en">
                <a:solidFill>
                  <a:schemeClr val="dk1"/>
                </a:solidFill>
              </a:rPr>
              <a:t> R is </a:t>
            </a:r>
            <a:r>
              <a:rPr i="1" lang="en">
                <a:solidFill>
                  <a:schemeClr val="dk1"/>
                </a:solidFill>
              </a:rPr>
              <a:t>in</a:t>
            </a:r>
            <a:r>
              <a:rPr lang="en">
                <a:solidFill>
                  <a:schemeClr val="dk1"/>
                </a:solidFill>
              </a:rPr>
              <a:t> the correct directory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Opening it as a Project is what puts you there.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None of the confusion of looking for your files!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updates later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add lectures, scripts and data as we go.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get those updates: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Git pane → Pull (the blue down arrow)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this before every class.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Don't edit existing files in this folder</a:t>
            </a:r>
            <a:endParaRPr b="1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change a script here, the next Pull may refuse to run.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(this can be fixed, but it’s a hassle)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Instead: copy what you want into your project, then edit.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Alternatively, you can create a folder with your name on 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Nothing in there should be overwritten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Treat the code and data I’ve provided</a:t>
            </a:r>
            <a:r>
              <a:rPr lang="en"/>
              <a:t> as read-only.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types of data are we interested in?</a:t>
            </a:r>
            <a:endParaRPr b="1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</a:rPr>
              <a:t>Let’s go around and discuss types of data and </a:t>
            </a:r>
            <a:r>
              <a:rPr lang="en" sz="2000">
                <a:solidFill>
                  <a:srgbClr val="980000"/>
                </a:solidFill>
              </a:rPr>
              <a:t>questions</a:t>
            </a:r>
            <a:r>
              <a:rPr lang="en" sz="2000">
                <a:solidFill>
                  <a:srgbClr val="980000"/>
                </a:solidFill>
              </a:rPr>
              <a:t> of interest.</a:t>
            </a:r>
            <a:endParaRPr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 (Reminder: you’ll be selecting one or more focal datasets to examine)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	In particular, let us know:</a:t>
            </a:r>
            <a:endParaRPr sz="2000"/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If you already have data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If you need help finding data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Note: </a:t>
            </a:r>
            <a:r>
              <a:rPr lang="en" sz="1700"/>
              <a:t>Have a look in </a:t>
            </a: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data/</a:t>
            </a:r>
            <a:r>
              <a:rPr lang="en" sz="1700"/>
              <a:t> in the repo you just cloned, each folder has a README.</a:t>
            </a:r>
            <a:endParaRPr sz="1700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Exploratory Graphics</a:t>
            </a:r>
            <a:endParaRPr b="1"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Which plot?</a:t>
            </a:r>
            <a:endParaRPr b="1"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depends on what kind of variables you have.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3" name="Google Shape;133;p24"/>
          <p:cNvGraphicFramePr/>
          <p:nvPr/>
        </p:nvGraphicFramePr>
        <p:xfrm>
          <a:off x="311700" y="167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{3F60D6F7-9FBA-4DF9-82FB-1BF6A7D173CE}</a:tableStyleId>
              </a:tblPr>
              <a:tblGrid>
                <a:gridCol w="2435975"/>
                <a:gridCol w="2435975"/>
                <a:gridCol w="2435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Predictor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Response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Plot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continuous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ist, boxplot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categorial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continuous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boxplot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</a:t>
                      </a:r>
                      <a:r>
                        <a:rPr lang="en"/>
                        <a:t>continuous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</a:t>
                      </a:r>
                      <a:r>
                        <a:rPr lang="en"/>
                        <a:t>continuous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plot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categorical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able, barplot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 categorical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able, mosaicplot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" name="Google Shape;134;p24"/>
          <p:cNvSpPr txBox="1"/>
          <p:nvPr/>
        </p:nvSpPr>
        <p:spPr>
          <a:xfrm>
            <a:off x="0" y="4703625"/>
            <a:ext cx="428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(Bolker's Table 2.1 is the long version)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Start with one continuous variable</a:t>
            </a:r>
            <a:endParaRPr b="1"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</a:rPr>
              <a:t>First, load the avonet data in as an object called “avonet”</a:t>
            </a:r>
            <a:endParaRPr sz="2200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Does everyone remember how to do that?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Make sure you're in the biometry_course project</a:t>
            </a:r>
            <a:r>
              <a:rPr lang="en" sz="2200"/>
              <a:t>: </a:t>
            </a:r>
            <a:r>
              <a:rPr lang="en" sz="2200"/>
              <a:t>check the top right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</a:rPr>
              <a:t>Then, view a histogram of mass values using:</a:t>
            </a:r>
            <a:endParaRPr sz="2200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hist(avonet$Mass)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 rotWithShape="1">
          <a:blip r:embed="rId3">
            <a:alphaModFix/>
          </a:blip>
          <a:srcRect b="80209" l="81524" r="0" t="6768"/>
          <a:stretch/>
        </p:blipFill>
        <p:spPr>
          <a:xfrm>
            <a:off x="6310175" y="2669350"/>
            <a:ext cx="2833824" cy="11236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That's one bar</a:t>
            </a:r>
            <a:endParaRPr b="1"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04169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not broken. It's telling you the truth, badly.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10,995 of 11,009 species (</a:t>
            </a:r>
            <a:r>
              <a:rPr lang="en"/>
              <a:t>99.9%</a:t>
            </a:r>
            <a:r>
              <a:rPr lang="en"/>
              <a:t>) are in that first bin </a:t>
            </a:r>
            <a:endParaRPr/>
          </a:p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76" y="1902150"/>
            <a:ext cx="4367999" cy="31546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</a:t>
            </a:r>
            <a:endParaRPr b="1"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Try: 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range(avonet$Mass)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[1]     1.9 111000.0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Peruvian sheartail: 1.9 g Ostrich: 111,000 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58,000-fold range. Median mass is 35.5 g.</a:t>
            </a:r>
            <a:endParaRPr/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 scaling and body size</a:t>
            </a:r>
            <a:endParaRPr b="1"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80000"/>
                </a:solidFill>
              </a:rPr>
              <a:t>Run:</a:t>
            </a:r>
            <a:endParaRPr b="1"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hist(log10(avonet$Mass),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breaks = 40)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725" y="946875"/>
            <a:ext cx="4849675" cy="350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 rotWithShape="1">
          <a:blip r:embed="rId4">
            <a:alphaModFix/>
          </a:blip>
          <a:srcRect b="16458" l="25528" r="26819" t="37430"/>
          <a:stretch/>
        </p:blipFill>
        <p:spPr>
          <a:xfrm>
            <a:off x="208150" y="2895625"/>
            <a:ext cx="3767851" cy="2050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continuous variables</a:t>
            </a:r>
            <a:endParaRPr b="1"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Now: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avonet$Mass,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 = avonet$Wing.Length)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cor(avonet$Mass,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avonet$Wing.Length,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use = "complete.obs")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is the correlation?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 rotWithShape="1">
          <a:blip r:embed="rId3">
            <a:alphaModFix/>
          </a:blip>
          <a:srcRect b="0" l="0" r="0" t="9690"/>
          <a:stretch/>
        </p:blipFill>
        <p:spPr>
          <a:xfrm>
            <a:off x="4192375" y="1086725"/>
            <a:ext cx="4828774" cy="3149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same data, log-log</a:t>
            </a:r>
            <a:endParaRPr b="1"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using a log-log plot: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Mass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y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avonet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Wing.Length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log</a:t>
            </a:r>
            <a:r>
              <a:rPr lang="en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"xy"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highlight>
                  <a:srgbClr val="FFFFFF"/>
                </a:highlight>
              </a:rPr>
              <a:t>What is the correlation now?</a:t>
            </a:r>
            <a:endParaRPr b="1">
              <a:solidFill>
                <a:srgbClr val="98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FFFFF"/>
                </a:highlight>
              </a:rPr>
              <a:t>Hint: use the 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log()</a:t>
            </a:r>
            <a:r>
              <a:rPr lang="en">
                <a:solidFill>
                  <a:srgbClr val="1A1A1A"/>
                </a:solidFill>
                <a:highlight>
                  <a:srgbClr val="FFFFFF"/>
                </a:highlight>
              </a:rPr>
              <a:t> function</a:t>
            </a:r>
            <a:endParaRPr>
              <a:solidFill>
                <a:srgbClr val="1A1A1A"/>
              </a:solidFill>
              <a:highlight>
                <a:srgbClr val="FFFFFF"/>
              </a:highlight>
            </a:endParaRPr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425" y="267675"/>
            <a:ext cx="4609099" cy="430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birds are those?</a:t>
            </a:r>
            <a:endParaRPr b="1"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Any guesses?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425" y="267675"/>
            <a:ext cx="4609099" cy="430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/>
          <p:nvPr/>
        </p:nvSpPr>
        <p:spPr>
          <a:xfrm>
            <a:off x="6706325" y="3470375"/>
            <a:ext cx="827400" cy="786000"/>
          </a:xfrm>
          <a:prstGeom prst="ellipse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Kiwis</a:t>
            </a:r>
            <a:endParaRPr b="1"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11700" y="1057525"/>
            <a:ext cx="8520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avonet[which(avonet$Wing.Length &lt; 1),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 c("Species1", "Family1",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   "Mass", "Wing.Length")]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2"/>
          <p:cNvSpPr txBox="1"/>
          <p:nvPr/>
        </p:nvSpPr>
        <p:spPr>
          <a:xfrm>
            <a:off x="205750" y="2215655"/>
            <a:ext cx="6367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Species1     Family1   Mass Wing.Length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10853 Apteryx australis Apterygidae 2320.5         0.1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10854   Apteryx haastii Apterygidae 2022.7         0.1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10855  Apteryx mantelli Apterygidae 2320.5         0.1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10856    Apteryx owenii Apterygidae 1238.3         0.1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10857      Apteryx rowi Apterygidae 1924.0         0.1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311700" y="3967100"/>
            <a:ext cx="882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0.1</a:t>
            </a:r>
            <a:r>
              <a:rPr lang="en" sz="2100">
                <a:solidFill>
                  <a:schemeClr val="dk1"/>
                </a:solidFill>
              </a:rPr>
              <a:t> is a placeholder for "too small to measure."</a:t>
            </a:r>
            <a:r>
              <a:rPr lang="en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649" y="179350"/>
            <a:ext cx="2322499" cy="30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birds are those?</a:t>
            </a:r>
            <a:endParaRPr b="1"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Any guesses?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425" y="267675"/>
            <a:ext cx="4609099" cy="4301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/>
          <p:nvPr/>
        </p:nvSpPr>
        <p:spPr>
          <a:xfrm>
            <a:off x="8004900" y="753825"/>
            <a:ext cx="827400" cy="786000"/>
          </a:xfrm>
          <a:prstGeom prst="ellipse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Outlier ≠ error</a:t>
            </a:r>
            <a:endParaRPr b="1"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avonet[which(avonet$Mass &gt; 20000),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c("Species1", "Mass", "Wing.Length")]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4"/>
          <p:cNvSpPr txBox="1"/>
          <p:nvPr/>
        </p:nvSpPr>
        <p:spPr>
          <a:xfrm>
            <a:off x="0" y="2691175"/>
            <a:ext cx="4444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Species1     Mass Wing.Length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10597       Aptenodytes forsteri  33569.3       179.4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10858         Casuarius bennetti  35000.0       216.8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10859        Casuarius casuarius  44000.0       300.8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10860 Casuarius unappendiculatus  46073.9       264.5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10861   Dromaius novaehollandiae  34093.3       124.5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10862             Rhea americana  23000.0       604.5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10863               Rhea pennata  23900.0       629.5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10864          Rhea tarapacensis  23900.0       607.0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10865           Struthio camelus 111000.0       579.0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10866     Struthio molybdophanes 111000.0       510.5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0" y="4629175"/>
            <a:ext cx="787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52514E"/>
                </a:solidFill>
                <a:highlight>
                  <a:srgbClr val="FFFFFF"/>
                </a:highlight>
              </a:rPr>
              <a:t>Also extreme. Also flightless. These are real measurements.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576" y="205750"/>
            <a:ext cx="2871576" cy="229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Too many points</a:t>
            </a:r>
            <a:endParaRPr b="1"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plot(x = avonet$Mass,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y = avonet$Wing.Length,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log = "xy",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pch = 16,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cex = 0.4,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col = rgb(0, 0, 0, alpha = 0.3))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ex: controls point 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lpha: controls transparency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Now you can see where the density is.</a:t>
            </a:r>
            <a:endParaRPr/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categorical predictor</a:t>
            </a:r>
            <a:endParaRPr b="1"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 out: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boxplot(log10(Mass) ~ Trophic.Level,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data = avonet)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trophic level is the largest?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Notes:</a:t>
            </a:r>
            <a:endParaRPr b="1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~ means "as a function of". You'll see this notation all semester.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Used “data” argument rather than “avonet$” approach</a:t>
            </a:r>
            <a:endParaRPr/>
          </a:p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One categorical variable</a:t>
            </a:r>
            <a:endParaRPr b="1"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80000"/>
                </a:solidFill>
              </a:rPr>
              <a:t>Try both approaches.  Which is more informative?</a:t>
            </a:r>
            <a:endParaRPr b="1" sz="2400">
              <a:solidFill>
                <a:srgbClr val="98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table(avonet$Habitat)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barplot(sort(table(avonet$Habitat),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             decreasing = TRUE),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        las = 2)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Note: </a:t>
            </a:r>
            <a:r>
              <a:rPr lang="en" sz="2400"/>
              <a:t>las = 2 turns the labels sideways (Label Axis Style)</a:t>
            </a:r>
            <a:endParaRPr sz="2400"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Numbers that aren't quantities</a:t>
            </a:r>
            <a:endParaRPr b="1"/>
          </a:p>
        </p:txBody>
      </p:sp>
      <p:sp>
        <p:nvSpPr>
          <p:cNvPr id="247" name="Google Shape;24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Migration is coded 1, 2, 3 (sedentary / partial / migratory)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Try: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mean(avonet$Migration)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mean(avonet$Migration, na.rm =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do you get?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48" name="Google Shape;24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Numbers that aren't quantities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0B0B"/>
                </a:solidFill>
              </a:rPr>
              <a:t>R doesn’t know meaning, that’s up to you.</a:t>
            </a:r>
            <a:endParaRPr>
              <a:solidFill>
                <a:srgbClr val="0B0B0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class is R treating migration as?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Potential solutions (try them out):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0B0B"/>
                </a:solidFill>
              </a:rPr>
              <a:t>Use table:</a:t>
            </a:r>
            <a:endParaRPr>
              <a:solidFill>
                <a:srgbClr val="0B0B0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0B0B"/>
                </a:solidFill>
                <a:latin typeface="Consolas"/>
                <a:ea typeface="Consolas"/>
                <a:cs typeface="Consolas"/>
                <a:sym typeface="Consolas"/>
              </a:rPr>
              <a:t>barplot(table(avonet$Migration))</a:t>
            </a:r>
            <a:endParaRPr>
              <a:solidFill>
                <a:srgbClr val="0B0B0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0B0B"/>
                </a:solidFill>
                <a:latin typeface="Consolas"/>
                <a:ea typeface="Consolas"/>
                <a:cs typeface="Consolas"/>
                <a:sym typeface="Consolas"/>
              </a:rPr>
              <a:t>Correct the class: </a:t>
            </a:r>
            <a:endParaRPr>
              <a:solidFill>
                <a:srgbClr val="0B0B0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0B0B"/>
                </a:solidFill>
                <a:latin typeface="Consolas"/>
                <a:ea typeface="Consolas"/>
                <a:cs typeface="Consolas"/>
                <a:sym typeface="Consolas"/>
              </a:rPr>
              <a:t>avonet$Migration &lt;- </a:t>
            </a:r>
            <a:r>
              <a:rPr lang="en">
                <a:solidFill>
                  <a:srgbClr val="0B0B0B"/>
                </a:solidFill>
                <a:latin typeface="Consolas"/>
                <a:ea typeface="Consolas"/>
                <a:cs typeface="Consolas"/>
                <a:sym typeface="Consolas"/>
              </a:rPr>
              <a:t>as.factor(</a:t>
            </a:r>
            <a:r>
              <a:rPr lang="en">
                <a:solidFill>
                  <a:srgbClr val="0B0B0B"/>
                </a:solidFill>
                <a:latin typeface="Consolas"/>
                <a:ea typeface="Consolas"/>
                <a:cs typeface="Consolas"/>
                <a:sym typeface="Consolas"/>
              </a:rPr>
              <a:t>avonet$Migration</a:t>
            </a:r>
            <a:r>
              <a:rPr lang="en">
                <a:solidFill>
                  <a:srgbClr val="0B0B0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4003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Remainder of class: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Work through 2.6. Start at 2.6.2 (the plots), but first run:</a:t>
            </a:r>
            <a:endParaRPr b="1">
              <a:solidFill>
                <a:srgbClr val="98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install.packages("emdbook")   # once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str(SeedPred)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Skip the reconstruction in 2.6.1 — one line gets you the finished 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Next time: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class: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review 2.5</a:t>
            </a:r>
            <a:r>
              <a:rPr lang="en"/>
              <a:t> - 2.6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class: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Discuss Assignment 1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Discuss potential data sources to work with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Continue working </a:t>
            </a:r>
            <a:r>
              <a:rPr lang="en"/>
              <a:t>through</a:t>
            </a:r>
            <a:r>
              <a:rPr lang="en"/>
              <a:t> 2.6 (if needed)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Start to apply techniques from chapter 2 to dataset of interest </a:t>
            </a:r>
            <a:endParaRPr/>
          </a:p>
        </p:txBody>
      </p:sp>
      <p:sp>
        <p:nvSpPr>
          <p:cNvPr id="261" name="Google Shape;26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