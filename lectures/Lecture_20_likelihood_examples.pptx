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c02cc9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c02cc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bc2b2b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bc2b2b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d7c3403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d7c3403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e9326171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e9326171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e9326171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e9326171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e932617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e932617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e9326171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e9326171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e9326171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e9326171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e9326171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e9326171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9326171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e9326171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e9326171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e9326171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e9326171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e9326171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e9326171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e9326171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e9326171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e9326171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e9326171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e9326171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e93261715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e9326171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e9326171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e9326171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e9326171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e9326171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e93261715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e9326171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e9326171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e9326171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e93261715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e9326171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e9326171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e9326171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e9326171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e9326171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e93261715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e93261715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e93261715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e9326171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e93261715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e9326171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e93261715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e93261715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e93261715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e9326171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e93261715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e9326171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e93261715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9e93261715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e93261715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9e93261715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e93261715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9e93261715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e93261715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9e93261715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e93261715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e93261715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e93261715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9e93261715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4c02cc92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64c02cc92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Likelihood Examples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Worked examples  (chapter 8)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Previously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talked about the different steps of the modelling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Today, we’ll walk through the whole process together</a:t>
            </a:r>
            <a:endParaRPr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step, let’s get some data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library(emdbook)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library(bbmle)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data("SeedPred")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85200C"/>
                </a:solidFill>
              </a:rPr>
              <a:t>What is in this dataset?</a:t>
            </a:r>
            <a:endParaRPr>
              <a:solidFill>
                <a:srgbClr val="85200C"/>
              </a:solidFill>
            </a:endParaRPr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step, let’s get some data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?SeedPred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from a seed predation experiment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variables are: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Number taken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Number Available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Distance from forest edge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response variable is going to be the number taken.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is our first step?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cleaning/prep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Subset to only records with seeds available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SeedPred &lt;- SeedPred[which(SeedPred$available &gt; 0),]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Toss NAs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SeedPred &lt;- na.omit(SeedPred)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these lines of code now.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is next step?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a distribution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factors should we consider?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a distribution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can also visualize the distribution in different ways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hist()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But we can also 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barchart()</a:t>
            </a:r>
            <a:r>
              <a:rPr lang="en">
                <a:solidFill>
                  <a:schemeClr val="dk1"/>
                </a:solidFill>
              </a:rPr>
              <a:t> from the lattice package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This allows us to group the data in different ways using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table()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table()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discussed table() a while ago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Shows how common different categorical combinations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Useful because it can use multiple levels of classification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table(SeedPred$taken)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table(SeedPred$taken, SeedPred$available)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these and see if the output makes sense.  What is in each row/column?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table() + barchart()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barchart() plays nicely with table(), creating nested barcharts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library(lattice)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barchart(table(SeedPred$taken), stack = FALSE)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barchart(table(SeedPred$taken, SeedPred$available), stack = FALSE)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these and examine the figures.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What’s the most common number of seeds taken?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table() + barchart()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of the time, 0 seeds are taken.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suggests we may need a special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can look at only those with more than zero taken.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nz &lt;- SeedPred |&gt; filter(taken &gt; 0)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barchart(table(nz$taken,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nz$available, nz$dist, nz$species),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stack = FALSE)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Anything interesting about the distributions?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(Particularly at a distance of 25m, where 5 seeds are available)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Picking a distribution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have lots of zeroes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evidence of bimodality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Values are between 0 and number available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Binary and discrete (seeds are taken/not)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Possible options are binomial and beta-binomial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lots of zeroes suggests we may want a zero-inflated version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We’ll write functions (but note packages also contain pre-built versions)</a:t>
            </a:r>
            <a:endParaRPr/>
          </a:p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Zero-inflated functions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Zero-inflated binomial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Basically a dbinom() function modified to have a parameter for zero inflation (zprob)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Where zprob = 0, it will just be a dbinom()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 dzibinom &lt;- function(x, prob, size, zprob, log = FALSE){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logv &lt;- log(1 - zprob) + dbinom(x, prob = prob, size = size,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log = TRUE)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logv &lt;- ifelse(x == 0, log(zprob + exp(logv)), logv)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if (log){logv}else{exp(logv)}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Create this </a:t>
            </a:r>
            <a:r>
              <a:rPr lang="en">
                <a:solidFill>
                  <a:srgbClr val="980000"/>
                </a:solidFill>
              </a:rPr>
              <a:t>function</a:t>
            </a:r>
            <a:r>
              <a:rPr lang="en">
                <a:solidFill>
                  <a:srgbClr val="980000"/>
                </a:solidFill>
              </a:rPr>
              <a:t> now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2" name="Google Shape;1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Zero-inflated functions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also make a zero inflated beta-binomial (which would better handle bimodality)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dzibb &lt;- function(x, size, prob, theta, zprob, log = FALSE)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logv &lt;- ifelse(x &gt; size, NA, log(1 - zprob) +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dbetabinom(x, prob = prob,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size = size,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theta = theta,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log = TRUE))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logv &lt;- ifelse(x == 0, log(zprob + exp(logv)),logv)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if(log){logv}else{exp(logv)}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Create this function now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9" name="Google Shape;13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 distributions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4 candidate distributions: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Binomial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Beta-binomial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Zero-inflated binomial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Zero-inflated beta-binomial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do we figure out which one to use?</a:t>
            </a:r>
            <a:endParaRPr>
              <a:solidFill>
                <a:srgbClr val="98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distributions</a:t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SP.bb &lt;- mle2(taken ~ dbetabinom( size = available,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prob = prob,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theta = theta),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start = list(prob = 0.5,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theta = 1),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data = SeedPred)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SP.b &lt;- mle2(taken ~ dbinom(size = available,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prob = prob),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start = list(prob = 0.5),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data = SeedPred)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distributions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our zero-inflated models, we’ll use a transformation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plogis() keeps values between 0 and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qlogis() will un-transform the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Try this out!</a:t>
            </a:r>
            <a:r>
              <a:rPr lang="en"/>
              <a:t> Pick some numbers and see what plogis gives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fed &lt;- plogis(&lt;any number&gt;)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ntfed &lt;- qlogis(tfed)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distributions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SP.zibb &lt;- mle2(taken ~ dzibb(size = available,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prob = prob,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theta = theta,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zprob = plogis(logitzprob)),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start = list(prob = 0.5,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theta = 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logitzprob = 0),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data = SeedPred)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and make sure it fits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distributions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SP.zib &lt;- mle2(taken ~ dzibinom(size = available,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prob = p,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zprob = plogis(logitzprob)),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start = list(p = 0.2,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logitzprob = 0),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data = SeedPred)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and make sure it fits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distributions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Which model fits best? How do we tell?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distributions</a:t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Which model fits best? How do we tell?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dAIC   df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SP.bb      0.0 2 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SP.zibb    2.2 3 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SP.zib   419.5 2 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SP.b    3704.3 1</a:t>
            </a:r>
            <a:endParaRPr sz="2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88" name="Google Shape;18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our model</a:t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We’ve figured out which distribution fits best.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Now what?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95" name="Google Shape;19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distance</a:t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start, we’ll ask </a:t>
            </a:r>
            <a:r>
              <a:rPr lang="en">
                <a:solidFill>
                  <a:schemeClr val="dk1"/>
                </a:solidFill>
              </a:rPr>
              <a:t>whether</a:t>
            </a:r>
            <a:r>
              <a:rPr lang="en">
                <a:solidFill>
                  <a:schemeClr val="dk1"/>
                </a:solidFill>
              </a:rPr>
              <a:t> distance from the forest changes predation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SP.bb.dist &lt;- mle2(taken ~ dbetabinom(prob,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 size = available,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 theta),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parameters = list(prob ~ dist - 1,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theta ~ dist - 1),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start =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as.list(coef(SP.bb))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data = SeedPred)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distance</a:t>
            </a:r>
            <a:endParaRPr/>
          </a:p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How do we examine our model output?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Which terms were significant?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Notice anything about the theta estimates?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9" name="Google Shape;20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distance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Theta estimates are nearly identical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Can we improve our model AIC by removing this parameter?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-"/>
            </a:pPr>
            <a:r>
              <a:rPr lang="en">
                <a:solidFill>
                  <a:srgbClr val="980000"/>
                </a:solidFill>
              </a:rPr>
              <a:t>How would we change out model to test this?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distance</a:t>
            </a:r>
            <a:endParaRPr/>
          </a:p>
        </p:txBody>
      </p:sp>
      <p:sp>
        <p:nvSpPr>
          <p:cNvPr id="222" name="Google Shape;22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SP.bb.dist.theta &lt;- mle2(taken ~ dbetabinom(prob,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  size = available,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              theta),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parameters = list(theta ~ dist - 1),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start = as.list(coef(SP.bb)),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data = SeedPred)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 and compare it to SP.bb.dist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Which is the better model? Are they meaningfully different?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23" name="Google Shape;22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distance model comparison</a:t>
            </a:r>
            <a:endParaRPr/>
          </a:p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311700" y="1152475"/>
            <a:ext cx="865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AICtab(SP.bb.dist,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SP.bb.dist.theta)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anova(SP.bb.dist,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SP.bb.dist.prob)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80000"/>
                </a:solidFill>
              </a:rPr>
              <a:t>What do the AIC and LRT tell us?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Does this make sense with the different theta estimates?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0" name="Google Shape;23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distance model comparison</a:t>
            </a:r>
            <a:endParaRPr/>
          </a:p>
        </p:txBody>
      </p:sp>
      <p:sp>
        <p:nvSpPr>
          <p:cNvPr id="236" name="Google Shape;236;p39"/>
          <p:cNvSpPr txBox="1"/>
          <p:nvPr>
            <p:ph idx="1" type="body"/>
          </p:nvPr>
        </p:nvSpPr>
        <p:spPr>
          <a:xfrm>
            <a:off x="311700" y="1152475"/>
            <a:ext cx="865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AIC says the models differ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ANOVA says the models aren’t significantly different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parameters are basically the same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Probably no biologically meaningful differences in models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7" name="Google Shape;23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distance model comparison</a:t>
            </a:r>
            <a:endParaRPr/>
          </a:p>
        </p:txBody>
      </p:sp>
      <p:sp>
        <p:nvSpPr>
          <p:cNvPr id="243" name="Google Shape;243;p40"/>
          <p:cNvSpPr txBox="1"/>
          <p:nvPr>
            <p:ph idx="1" type="body"/>
          </p:nvPr>
        </p:nvSpPr>
        <p:spPr>
          <a:xfrm>
            <a:off x="311700" y="1152475"/>
            <a:ext cx="865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Suggests that seeds closer to the forest are more to be taken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No biologically meaningful difference in overdispersion (theta)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4" name="Google Shape;24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species</a:t>
            </a:r>
            <a:endParaRPr/>
          </a:p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also have </a:t>
            </a:r>
            <a:r>
              <a:rPr lang="en"/>
              <a:t>information</a:t>
            </a:r>
            <a:r>
              <a:rPr lang="en"/>
              <a:t> on species.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How would we test </a:t>
            </a:r>
            <a:r>
              <a:rPr lang="en">
                <a:solidFill>
                  <a:srgbClr val="980000"/>
                </a:solidFill>
              </a:rPr>
              <a:t>whether</a:t>
            </a:r>
            <a:r>
              <a:rPr lang="en">
                <a:solidFill>
                  <a:srgbClr val="980000"/>
                </a:solidFill>
              </a:rPr>
              <a:t> species differ in their responses?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51" name="Google Shape;25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species</a:t>
            </a:r>
            <a:endParaRPr/>
          </a:p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Modify our previous code:</a:t>
            </a:r>
            <a:endParaRPr/>
          </a:p>
          <a:p>
            <a:pPr indent="-5715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SP.bb.sp &lt;- mle2(taken ~ dbetabinom(prob = prob,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    theta = theta,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    size = available),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parameters = list(prob ~ species,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   theta ~ species),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start = c(prob = -2,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theta = -1),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data = SeedPred)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Run this. What happens?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58" name="Google Shape;25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species</a:t>
            </a:r>
            <a:endParaRPr/>
          </a:p>
        </p:txBody>
      </p:sp>
      <p:sp>
        <p:nvSpPr>
          <p:cNvPr id="264" name="Google Shape;264;p43"/>
          <p:cNvSpPr txBox="1"/>
          <p:nvPr>
            <p:ph idx="1" type="body"/>
          </p:nvPr>
        </p:nvSpPr>
        <p:spPr>
          <a:xfrm>
            <a:off x="311700" y="1152475"/>
            <a:ext cx="8520600" cy="3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 with transformations (logis: -1 to 1; exp: 0 to +inf):</a:t>
            </a:r>
            <a:endParaRPr/>
          </a:p>
          <a:p>
            <a:pPr indent="-5715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SP.bb.sp &lt;- mle2(taken ~ dbetabinom(prob = </a:t>
            </a:r>
            <a:r>
              <a:rPr lang="en">
                <a:solidFill>
                  <a:srgbClr val="85200C"/>
                </a:solidFill>
                <a:latin typeface="Consolas"/>
                <a:ea typeface="Consolas"/>
                <a:cs typeface="Consolas"/>
                <a:sym typeface="Consolas"/>
              </a:rPr>
              <a:t>plogis(lprob)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   theta =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exp(ltheta)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02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size = available),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parameters = list(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lprob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~ species,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  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ltheta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~ species),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start = c(</a:t>
            </a:r>
            <a:r>
              <a:rPr lang="en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lprob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-1,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</a:t>
            </a:r>
            <a:r>
              <a:rPr lang="en">
                <a:solidFill>
                  <a:srgbClr val="85200C"/>
                </a:solidFill>
                <a:latin typeface="Consolas"/>
                <a:ea typeface="Consolas"/>
                <a:cs typeface="Consolas"/>
                <a:sym typeface="Consolas"/>
              </a:rPr>
              <a:t>ltheta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= -1),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data = SeedPred)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Try running this version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65" name="Google Shape;26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species</a:t>
            </a:r>
            <a:endParaRPr/>
          </a:p>
        </p:txBody>
      </p:sp>
      <p:sp>
        <p:nvSpPr>
          <p:cNvPr id="271" name="Google Shape;271;p44"/>
          <p:cNvSpPr txBox="1"/>
          <p:nvPr>
            <p:ph idx="1" type="body"/>
          </p:nvPr>
        </p:nvSpPr>
        <p:spPr>
          <a:xfrm>
            <a:off x="311700" y="1152475"/>
            <a:ext cx="8520600" cy="3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The model ran, now what should we do?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72" name="Google Shape;27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species</a:t>
            </a:r>
            <a:endParaRPr/>
          </a:p>
        </p:txBody>
      </p:sp>
      <p:sp>
        <p:nvSpPr>
          <p:cNvPr id="278" name="Google Shape;278;p45"/>
          <p:cNvSpPr txBox="1"/>
          <p:nvPr>
            <p:ph idx="1" type="body"/>
          </p:nvPr>
        </p:nvSpPr>
        <p:spPr>
          <a:xfrm>
            <a:off x="311700" y="1152475"/>
            <a:ext cx="8520600" cy="3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the parameters using summary(SP.bb.sp)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980000"/>
              </a:buClr>
              <a:buSzPts val="1800"/>
              <a:buChar char="-"/>
            </a:pPr>
            <a:r>
              <a:rPr lang="en">
                <a:solidFill>
                  <a:srgbClr val="980000"/>
                </a:solidFill>
              </a:rPr>
              <a:t>Any potential changes we might make based on these?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predation and species</a:t>
            </a:r>
            <a:endParaRPr/>
          </a:p>
        </p:txBody>
      </p:sp>
      <p:sp>
        <p:nvSpPr>
          <p:cNvPr id="285" name="Google Shape;285;p46"/>
          <p:cNvSpPr txBox="1"/>
          <p:nvPr>
            <p:ph idx="1" type="body"/>
          </p:nvPr>
        </p:nvSpPr>
        <p:spPr>
          <a:xfrm>
            <a:off x="311700" y="1152475"/>
            <a:ext cx="8520600" cy="35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use species specific probability, not overdispersion: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SP.bb.sp.prob &lt;- mle2(taken ~ dbetabinom(prob = plogis(lprob),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   theta = exp(ltheta),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         size = available),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</a:t>
            </a:r>
            <a:r>
              <a:rPr lang="en">
                <a:solidFill>
                  <a:srgbClr val="A61C00"/>
                </a:solidFill>
                <a:latin typeface="Consolas"/>
                <a:ea typeface="Consolas"/>
                <a:cs typeface="Consolas"/>
                <a:sym typeface="Consolas"/>
              </a:rPr>
              <a:t>parameters = list(lprob ~ species)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start = list(lprob = -1,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          ltheta = -1),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            data = SeedPred)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980000"/>
                </a:solidFill>
              </a:rPr>
              <a:t>Run this and compare it with SP.bb.sp, which is better?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Take-aways</a:t>
            </a:r>
            <a:endParaRPr/>
          </a:p>
        </p:txBody>
      </p:sp>
      <p:sp>
        <p:nvSpPr>
          <p:cNvPr id="292" name="Google Shape;292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 fitting is part process, part 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serves as an example of a few simple questions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 usual, can start by thinking of distributions, then functions, then fits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>
            <p:ph idx="1" type="body"/>
          </p:nvPr>
        </p:nvSpPr>
        <p:spPr>
          <a:xfrm>
            <a:off x="311700" y="390475"/>
            <a:ext cx="8520600" cy="41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Before next class: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9.1 - 9.2 (General linear models!)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 in Assignment 3 (Due Friday by midnight)</a:t>
            </a:r>
            <a:endParaRPr/>
          </a:p>
        </p:txBody>
      </p:sp>
      <p:sp>
        <p:nvSpPr>
          <p:cNvPr id="299" name="Google Shape;29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