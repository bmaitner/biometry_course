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43e0b0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43e0b0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12a3a5c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12a3a5c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12a3a5ce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12a3a5c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12a3a5c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12a3a5c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12a3a5ce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12a3a5ce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12a3a5ce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12a3a5ce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12a3a5ce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12a3a5ce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12a3a5ce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12a3a5ce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12a3a5ce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12a3a5ce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12a3a5ce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12a3a5ce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12a3a5ce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12a3a5ce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12a3a5ce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12a3a5ce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12a3a5ce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12a3a5ce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12a3a5ce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12a3a5ce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12a3a5ce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12a3a5ce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12a3a5ce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12a3a5ce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12a3a5ce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12a3a5ce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12a3a5ce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12a3a5ce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12a3a5ce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12a3a5ce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12a3a5ce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12a3a5ce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2a3a5ce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12a3a5ce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12a3a5ce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12a3a5ce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12a3a5ce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12a3a5ce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12a3a5ce5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12a3a5ce5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12a3a5ce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12a3a5ce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rstudio.github.io/renv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f.io/" TargetMode="External"/><Relationship Id="rId4" Type="http://schemas.openxmlformats.org/officeDocument/2006/relationships/hyperlink" Target="https://datadryad.org/" TargetMode="External"/><Relationship Id="rId5" Type="http://schemas.openxmlformats.org/officeDocument/2006/relationships/hyperlink" Target="https://figshare.com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zenodo.org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rmarkdown.rstudio.com/lesson-1.html" TargetMode="External"/><Relationship Id="rId4" Type="http://schemas.openxmlformats.org/officeDocument/2006/relationships/hyperlink" Target="https://rstudio.github.io/cheatsheets/html/rmarkdown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hyperlink" Target="https://rstudio.github.io/cheatsheets/html/rmarkdown.html#chunk-option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hyperlink" Target="https://rstudio.github.io/cheatsheets/html/rmarkdown.html#chunk-option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hyperlink" Target="https://rstudio.github.io/cheatsheets/html/rmarkdown.html#write-with-markdown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i.org/10.1126/science.aab2374" TargetMode="External"/><Relationship Id="rId4" Type="http://schemas.openxmlformats.org/officeDocument/2006/relationships/hyperlink" Target="https://doi.org/10.1002/ece3.7003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Reproducibility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Making code reproducible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 Markdown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Work on .Rmd files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Reproducibility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using code, this means: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Analyses could be re-run and would give the same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and data are available and usable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Reproducibility is a spectrum: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Poorly structured code and data are less reproducible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Elements of reproducibility: the 4 D’s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 (structure and style)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Dependencies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Deposit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 thought-out folder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E.g., folders for: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Scripts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Raw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Clean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Figures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 thought out code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you do something multiple times, make it a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code modular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Break up scripts into different files (e.g., data cleaning, data analyses, etc.)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 consistent code style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discussed this previously when talking about tidyverse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also discussed R function to help style your code</a:t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comments!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Document what different </a:t>
            </a:r>
            <a:r>
              <a:rPr lang="en"/>
              <a:t>sections</a:t>
            </a:r>
            <a:r>
              <a:rPr lang="en"/>
              <a:t> 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Document any decisions or assumptions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Explain complicated bits of code</a:t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readme files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One at the project’s root directory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Explain the purpose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Is there anything special needed to know to run the code?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 be relatively simple or very complex and detailed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 contain a link to any resulting publications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Other readme files where needed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Add readme files in any folder where information is helpful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Example: noting data sources, file naming structure,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Readme files that accompany datasets are often very helpful</a:t>
            </a:r>
            <a:endParaRPr/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functions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You can document any functions you write using comments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 also has a special way of documenting functions: Roxygen comments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Example (edited to fit on slide):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#' @name dr_rulsif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#' @title Density-ratio SDM estimation with RuLSIF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#' @description dr_rulsif is an internal function for density-ratio estimation with RuLSIF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#' @param presence_data dataframe of covariates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#' @param background_data dataframe of covariates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#' @importFrom densratio RuLSIF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#' @importFrom Rdpack reprompt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#' @keywords internal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#' @references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#' \insertAllCited{}</a:t>
            </a:r>
            <a:endParaRPr/>
          </a:p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functions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Include things like: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description of what they 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the parameters are and the expected data 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the function returns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functions it relies on (if any)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example of how to use it</a:t>
            </a:r>
            <a:endParaRPr/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Dependencies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Your code relies upon the R program as well as various packages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 and R packages change over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written at one time may not work in the future as things 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It's</a:t>
            </a:r>
            <a:r>
              <a:rPr lang="en"/>
              <a:t> useful to note which versions of things you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Dependencies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The renv package is designed to manage dependencies for you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Keeps track of which packages you use and which versions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Stores the packages inside our directory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Set up with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renv::init()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Update 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renv::shapshot()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https://rstudio.github.io/renv/</a:t>
            </a:r>
            <a:r>
              <a:rPr lang="en"/>
              <a:t> for details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Dependencies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REALLY want to be reproducible, you can use containers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Package all the code you need to run analyses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Even include a lightweight operating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means you can run the same exact code on any 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Prevents OS-related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Also useful if you want to work on a cluster</a:t>
            </a:r>
            <a:endParaRPr/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Keep raw data untouched, seperate from clean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scripts for cleaning so that it can be replicated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Comments in cleaning scripts document your decisions and why you made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relative paths to load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should be accessible to others</a:t>
            </a:r>
            <a:endParaRPr/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</a:t>
            </a:r>
            <a:r>
              <a:rPr lang="en"/>
              <a:t>should be permanently archived somewhere on the internet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ideally downloads the data from the internet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Small amounts of data can be put on Github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Large datasets need specialized storage locations, e.g.: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OSF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https://osf.io/</a:t>
            </a:r>
            <a:r>
              <a:rPr lang="en"/>
              <a:t> 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Dryad (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https://datadryad.org/</a:t>
            </a:r>
            <a:r>
              <a:rPr lang="en"/>
              <a:t> 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FigShare (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https://figshare.com/</a:t>
            </a:r>
            <a:r>
              <a:rPr lang="en"/>
              <a:t> )</a:t>
            </a:r>
            <a:endParaRPr/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Deposit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data, code should be deposited in a permanently archived location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Github is a good step, but isn’t permanent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Zenodo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https://zenodo.org/</a:t>
            </a:r>
            <a:r>
              <a:rPr lang="en"/>
              <a:t> ) can permanently archive Github code easily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Zenodo assigns a DOI, so code can be cited</a:t>
            </a:r>
            <a:endParaRPr/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Elements of reproducibility: the 4 D’s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(structure and style)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Dependencies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Deposit</a:t>
            </a:r>
            <a:endParaRPr/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ways to help with reproducibility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small bits of code, reprex are useful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can also make use of Rmarkdown and Quarto (.rmd and .qmd) files</a:t>
            </a:r>
            <a:endParaRPr/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markdown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Details at: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https://rmarkdown.rstudio.com/lesson-1.html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Cheatsheet at: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https://rstudio.github.io/cheatsheets/html/rmarkdown.html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Runs code and produces documents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fully reproducible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call other programs (e.g., python)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markdown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play with R markdown a bit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First, create a new Rmd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RStudio: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File &gt; New File &gt; R Markdown</a:t>
            </a:r>
            <a:endParaRPr/>
          </a:p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 rotWithShape="1">
          <a:blip r:embed="rId3">
            <a:alphaModFix/>
          </a:blip>
          <a:srcRect b="24450" l="26004" r="39085" t="19789"/>
          <a:stretch/>
        </p:blipFill>
        <p:spPr>
          <a:xfrm>
            <a:off x="4572000" y="538546"/>
            <a:ext cx="4158173" cy="3735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markdown: 3 types of content</a:t>
            </a:r>
            <a:endParaRPr/>
          </a:p>
        </p:txBody>
      </p:sp>
      <p:sp>
        <p:nvSpPr>
          <p:cNvPr id="195" name="Google Shape;19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 rotWithShape="1">
          <a:blip r:embed="rId3">
            <a:alphaModFix/>
          </a:blip>
          <a:srcRect b="19299" l="0" r="36419" t="12042"/>
          <a:stretch/>
        </p:blipFill>
        <p:spPr>
          <a:xfrm>
            <a:off x="2494621" y="1017725"/>
            <a:ext cx="6649378" cy="403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 txBox="1"/>
          <p:nvPr/>
        </p:nvSpPr>
        <p:spPr>
          <a:xfrm>
            <a:off x="383900" y="1266275"/>
            <a:ext cx="18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Yaml header</a:t>
            </a:r>
            <a:endParaRPr sz="1800">
              <a:solidFill>
                <a:srgbClr val="980000"/>
              </a:solidFill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239356" y="2001959"/>
            <a:ext cx="18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R code block</a:t>
            </a:r>
            <a:endParaRPr sz="1800">
              <a:solidFill>
                <a:srgbClr val="980000"/>
              </a:solidFill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239350" y="2631600"/>
            <a:ext cx="202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Markdown text</a:t>
            </a:r>
            <a:endParaRPr sz="1800">
              <a:solidFill>
                <a:srgbClr val="980000"/>
              </a:solidFill>
            </a:endParaRPr>
          </a:p>
        </p:txBody>
      </p:sp>
      <p:cxnSp>
        <p:nvCxnSpPr>
          <p:cNvPr id="200" name="Google Shape;200;p33"/>
          <p:cNvCxnSpPr/>
          <p:nvPr/>
        </p:nvCxnSpPr>
        <p:spPr>
          <a:xfrm>
            <a:off x="1847425" y="1499575"/>
            <a:ext cx="986400" cy="1272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33"/>
          <p:cNvCxnSpPr/>
          <p:nvPr/>
        </p:nvCxnSpPr>
        <p:spPr>
          <a:xfrm flipH="1" rot="10800000">
            <a:off x="1762575" y="2220825"/>
            <a:ext cx="1134900" cy="105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33"/>
          <p:cNvCxnSpPr/>
          <p:nvPr/>
        </p:nvCxnSpPr>
        <p:spPr>
          <a:xfrm flipH="1" rot="10800000">
            <a:off x="1900450" y="2857050"/>
            <a:ext cx="996900" cy="31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markdown: Yaml header</a:t>
            </a:r>
            <a:endParaRPr/>
          </a:p>
        </p:txBody>
      </p:sp>
      <p:sp>
        <p:nvSpPr>
          <p:cNvPr id="208" name="Google Shape;20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9" name="Google Shape;209;p34"/>
          <p:cNvPicPr preferRelativeResize="0"/>
          <p:nvPr/>
        </p:nvPicPr>
        <p:blipFill rotWithShape="1">
          <a:blip r:embed="rId3">
            <a:alphaModFix/>
          </a:blip>
          <a:srcRect b="71227" l="0" r="36419" t="12042"/>
          <a:stretch/>
        </p:blipFill>
        <p:spPr>
          <a:xfrm>
            <a:off x="2494625" y="1017725"/>
            <a:ext cx="6649373" cy="98422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4"/>
          <p:cNvSpPr txBox="1"/>
          <p:nvPr/>
        </p:nvSpPr>
        <p:spPr>
          <a:xfrm>
            <a:off x="383900" y="1266275"/>
            <a:ext cx="18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Yaml header</a:t>
            </a:r>
            <a:endParaRPr sz="1800">
              <a:solidFill>
                <a:srgbClr val="980000"/>
              </a:solidFill>
            </a:endParaRPr>
          </a:p>
        </p:txBody>
      </p:sp>
      <p:cxnSp>
        <p:nvCxnSpPr>
          <p:cNvPr id="211" name="Google Shape;211;p34"/>
          <p:cNvCxnSpPr/>
          <p:nvPr/>
        </p:nvCxnSpPr>
        <p:spPr>
          <a:xfrm>
            <a:off x="1847425" y="1499575"/>
            <a:ext cx="986400" cy="1272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34"/>
          <p:cNvSpPr txBox="1"/>
          <p:nvPr/>
        </p:nvSpPr>
        <p:spPr>
          <a:xfrm>
            <a:off x="532375" y="2210125"/>
            <a:ext cx="8240100" cy="25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Contains metadata on the file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Also contains information on how to render the file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Output tells it to render as an html_document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Could also render as PDF, .docx, etc.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There are other advanced option like: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Adding a table of contents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Incorporating a citations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Changing</a:t>
            </a:r>
            <a:r>
              <a:rPr lang="en" sz="1800">
                <a:solidFill>
                  <a:schemeClr val="dk2"/>
                </a:solidFill>
              </a:rPr>
              <a:t> the page margins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https://rstudio.github.io/cheatsheets/html/rmarkdown.html#chunk-options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markdown: code blocks</a:t>
            </a:r>
            <a:endParaRPr/>
          </a:p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35"/>
          <p:cNvPicPr preferRelativeResize="0"/>
          <p:nvPr/>
        </p:nvPicPr>
        <p:blipFill rotWithShape="1">
          <a:blip r:embed="rId3">
            <a:alphaModFix/>
          </a:blip>
          <a:srcRect b="63379" l="0" r="36419" t="28772"/>
          <a:stretch/>
        </p:blipFill>
        <p:spPr>
          <a:xfrm>
            <a:off x="2494625" y="1058091"/>
            <a:ext cx="6649373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5"/>
          <p:cNvSpPr txBox="1"/>
          <p:nvPr/>
        </p:nvSpPr>
        <p:spPr>
          <a:xfrm>
            <a:off x="239356" y="1058100"/>
            <a:ext cx="18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R code block</a:t>
            </a:r>
            <a:endParaRPr sz="1800">
              <a:solidFill>
                <a:srgbClr val="980000"/>
              </a:solidFill>
            </a:endParaRPr>
          </a:p>
        </p:txBody>
      </p:sp>
      <p:cxnSp>
        <p:nvCxnSpPr>
          <p:cNvPr id="221" name="Google Shape;221;p35"/>
          <p:cNvCxnSpPr/>
          <p:nvPr/>
        </p:nvCxnSpPr>
        <p:spPr>
          <a:xfrm flipH="1" rot="10800000">
            <a:off x="1762575" y="1276966"/>
            <a:ext cx="1134900" cy="105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35"/>
          <p:cNvSpPr txBox="1"/>
          <p:nvPr/>
        </p:nvSpPr>
        <p:spPr>
          <a:xfrm>
            <a:off x="521775" y="1732875"/>
            <a:ext cx="8144700" cy="3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Can have as many as you like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Begin with ```{r}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End with ```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Optional </a:t>
            </a:r>
            <a:r>
              <a:rPr lang="en" sz="1800">
                <a:solidFill>
                  <a:schemeClr val="dk2"/>
                </a:solidFill>
              </a:rPr>
              <a:t>arguments go inside {r}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Specify whether messages and warnings should be shown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Tell R not to run the chunk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Specify figure sizes and captions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https://rstudio.github.io/cheatsheets/html/rmarkdown.html#chunk-options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markdown: Markdown text chunks</a:t>
            </a:r>
            <a:endParaRPr/>
          </a:p>
        </p:txBody>
      </p:sp>
      <p:sp>
        <p:nvSpPr>
          <p:cNvPr id="228" name="Google Shape;22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 rotWithShape="1">
          <a:blip r:embed="rId3">
            <a:alphaModFix/>
          </a:blip>
          <a:srcRect b="47497" l="0" r="36419" t="35736"/>
          <a:stretch/>
        </p:blipFill>
        <p:spPr>
          <a:xfrm>
            <a:off x="2494625" y="1096561"/>
            <a:ext cx="6649373" cy="98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 txBox="1"/>
          <p:nvPr/>
        </p:nvSpPr>
        <p:spPr>
          <a:xfrm>
            <a:off x="239350" y="1316561"/>
            <a:ext cx="202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Markdown text</a:t>
            </a:r>
            <a:endParaRPr sz="1800">
              <a:solidFill>
                <a:srgbClr val="980000"/>
              </a:solidFill>
            </a:endParaRPr>
          </a:p>
        </p:txBody>
      </p:sp>
      <p:cxnSp>
        <p:nvCxnSpPr>
          <p:cNvPr id="231" name="Google Shape;231;p36"/>
          <p:cNvCxnSpPr/>
          <p:nvPr/>
        </p:nvCxnSpPr>
        <p:spPr>
          <a:xfrm flipH="1" rot="10800000">
            <a:off x="1900450" y="1542011"/>
            <a:ext cx="996900" cy="31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36"/>
          <p:cNvSpPr txBox="1"/>
          <p:nvPr/>
        </p:nvSpPr>
        <p:spPr>
          <a:xfrm>
            <a:off x="521775" y="2157077"/>
            <a:ext cx="8144700" cy="25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Can have as many as you like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Syntaxy to specify how to render text, e.g.,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#, ##, ## denote section headers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**text** italicizes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* Adds a bullet point</a:t>
            </a:r>
            <a:endParaRPr sz="18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https://rstudio.github.io/cheatsheets/html/rmarkdown.html#write-with-markdown</a:t>
            </a:r>
            <a:r>
              <a:rPr lang="en" sz="16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markdown: Rendering</a:t>
            </a:r>
            <a:endParaRPr/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rmarkdown::render()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Click “knit” button</a:t>
            </a:r>
            <a:endParaRPr/>
          </a:p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37"/>
          <p:cNvPicPr preferRelativeResize="0"/>
          <p:nvPr/>
        </p:nvPicPr>
        <p:blipFill rotWithShape="1">
          <a:blip r:embed="rId3">
            <a:alphaModFix/>
          </a:blip>
          <a:srcRect b="49302" l="0" r="65017" t="12041"/>
          <a:stretch/>
        </p:blipFill>
        <p:spPr>
          <a:xfrm>
            <a:off x="2823385" y="1208618"/>
            <a:ext cx="4358424" cy="2709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37"/>
          <p:cNvCxnSpPr/>
          <p:nvPr/>
        </p:nvCxnSpPr>
        <p:spPr>
          <a:xfrm flipH="1">
            <a:off x="5241200" y="513290"/>
            <a:ext cx="42300" cy="7209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practice</a:t>
            </a:r>
            <a:endParaRPr/>
          </a:p>
        </p:txBody>
      </p:sp>
      <p:sp>
        <p:nvSpPr>
          <p:cNvPr id="247" name="Google Shape;24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remainder of class I want you to try making your own Rmarkdown files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a blank R markdown file (or use the one we created earlier)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Populate it with content copied from a previous R script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Comments become text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Code is placed in code chunks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Once you’ve got something that looks good, try rendering it!</a:t>
            </a:r>
            <a:endParaRPr/>
          </a:p>
        </p:txBody>
      </p:sp>
      <p:sp>
        <p:nvSpPr>
          <p:cNvPr id="248" name="Google Shape;24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Read: 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https://doi.org/10.1126/science.aab2374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https://doi.org/10.1002/ece3.70030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be a quiz</a:t>
            </a:r>
            <a:endParaRPr/>
          </a:p>
        </p:txBody>
      </p:sp>
      <p:sp>
        <p:nvSpPr>
          <p:cNvPr id="254" name="Google Shape;25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