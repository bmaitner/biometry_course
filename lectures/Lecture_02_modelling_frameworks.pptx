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embeddedFontLst>
    <p:embeddedFont>
      <p:font typeface="Roboto"/>
      <p:regular r:id="rId60"/>
      <p:bold r:id="rId61"/>
      <p:italic r:id="rId62"/>
      <p:boldItalic r:id="rId63"/>
    </p:embeddedFont>
    <p:embeddedFont>
      <p:font typeface="Inter SemiBold"/>
      <p:regular r:id="rId64"/>
      <p:bold r:id="rId65"/>
      <p:italic r:id="rId66"/>
      <p:boldItalic r:id="rId67"/>
    </p:embeddedFont>
    <p:embeddedFont>
      <p:font typeface="Inter"/>
      <p:bold r:id="rId68"/>
      <p:boldItalic r:id="rId69"/>
    </p:embeddedFont>
    <p:embeddedFont>
      <p:font typeface="Inter ExtraBold"/>
      <p:bold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InterExtraBold-boldItalic.fntdata"/><Relationship Id="rId70" Type="http://schemas.openxmlformats.org/officeDocument/2006/relationships/font" Target="fonts/InterExtraBold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-italic.fntdata"/><Relationship Id="rId61" Type="http://schemas.openxmlformats.org/officeDocument/2006/relationships/font" Target="fonts/Roboto-bold.fntdata"/><Relationship Id="rId20" Type="http://schemas.openxmlformats.org/officeDocument/2006/relationships/slide" Target="slides/slide15.xml"/><Relationship Id="rId64" Type="http://schemas.openxmlformats.org/officeDocument/2006/relationships/font" Target="fonts/InterSemiBold-regular.fntdata"/><Relationship Id="rId63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66" Type="http://schemas.openxmlformats.org/officeDocument/2006/relationships/font" Target="fonts/InterSemiBold-italic.fntdata"/><Relationship Id="rId21" Type="http://schemas.openxmlformats.org/officeDocument/2006/relationships/slide" Target="slides/slide16.xml"/><Relationship Id="rId65" Type="http://schemas.openxmlformats.org/officeDocument/2006/relationships/font" Target="fonts/InterSemiBold-bold.fntdata"/><Relationship Id="rId24" Type="http://schemas.openxmlformats.org/officeDocument/2006/relationships/slide" Target="slides/slide19.xml"/><Relationship Id="rId68" Type="http://schemas.openxmlformats.org/officeDocument/2006/relationships/font" Target="fonts/Inter-bold.fntdata"/><Relationship Id="rId23" Type="http://schemas.openxmlformats.org/officeDocument/2006/relationships/slide" Target="slides/slide18.xml"/><Relationship Id="rId67" Type="http://schemas.openxmlformats.org/officeDocument/2006/relationships/font" Target="fonts/InterSemiBold-boldItalic.fntdata"/><Relationship Id="rId60" Type="http://schemas.openxmlformats.org/officeDocument/2006/relationships/font" Target="fonts/Robot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Inter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71dbcf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71dbcf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71dbcf0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871dbcf0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71dbcf0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871dbcf0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71dbcf0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71dbcf0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71dbcf0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71dbcf0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71dbcf0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871dbcf0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71dbcf0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871dbcf0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71dbcf0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71dbcf0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7e8978cb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7e8978cb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71dbcf0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71dbcf0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871dbcf0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871dbcf0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71dbcf0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871dbcf0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71dbcf0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871dbcf0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71dbcf05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71dbcf05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875a1ae9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875a1ae9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0B0B0B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Notes:</a:t>
            </a:r>
            <a:r>
              <a:rPr lang="en" sz="1000">
                <a:solidFill>
                  <a:srgbClr val="0B0B0B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 This is why we'll happily call R's optimisers and random number generators without deriving them, but will build the likelihood machinery by hand — sophistication in the tools, transparency in the reasoning.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7e8978cb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7e8978cb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7e8978cb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7e8978cb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7e8978cb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7e8978cb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875a1ae9e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875a1ae9e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875a1ae9e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875a1ae9e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875a1ae9e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875a1ae9e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875a1ae9e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875a1ae9e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875a1ae9e_1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875a1ae9e_1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75a1ae9e_1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875a1ae9e_1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75a1ae9e_1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875a1ae9e_1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875a1ae9e_1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875a1ae9e_1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75a1ae9e_1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875a1ae9e_1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875a1ae9e_1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875a1ae9e_1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875a1ae9e_1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875a1ae9e_1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875a1ae9e_1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875a1ae9e_1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875a1ae9e_1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875a1ae9e_1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875a1ae9e_1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875a1ae9e_1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7e8978cb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7e8978cb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7e8978cb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7e8978cb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7e8978cb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77e8978cb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7e8978cb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7e8978cb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7e8978cb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77e8978cb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7e8978cb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77e8978cb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7e8978cb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77e8978cb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7e8978cb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77e8978cb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77e8978cb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77e8978cb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875a1ae9e_1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875a1ae9e_1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7e8978cb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7e8978cb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875a1ae9e_1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f875a1ae9e_1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875a1ae9e_1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875a1ae9e_1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77e8978cb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77e8978cb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77e8978cb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77e8978cb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77e8978cb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77e8978cb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875a1ae9e_1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f875a1ae9e_1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875a1ae9e_1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f875a1ae9e_1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875a1ae9e_1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875a1ae9e_1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875a1ae9e_1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875a1ae9e_1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r-project.org/" TargetMode="External"/><Relationship Id="rId4" Type="http://schemas.openxmlformats.org/officeDocument/2006/relationships/hyperlink" Target="https://posit.co/download/rstudio-desktop/" TargetMode="External"/><Relationship Id="rId5" Type="http://schemas.openxmlformats.org/officeDocument/2006/relationships/hyperlink" Target="https://git-scm.com/downloads" TargetMode="External"/><Relationship Id="rId6" Type="http://schemas.openxmlformats.org/officeDocument/2006/relationships/hyperlink" Target="https://github.com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Frameworks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ecologists choose models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variability comes from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installation and setup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just run a correlation?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would you analyze this?</a:t>
            </a:r>
            <a:endParaRPr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Reef fish in the Caribbean. You have population counts through time, and underwater video of predator visits.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Question: does living at high density make a fish more likely to be eaten?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>
                <a:solidFill>
                  <a:srgbClr val="980000"/>
                </a:solidFill>
              </a:rPr>
              <a:t>How would you test this based on what you already know?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just run a correlation?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Challenges to deal with: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Correlation assumes bivariate normal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Regression assumes a linear relationship and normal errors.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Mortality counts are neither (also there were lots of zeros)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just run a correlation?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What Sandin &amp; Pacala (2005) did instead:</a:t>
            </a:r>
            <a:endParaRPr b="1" sz="19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W</a:t>
            </a:r>
            <a:r>
              <a:rPr lang="en" sz="2100"/>
              <a:t>rote the model down directly:</a:t>
            </a:r>
            <a:endParaRPr sz="2100"/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absolute mortality = r₀ + r₁n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per capita mortality = (r₀ + r₁n) / 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with binomial and Poisson variation instead of normal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just run a correlation?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Sandin &amp; Pacala (2005) did instead: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This yields predator visits per hour per additional prey individual. 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number has </a:t>
            </a:r>
            <a:r>
              <a:rPr i="1" lang="en"/>
              <a:t>ecological units</a:t>
            </a:r>
            <a:r>
              <a:rPr lang="en"/>
              <a:t> with real meaning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(not just a p-value or a slope on transformed data.)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course will help you add skills like this to your toolbox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(but also correlations and linear regressions)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to model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"I want to learn how to model"</a:t>
            </a:r>
            <a:endParaRPr sz="2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Too broad to act on.</a:t>
            </a:r>
            <a:endParaRPr sz="2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Compare: "I want to learn genetics."</a:t>
            </a:r>
            <a:endParaRPr sz="2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Population structure? Gene expression? Phylogenetics?</a:t>
            </a:r>
            <a:endParaRPr sz="2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Which question are you actually asking?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to model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This course covers one kind</a:t>
            </a:r>
            <a:endParaRPr sz="200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Statistical modelling, leaning mechanistic</a:t>
            </a:r>
            <a:endParaRPr sz="200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Lots of other modelling frameworks</a:t>
            </a:r>
            <a:endParaRPr sz="200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Sometimes frameworks can be combined</a:t>
            </a:r>
            <a:endParaRPr sz="2000"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should already know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should already know: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Statistics:</a:t>
            </a:r>
            <a:r>
              <a:rPr lang="en"/>
              <a:t> basic familiarity (e.g., one undergrad semester)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Computers:</a:t>
            </a:r>
            <a:r>
              <a:rPr lang="en"/>
              <a:t> beyond point-and-click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Math</a:t>
            </a:r>
            <a:r>
              <a:rPr lang="en"/>
              <a:t>: rusty calculus is fine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Ecology:</a:t>
            </a:r>
            <a:r>
              <a:rPr lang="en"/>
              <a:t> basics, e.g., growth, functional responses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Which is rustiest?</a:t>
            </a:r>
            <a:endParaRPr b="1">
              <a:solidFill>
                <a:srgbClr val="980000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Statistics? Computers? Math? Ecology?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book lists remedial reading for each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and repetition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often cover things multiple times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see why details matter, you need the big picture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grasp the big picture, you need some details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This also helps with long term memory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are some of the model choices mentioned?</a:t>
            </a:r>
            <a:endParaRPr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Scope and approach</a:t>
            </a:r>
            <a:endParaRPr b="1"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What is the model for?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abstract ↔ concrete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strategic ↔ tactical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general ↔ specific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theoretical ↔ applied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qualitative ↔ quantitative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descriptive ↔ predictive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mathematical ↔ statistical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mechanistic ↔ phenomenologica</a:t>
            </a: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pattern ↔ process</a:t>
            </a:r>
            <a:endParaRPr sz="2500"/>
          </a:p>
        </p:txBody>
      </p:sp>
      <p:sp>
        <p:nvSpPr>
          <p:cNvPr id="115" name="Google Shape;115;p23"/>
          <p:cNvSpPr txBox="1"/>
          <p:nvPr/>
        </p:nvSpPr>
        <p:spPr>
          <a:xfrm>
            <a:off x="0" y="4804800"/>
            <a:ext cx="884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Adapted from Bolker (2008), Table 1.1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</a:t>
            </a:r>
            <a:r>
              <a:rPr lang="en"/>
              <a:t>Generality has a price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Theoretical models:</a:t>
            </a:r>
            <a:r>
              <a:rPr lang="en" sz="16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 general, oversimplified</a:t>
            </a:r>
            <a:endParaRPr sz="16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Written in precise numbers of individuals, but used for qualitative predictions</a:t>
            </a:r>
            <a:endParaRPr sz="16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Applied models:</a:t>
            </a:r>
            <a:r>
              <a:rPr lang="en" sz="16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 messier, more specific, better at actual forecasts, harder data requirements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details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How is it built and analyzed?</a:t>
            </a:r>
            <a:endParaRPr i="1"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analytical ↔ computational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dynamic ↔ static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continuous ↔ discrete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population-based ↔ individual-based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deterministic ↔ stochastic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5"/>
          <p:cNvSpPr txBox="1"/>
          <p:nvPr/>
        </p:nvSpPr>
        <p:spPr>
          <a:xfrm>
            <a:off x="0" y="4804800"/>
            <a:ext cx="884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Adapted from Bolker (2008), Table 1.1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457200" y="3810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vs. Static Models</a:t>
            </a:r>
            <a:endParaRPr b="1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6"/>
          <p:cNvGrpSpPr/>
          <p:nvPr/>
        </p:nvGrpSpPr>
        <p:grpSpPr>
          <a:xfrm>
            <a:off x="457200" y="1190625"/>
            <a:ext cx="3943200" cy="2190900"/>
            <a:chOff x="0" y="0"/>
            <a:chExt cx="3943200" cy="2190900"/>
          </a:xfrm>
        </p:grpSpPr>
        <p:sp>
          <p:nvSpPr>
            <p:cNvPr id="135" name="Google Shape;135;p26"/>
            <p:cNvSpPr/>
            <p:nvPr/>
          </p:nvSpPr>
          <p:spPr>
            <a:xfrm>
              <a:off x="0" y="0"/>
              <a:ext cx="3943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6"/>
            <p:cNvSpPr txBox="1"/>
            <p:nvPr/>
          </p:nvSpPr>
          <p:spPr>
            <a:xfrm>
              <a:off x="0" y="0"/>
              <a:ext cx="3943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284C7"/>
                  </a:solidFill>
                  <a:latin typeface="Roboto"/>
                  <a:ea typeface="Roboto"/>
                  <a:cs typeface="Roboto"/>
                  <a:sym typeface="Roboto"/>
                </a:rPr>
                <a:t>Dynamic Models</a:t>
              </a:r>
              <a:endParaRPr b="1" sz="18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Most mathematical models</a:t>
              </a:r>
              <a:endParaRPr b="1" sz="14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Today's state feeds tomorrow's</a:t>
              </a:r>
              <a:endParaRPr b="1" sz="12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" name="Google Shape;137;p26"/>
          <p:cNvGrpSpPr/>
          <p:nvPr/>
        </p:nvGrpSpPr>
        <p:grpSpPr>
          <a:xfrm>
            <a:off x="4743450" y="1190625"/>
            <a:ext cx="3943200" cy="2190900"/>
            <a:chOff x="0" y="0"/>
            <a:chExt cx="3943200" cy="2190900"/>
          </a:xfrm>
        </p:grpSpPr>
        <p:sp>
          <p:nvSpPr>
            <p:cNvPr id="138" name="Google Shape;138;p26"/>
            <p:cNvSpPr/>
            <p:nvPr/>
          </p:nvSpPr>
          <p:spPr>
            <a:xfrm>
              <a:off x="0" y="0"/>
              <a:ext cx="3943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 txBox="1"/>
            <p:nvPr/>
          </p:nvSpPr>
          <p:spPr>
            <a:xfrm>
              <a:off x="0" y="0"/>
              <a:ext cx="3943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Static Models</a:t>
              </a:r>
              <a:endParaRPr b="1" sz="18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Most statistical models</a:t>
              </a:r>
              <a:endParaRPr b="1" sz="14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The relationship is fixed</a:t>
              </a:r>
              <a:endParaRPr b="1" sz="12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" name="Google Shape;140;p26"/>
          <p:cNvGrpSpPr/>
          <p:nvPr/>
        </p:nvGrpSpPr>
        <p:grpSpPr>
          <a:xfrm>
            <a:off x="457200" y="3667125"/>
            <a:ext cx="8229600" cy="952500"/>
            <a:chOff x="0" y="0"/>
            <a:chExt cx="8229600" cy="952500"/>
          </a:xfrm>
        </p:grpSpPr>
        <p:sp>
          <p:nvSpPr>
            <p:cNvPr id="141" name="Google Shape;141;p26"/>
            <p:cNvSpPr/>
            <p:nvPr/>
          </p:nvSpPr>
          <p:spPr>
            <a:xfrm>
              <a:off x="0" y="0"/>
              <a:ext cx="8229600" cy="952500"/>
            </a:xfrm>
            <a:prstGeom prst="roundRect">
              <a:avLst>
                <a:gd fmla="val 12000" name="adj"/>
              </a:avLst>
            </a:prstGeom>
            <a:solidFill>
              <a:srgbClr val="FFFBEB"/>
            </a:solidFill>
            <a:ln cap="flat" cmpd="sng" w="1430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6"/>
            <p:cNvSpPr txBox="1"/>
            <p:nvPr/>
          </p:nvSpPr>
          <p:spPr>
            <a:xfrm>
              <a:off x="0" y="0"/>
              <a:ext cx="8229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1400">
                  <a:solidFill>
                    <a:srgbClr val="B45309"/>
                  </a:solidFill>
                  <a:latin typeface="Roboto"/>
                  <a:ea typeface="Roboto"/>
                  <a:cs typeface="Roboto"/>
                  <a:sym typeface="Roboto"/>
                </a:rPr>
                <a:t>Combining them is hard</a:t>
              </a:r>
              <a:r>
                <a:rPr b="1" lang="en">
                  <a:solidFill>
                    <a:srgbClr val="B45309"/>
                  </a:solidFill>
                  <a:latin typeface="Roboto"/>
                  <a:ea typeface="Roboto"/>
                  <a:cs typeface="Roboto"/>
                  <a:sym typeface="Roboto"/>
                </a:rPr>
                <a:t> (Chapter 11)</a:t>
              </a:r>
              <a:endParaRPr b="0" sz="1100">
                <a:solidFill>
                  <a:srgbClr val="78350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3" name="Google Shape;143;p26"/>
          <p:cNvSpPr txBox="1"/>
          <p:nvPr/>
        </p:nvSpPr>
        <p:spPr>
          <a:xfrm>
            <a:off x="0" y="4804800"/>
            <a:ext cx="884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Adapted from Bolker (2008), Table 1.1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457200" y="381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Sophistication</a:t>
            </a:r>
            <a:endParaRPr b="1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27"/>
          <p:cNvGrpSpPr/>
          <p:nvPr/>
        </p:nvGrpSpPr>
        <p:grpSpPr>
          <a:xfrm>
            <a:off x="457200" y="1190625"/>
            <a:ext cx="3943200" cy="2190900"/>
            <a:chOff x="0" y="0"/>
            <a:chExt cx="3943200" cy="2190900"/>
          </a:xfrm>
        </p:grpSpPr>
        <p:sp>
          <p:nvSpPr>
            <p:cNvPr id="150" name="Google Shape;150;p27"/>
            <p:cNvSpPr/>
            <p:nvPr/>
          </p:nvSpPr>
          <p:spPr>
            <a:xfrm>
              <a:off x="0" y="0"/>
              <a:ext cx="3943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 txBox="1"/>
            <p:nvPr/>
          </p:nvSpPr>
          <p:spPr>
            <a:xfrm>
              <a:off x="0" y="0"/>
              <a:ext cx="3943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284C7"/>
                  </a:solidFill>
                  <a:latin typeface="Roboto"/>
                  <a:ea typeface="Roboto"/>
                  <a:cs typeface="Roboto"/>
                  <a:sym typeface="Roboto"/>
                </a:rPr>
                <a:t>Simple ↔ Complex</a:t>
              </a:r>
              <a:endParaRPr b="1" sz="18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How long is the description?</a:t>
              </a:r>
              <a:endParaRPr b="0" sz="1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" name="Google Shape;152;p27"/>
          <p:cNvGrpSpPr/>
          <p:nvPr/>
        </p:nvGrpSpPr>
        <p:grpSpPr>
          <a:xfrm>
            <a:off x="4743450" y="1190625"/>
            <a:ext cx="3943200" cy="2190900"/>
            <a:chOff x="0" y="0"/>
            <a:chExt cx="3943200" cy="2190900"/>
          </a:xfrm>
        </p:grpSpPr>
        <p:sp>
          <p:nvSpPr>
            <p:cNvPr id="153" name="Google Shape;153;p27"/>
            <p:cNvSpPr/>
            <p:nvPr/>
          </p:nvSpPr>
          <p:spPr>
            <a:xfrm>
              <a:off x="0" y="0"/>
              <a:ext cx="3943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7"/>
            <p:cNvSpPr txBox="1"/>
            <p:nvPr/>
          </p:nvSpPr>
          <p:spPr>
            <a:xfrm>
              <a:off x="0" y="0"/>
              <a:ext cx="3943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Crude ↔ Sophisticated</a:t>
              </a:r>
              <a:endParaRPr b="1" sz="18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2514E"/>
                  </a:solidFill>
                  <a:highlight>
                    <a:srgbClr val="FCFCFB"/>
                  </a:highlight>
                  <a:latin typeface="Roboto"/>
                  <a:ea typeface="Roboto"/>
                  <a:cs typeface="Roboto"/>
                  <a:sym typeface="Roboto"/>
                </a:rPr>
                <a:t>How much conceptual depth is hidden?</a:t>
              </a:r>
              <a:r>
                <a:rPr lang="en"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" name="Google Shape;155;p27"/>
          <p:cNvGrpSpPr/>
          <p:nvPr/>
        </p:nvGrpSpPr>
        <p:grpSpPr>
          <a:xfrm>
            <a:off x="457200" y="3667125"/>
            <a:ext cx="8229600" cy="952500"/>
            <a:chOff x="0" y="0"/>
            <a:chExt cx="8229600" cy="952500"/>
          </a:xfrm>
        </p:grpSpPr>
        <p:sp>
          <p:nvSpPr>
            <p:cNvPr id="156" name="Google Shape;156;p27"/>
            <p:cNvSpPr/>
            <p:nvPr/>
          </p:nvSpPr>
          <p:spPr>
            <a:xfrm>
              <a:off x="0" y="0"/>
              <a:ext cx="8229600" cy="952500"/>
            </a:xfrm>
            <a:prstGeom prst="roundRect">
              <a:avLst>
                <a:gd fmla="val 12000" name="adj"/>
              </a:avLst>
            </a:prstGeom>
            <a:solidFill>
              <a:srgbClr val="FFFBEB"/>
            </a:solidFill>
            <a:ln cap="flat" cmpd="sng" w="1430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7"/>
            <p:cNvSpPr txBox="1"/>
            <p:nvPr/>
          </p:nvSpPr>
          <p:spPr>
            <a:xfrm>
              <a:off x="0" y="0"/>
              <a:ext cx="8229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B45309"/>
                  </a:solidFill>
                  <a:latin typeface="Roboto"/>
                  <a:ea typeface="Roboto"/>
                  <a:cs typeface="Roboto"/>
                  <a:sym typeface="Roboto"/>
                </a:rPr>
                <a:t>Note on Model Classification</a:t>
              </a:r>
              <a:endParaRPr b="1" sz="1400">
                <a:solidFill>
                  <a:srgbClr val="B4530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78350F"/>
                  </a:solidFill>
                  <a:latin typeface="Roboto"/>
                  <a:ea typeface="Roboto"/>
                  <a:cs typeface="Roboto"/>
                  <a:sym typeface="Roboto"/>
                </a:rPr>
                <a:t>A model can be simple and sophisticated at once</a:t>
              </a:r>
              <a:endParaRPr b="0" sz="1500">
                <a:solidFill>
                  <a:srgbClr val="78350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8" name="Google Shape;158;p27"/>
          <p:cNvSpPr txBox="1"/>
          <p:nvPr/>
        </p:nvSpPr>
        <p:spPr>
          <a:xfrm>
            <a:off x="0" y="4804800"/>
            <a:ext cx="884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Adapted from Bolker (2008), Table 1.1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8"/>
          <p:cNvGrpSpPr/>
          <p:nvPr/>
        </p:nvGrpSpPr>
        <p:grpSpPr>
          <a:xfrm>
            <a:off x="457200" y="381000"/>
            <a:ext cx="8229600" cy="571500"/>
            <a:chOff x="0" y="0"/>
            <a:chExt cx="8229600" cy="571500"/>
          </a:xfrm>
        </p:grpSpPr>
        <p:sp>
          <p:nvSpPr>
            <p:cNvPr id="164" name="Google Shape;164;p28"/>
            <p:cNvSpPr/>
            <p:nvPr/>
          </p:nvSpPr>
          <p:spPr>
            <a:xfrm>
              <a:off x="0" y="0"/>
              <a:ext cx="82296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8"/>
            <p:cNvSpPr txBox="1"/>
            <p:nvPr/>
          </p:nvSpPr>
          <p:spPr>
            <a:xfrm>
              <a:off x="0" y="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Note: Simple is not crude</a:t>
              </a:r>
              <a:endParaRPr b="1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28"/>
          <p:cNvGrpSpPr/>
          <p:nvPr/>
        </p:nvGrpSpPr>
        <p:grpSpPr>
          <a:xfrm>
            <a:off x="457200" y="1190625"/>
            <a:ext cx="2514600" cy="2190900"/>
            <a:chOff x="0" y="0"/>
            <a:chExt cx="2514600" cy="2190900"/>
          </a:xfrm>
        </p:grpSpPr>
        <p:sp>
          <p:nvSpPr>
            <p:cNvPr id="167" name="Google Shape;167;p28"/>
            <p:cNvSpPr/>
            <p:nvPr/>
          </p:nvSpPr>
          <p:spPr>
            <a:xfrm>
              <a:off x="0" y="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8"/>
            <p:cNvSpPr txBox="1"/>
            <p:nvPr/>
          </p:nvSpPr>
          <p:spPr>
            <a:xfrm>
              <a:off x="0" y="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Virtual Coin Flips</a:t>
              </a:r>
              <a:endParaRPr b="1" sz="18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284C7"/>
                  </a:solidFill>
                  <a:latin typeface="Roboto"/>
                  <a:ea typeface="Roboto"/>
                  <a:cs typeface="Roboto"/>
                  <a:sym typeface="Roboto"/>
                </a:rPr>
                <a:t>Simple, crude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9" name="Google Shape;169;p28"/>
          <p:cNvGrpSpPr/>
          <p:nvPr/>
        </p:nvGrpSpPr>
        <p:grpSpPr>
          <a:xfrm>
            <a:off x="3314700" y="1190625"/>
            <a:ext cx="2514600" cy="2190900"/>
            <a:chOff x="0" y="0"/>
            <a:chExt cx="2514600" cy="2190900"/>
          </a:xfrm>
        </p:grpSpPr>
        <p:sp>
          <p:nvSpPr>
            <p:cNvPr id="170" name="Google Shape;170;p28"/>
            <p:cNvSpPr/>
            <p:nvPr/>
          </p:nvSpPr>
          <p:spPr>
            <a:xfrm>
              <a:off x="0" y="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 txBox="1"/>
            <p:nvPr/>
          </p:nvSpPr>
          <p:spPr>
            <a:xfrm>
              <a:off x="0" y="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rbinom()</a:t>
              </a:r>
              <a:endParaRPr b="1" sz="18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284C7"/>
                  </a:solidFill>
                  <a:latin typeface="Roboto"/>
                  <a:ea typeface="Roboto"/>
                  <a:cs typeface="Roboto"/>
                  <a:sym typeface="Roboto"/>
                </a:rPr>
                <a:t>Simple, sophisticated</a:t>
              </a:r>
              <a:endParaRPr b="1" sz="14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2" name="Google Shape;172;p28"/>
          <p:cNvGrpSpPr/>
          <p:nvPr/>
        </p:nvGrpSpPr>
        <p:grpSpPr>
          <a:xfrm>
            <a:off x="6172200" y="1190625"/>
            <a:ext cx="2514600" cy="2190900"/>
            <a:chOff x="0" y="0"/>
            <a:chExt cx="2514600" cy="2190900"/>
          </a:xfrm>
        </p:grpSpPr>
        <p:sp>
          <p:nvSpPr>
            <p:cNvPr id="173" name="Google Shape;173;p28"/>
            <p:cNvSpPr/>
            <p:nvPr/>
          </p:nvSpPr>
          <p:spPr>
            <a:xfrm>
              <a:off x="0" y="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8"/>
            <p:cNvSpPr txBox="1"/>
            <p:nvPr/>
          </p:nvSpPr>
          <p:spPr>
            <a:xfrm>
              <a:off x="0" y="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Random Walk</a:t>
              </a:r>
              <a:endParaRPr b="1" sz="18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284C7"/>
                  </a:solidFill>
                  <a:latin typeface="Roboto"/>
                  <a:ea typeface="Roboto"/>
                  <a:cs typeface="Roboto"/>
                  <a:sym typeface="Roboto"/>
                </a:rPr>
                <a:t>Simpler still, more sophisticated</a:t>
              </a:r>
              <a:endParaRPr b="1" sz="14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2514E"/>
                  </a:solidFill>
                  <a:highlight>
                    <a:srgbClr val="FCFCFB"/>
                  </a:highlight>
                  <a:latin typeface="Roboto"/>
                  <a:ea typeface="Roboto"/>
                  <a:cs typeface="Roboto"/>
                  <a:sym typeface="Roboto"/>
                </a:rPr>
                <a:t>predicts any birth/death rate without simulating</a:t>
              </a:r>
              <a:r>
                <a:rPr lang="en" sz="1300">
                  <a:solidFill>
                    <a:schemeClr val="dk1"/>
                  </a:solidFill>
                </a:rPr>
                <a:t> </a:t>
              </a:r>
              <a:endParaRPr b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28"/>
          <p:cNvGrpSpPr/>
          <p:nvPr/>
        </p:nvGrpSpPr>
        <p:grpSpPr>
          <a:xfrm>
            <a:off x="457200" y="3667125"/>
            <a:ext cx="8229600" cy="952500"/>
            <a:chOff x="0" y="0"/>
            <a:chExt cx="8229600" cy="952500"/>
          </a:xfrm>
        </p:grpSpPr>
        <p:sp>
          <p:nvSpPr>
            <p:cNvPr id="176" name="Google Shape;176;p28"/>
            <p:cNvSpPr/>
            <p:nvPr/>
          </p:nvSpPr>
          <p:spPr>
            <a:xfrm>
              <a:off x="0" y="0"/>
              <a:ext cx="8229600" cy="952500"/>
            </a:xfrm>
            <a:prstGeom prst="roundRect">
              <a:avLst>
                <a:gd fmla="val 12000" name="adj"/>
              </a:avLst>
            </a:prstGeom>
            <a:solidFill>
              <a:srgbClr val="FFFBEB"/>
            </a:solidFill>
            <a:ln cap="flat" cmpd="sng" w="1430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8"/>
            <p:cNvSpPr txBox="1"/>
            <p:nvPr/>
          </p:nvSpPr>
          <p:spPr>
            <a:xfrm>
              <a:off x="0" y="0"/>
              <a:ext cx="8229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88">
                  <a:solidFill>
                    <a:srgbClr val="B45309"/>
                  </a:solidFill>
                  <a:latin typeface="Roboto"/>
                  <a:ea typeface="Roboto"/>
                  <a:cs typeface="Roboto"/>
                  <a:sym typeface="Roboto"/>
                </a:rPr>
                <a:t>Sophistication buys power, costs transparency</a:t>
              </a:r>
              <a:endParaRPr b="1" sz="1588">
                <a:solidFill>
                  <a:srgbClr val="B4530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18">
                <a:solidFill>
                  <a:srgbClr val="78350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8" name="Google Shape;178;p28"/>
          <p:cNvSpPr txBox="1"/>
          <p:nvPr/>
        </p:nvSpPr>
        <p:spPr>
          <a:xfrm>
            <a:off x="0" y="4804800"/>
            <a:ext cx="884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Adapted from Bolker (2008), Table 1.1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Why are there so many different options?</a:t>
            </a:r>
            <a:endParaRPr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are there so many different options?</a:t>
            </a:r>
            <a:endParaRPr b="1"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Trade-offs: models differ in when they’re useful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E.g., mechanistic models can be linked to specific mechanisms,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but</a:t>
            </a:r>
            <a:r>
              <a:rPr lang="en"/>
              <a:t> may require more data!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You’ll have to consider these trade-offs when selecting methods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Questions?</a:t>
            </a:r>
            <a:endParaRPr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shape you've seen before</a:t>
            </a:r>
            <a:endParaRPr b="1"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76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Describe it in words.</a:t>
            </a:r>
            <a:endParaRPr sz="20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Where else have you seen this shape?</a:t>
            </a:r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 rotWithShape="1">
          <a:blip r:embed="rId3">
            <a:alphaModFix/>
          </a:blip>
          <a:srcRect b="3975" l="0" r="0" t="20450"/>
          <a:stretch/>
        </p:blipFill>
        <p:spPr>
          <a:xfrm>
            <a:off x="311700" y="1033551"/>
            <a:ext cx="5628375" cy="239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 ways to end up here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A. I needed a curve that starts at zero, rises, then flattens. This one does.</a:t>
            </a:r>
            <a:endParaRPr sz="19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B. A predator can only handle so many prey per hour.</a:t>
            </a:r>
            <a:endParaRPr sz="19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Mechanistic vs </a:t>
            </a:r>
            <a:r>
              <a:rPr b="1" lang="en" sz="19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Phenomenological</a:t>
            </a:r>
            <a:r>
              <a:rPr b="1" lang="en" sz="19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lang="en" sz="19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Which is which?</a:t>
            </a:r>
            <a:endParaRPr b="1" sz="19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Same curve, different claim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f(x)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ax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(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version has a name: Holling type II functional response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Here, a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are attack rate and handling time.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only interpret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that way if that's why you chose the curve.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does it matter?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Chose it for its shape? </a:t>
            </a:r>
            <a:endParaRPr sz="17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You can </a:t>
            </a:r>
            <a:r>
              <a:rPr i="1"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describe</a:t>
            </a: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 your data.</a:t>
            </a:r>
            <a:endParaRPr sz="17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Chose it for the mechanism?</a:t>
            </a:r>
            <a:endParaRPr sz="17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You can talk about the </a:t>
            </a:r>
            <a:r>
              <a:rPr i="1"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process</a:t>
            </a: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i="1"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 extrapolate further</a:t>
            </a: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, and be wrong in a specific way.</a:t>
            </a:r>
            <a:endParaRPr sz="17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36"/>
          <p:cNvGrpSpPr/>
          <p:nvPr/>
        </p:nvGrpSpPr>
        <p:grpSpPr>
          <a:xfrm>
            <a:off x="476250" y="428625"/>
            <a:ext cx="8191500" cy="571500"/>
            <a:chOff x="0" y="0"/>
            <a:chExt cx="8191500" cy="571500"/>
          </a:xfrm>
        </p:grpSpPr>
        <p:sp>
          <p:nvSpPr>
            <p:cNvPr id="225" name="Google Shape;225;p36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6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Two parts to every model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7" name="Google Shape;227;p36"/>
          <p:cNvGrpSpPr/>
          <p:nvPr/>
        </p:nvGrpSpPr>
        <p:grpSpPr>
          <a:xfrm>
            <a:off x="476250" y="1285875"/>
            <a:ext cx="3952800" cy="2143200"/>
            <a:chOff x="0" y="0"/>
            <a:chExt cx="3952800" cy="2143200"/>
          </a:xfrm>
        </p:grpSpPr>
        <p:sp>
          <p:nvSpPr>
            <p:cNvPr id="228" name="Google Shape;228;p36"/>
            <p:cNvSpPr/>
            <p:nvPr/>
          </p:nvSpPr>
          <p:spPr>
            <a:xfrm>
              <a:off x="0" y="0"/>
              <a:ext cx="3952800" cy="2143200"/>
            </a:xfrm>
            <a:prstGeom prst="roundRect">
              <a:avLst>
                <a:gd fmla="val 71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6"/>
            <p:cNvSpPr/>
            <p:nvPr/>
          </p:nvSpPr>
          <p:spPr>
            <a:xfrm>
              <a:off x="0" y="590550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6"/>
            <p:cNvSpPr txBox="1"/>
            <p:nvPr/>
          </p:nvSpPr>
          <p:spPr>
            <a:xfrm>
              <a:off x="0" y="0"/>
              <a:ext cx="39528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timeline</a:t>
              </a:r>
              <a:r>
                <a:rPr b="1" lang="en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Deterministic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expected pattern</a:t>
              </a:r>
              <a:endParaRPr b="0" sz="13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structured, predictable core relationships modeled by mathematical formulas.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1" name="Google Shape;231;p36"/>
          <p:cNvGrpSpPr/>
          <p:nvPr/>
        </p:nvGrpSpPr>
        <p:grpSpPr>
          <a:xfrm>
            <a:off x="4714875" y="1285875"/>
            <a:ext cx="3952800" cy="2143200"/>
            <a:chOff x="0" y="0"/>
            <a:chExt cx="3952800" cy="2143200"/>
          </a:xfrm>
        </p:grpSpPr>
        <p:sp>
          <p:nvSpPr>
            <p:cNvPr id="232" name="Google Shape;232;p36"/>
            <p:cNvSpPr/>
            <p:nvPr/>
          </p:nvSpPr>
          <p:spPr>
            <a:xfrm>
              <a:off x="0" y="0"/>
              <a:ext cx="3952800" cy="2143200"/>
            </a:xfrm>
            <a:prstGeom prst="roundRect">
              <a:avLst>
                <a:gd fmla="val 71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0" y="590550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6"/>
            <p:cNvSpPr txBox="1"/>
            <p:nvPr/>
          </p:nvSpPr>
          <p:spPr>
            <a:xfrm>
              <a:off x="0" y="0"/>
              <a:ext cx="39528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grain</a:t>
              </a:r>
              <a:r>
                <a:rPr b="1" lang="en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Stochastic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How observations scatter</a:t>
              </a:r>
              <a:endParaRPr b="0" sz="13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random, unpredictable variation or noise superimposed on top of the system's deterministic trend.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5" name="Google Shape;235;p36"/>
          <p:cNvGrpSpPr/>
          <p:nvPr/>
        </p:nvGrpSpPr>
        <p:grpSpPr>
          <a:xfrm>
            <a:off x="476250" y="3714750"/>
            <a:ext cx="8191500" cy="904800"/>
            <a:chOff x="0" y="0"/>
            <a:chExt cx="8191500" cy="904800"/>
          </a:xfrm>
        </p:grpSpPr>
        <p:sp>
          <p:nvSpPr>
            <p:cNvPr id="236" name="Google Shape;236;p36"/>
            <p:cNvSpPr/>
            <p:nvPr/>
          </p:nvSpPr>
          <p:spPr>
            <a:xfrm>
              <a:off x="0" y="0"/>
              <a:ext cx="8191500" cy="904800"/>
            </a:xfrm>
            <a:prstGeom prst="roundRect">
              <a:avLst>
                <a:gd fmla="val 16842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0" y="0"/>
              <a:ext cx="57300" cy="904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6"/>
            <p:cNvSpPr txBox="1"/>
            <p:nvPr/>
          </p:nvSpPr>
          <p:spPr>
            <a:xfrm>
              <a:off x="0" y="0"/>
              <a:ext cx="8191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2857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We've done the first part. </a:t>
              </a:r>
              <a:r>
                <a:rPr b="1" lang="en" sz="14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Where does the scatter come from?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/>
        </p:nvSpPr>
        <p:spPr>
          <a:xfrm>
            <a:off x="476250" y="4286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Three Kinds of Randomness</a:t>
            </a:r>
            <a:endParaRPr b="0" sz="2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44" name="Google Shape;244;p37"/>
          <p:cNvGrpSpPr/>
          <p:nvPr/>
        </p:nvGrpSpPr>
        <p:grpSpPr>
          <a:xfrm>
            <a:off x="476250" y="1285875"/>
            <a:ext cx="2533800" cy="3238500"/>
            <a:chOff x="0" y="0"/>
            <a:chExt cx="2533800" cy="3238500"/>
          </a:xfrm>
        </p:grpSpPr>
        <p:sp>
          <p:nvSpPr>
            <p:cNvPr id="245" name="Google Shape;245;p37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601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7"/>
            <p:cNvSpPr/>
            <p:nvPr/>
          </p:nvSpPr>
          <p:spPr>
            <a:xfrm>
              <a:off x="0" y="381000"/>
              <a:ext cx="76200" cy="11430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7"/>
            <p:cNvSpPr txBox="1"/>
            <p:nvPr/>
          </p:nvSpPr>
          <p:spPr>
            <a:xfrm>
              <a:off x="0" y="0"/>
              <a:ext cx="25338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Measurement Error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rPr b="0" lang="en" sz="12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Observation Noise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8" name="Google Shape;248;p37"/>
          <p:cNvGrpSpPr/>
          <p:nvPr/>
        </p:nvGrpSpPr>
        <p:grpSpPr>
          <a:xfrm>
            <a:off x="3305175" y="1285875"/>
            <a:ext cx="2533800" cy="3238500"/>
            <a:chOff x="0" y="0"/>
            <a:chExt cx="2533800" cy="3238500"/>
          </a:xfrm>
        </p:grpSpPr>
        <p:sp>
          <p:nvSpPr>
            <p:cNvPr id="249" name="Google Shape;249;p37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601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7"/>
            <p:cNvSpPr/>
            <p:nvPr/>
          </p:nvSpPr>
          <p:spPr>
            <a:xfrm>
              <a:off x="0" y="381000"/>
              <a:ext cx="76200" cy="1143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7"/>
            <p:cNvSpPr txBox="1"/>
            <p:nvPr/>
          </p:nvSpPr>
          <p:spPr>
            <a:xfrm>
              <a:off x="0" y="0"/>
              <a:ext cx="25338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park</a:t>
              </a: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park</a:t>
              </a:r>
              <a:r>
                <a:rPr lang="en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park</a:t>
              </a:r>
              <a:endParaRPr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Demographic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rPr b="0" lang="en" sz="12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Individual Heterogeneity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2" name="Google Shape;252;p37"/>
          <p:cNvGrpSpPr/>
          <p:nvPr/>
        </p:nvGrpSpPr>
        <p:grpSpPr>
          <a:xfrm>
            <a:off x="6134100" y="1285875"/>
            <a:ext cx="2533800" cy="3238500"/>
            <a:chOff x="0" y="0"/>
            <a:chExt cx="2533800" cy="3238500"/>
          </a:xfrm>
        </p:grpSpPr>
        <p:sp>
          <p:nvSpPr>
            <p:cNvPr id="253" name="Google Shape;253;p37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601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7"/>
            <p:cNvSpPr/>
            <p:nvPr/>
          </p:nvSpPr>
          <p:spPr>
            <a:xfrm>
              <a:off x="0" y="381000"/>
              <a:ext cx="76200" cy="11430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7"/>
            <p:cNvSpPr txBox="1"/>
            <p:nvPr/>
          </p:nvSpPr>
          <p:spPr>
            <a:xfrm>
              <a:off x="0" y="0"/>
              <a:ext cx="25338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thermostat</a:t>
              </a:r>
              <a:r>
                <a:rPr lang="en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thermostat</a:t>
              </a:r>
              <a:endParaRPr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Environmental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rPr b="0" lang="en" sz="12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External Heterogeneity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/>
              <a:t>Measurement error</a:t>
            </a:r>
            <a:endParaRPr b="1" sz="2600"/>
          </a:p>
        </p:txBody>
      </p:sp>
      <p:sp>
        <p:nvSpPr>
          <p:cNvPr id="261" name="Google Shape;26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are (usually) i</a:t>
            </a:r>
            <a:r>
              <a:rPr lang="en"/>
              <a:t>mperfect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Measurements have intrinsic limits (e.g., nearest m or mm)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Almost always present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Usually modelled as normal variation around a mean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Demographic stochasticity</a:t>
            </a:r>
            <a:endParaRPr b="1"/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Different outcomes, due to chance alone.Different outcomes, by chance alone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One coin, 20 flips: 9 heads. Or 10. Or 11.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50% survival of 9 individuals: 4 or 5 survive, never 4.5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Matters most in small populations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20 identical tadpoles, one predator, a different number eaten each time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Environmental stochasticity</a:t>
            </a:r>
            <a:endParaRPr b="1"/>
          </a:p>
        </p:txBody>
      </p:sp>
      <p:sp>
        <p:nvSpPr>
          <p:cNvPr id="273" name="Google Shape;27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Variability from outside the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Climate, season, topography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Only the unpredictable part (predictable seasonal change is deterministic)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Process vs. measurement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Demographic + environmental stochasticity = process variability</a:t>
            </a:r>
            <a:endParaRPr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Process variability changes what happens next in a system</a:t>
            </a:r>
            <a:endParaRPr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Measurement error doesn’t</a:t>
            </a:r>
            <a:endParaRPr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Process vs. Measurement: Why It Matters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42"/>
          <p:cNvGrpSpPr/>
          <p:nvPr/>
        </p:nvGrpSpPr>
        <p:grpSpPr>
          <a:xfrm>
            <a:off x="381000" y="1047750"/>
            <a:ext cx="8382000" cy="571500"/>
            <a:chOff x="0" y="0"/>
            <a:chExt cx="8382000" cy="571500"/>
          </a:xfrm>
        </p:grpSpPr>
        <p:sp>
          <p:nvSpPr>
            <p:cNvPr id="286" name="Google Shape;286;p42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2"/>
            <p:cNvSpPr txBox="1"/>
            <p:nvPr/>
          </p:nvSpPr>
          <p:spPr>
            <a:xfrm>
              <a:off x="19050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scenario</a:t>
              </a:r>
              <a:r>
                <a:rPr b="1" lang="en" sz="2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en" sz="2200">
                  <a:solidFill>
                    <a:srgbClr val="0F172A"/>
                  </a:solidFill>
                </a:rPr>
                <a:t>A plot has 12 seedlings.</a:t>
              </a:r>
              <a:endParaRPr sz="2200">
                <a:solidFill>
                  <a:srgbClr val="0F172A"/>
                </a:solidFill>
              </a:endParaRPr>
            </a:p>
          </p:txBody>
        </p:sp>
      </p:grpSp>
      <p:grpSp>
        <p:nvGrpSpPr>
          <p:cNvPr id="288" name="Google Shape;288;p42"/>
          <p:cNvGrpSpPr/>
          <p:nvPr/>
        </p:nvGrpSpPr>
        <p:grpSpPr>
          <a:xfrm>
            <a:off x="381000" y="1809750"/>
            <a:ext cx="4000500" cy="2762400"/>
            <a:chOff x="0" y="0"/>
            <a:chExt cx="4000500" cy="2762400"/>
          </a:xfrm>
        </p:grpSpPr>
        <p:sp>
          <p:nvSpPr>
            <p:cNvPr id="289" name="Google Shape;289;p42"/>
            <p:cNvSpPr/>
            <p:nvPr/>
          </p:nvSpPr>
          <p:spPr>
            <a:xfrm>
              <a:off x="0" y="0"/>
              <a:ext cx="4000500" cy="2762400"/>
            </a:xfrm>
            <a:prstGeom prst="roundRect">
              <a:avLst>
                <a:gd fmla="val 4137" name="adj"/>
              </a:avLst>
            </a:prstGeom>
            <a:solidFill>
              <a:srgbClr val="EFF6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2"/>
            <p:cNvSpPr txBox="1"/>
            <p:nvPr/>
          </p:nvSpPr>
          <p:spPr>
            <a:xfrm>
              <a:off x="285750" y="285750"/>
              <a:ext cx="3429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Measurement Error</a:t>
              </a:r>
              <a:endParaRPr b="1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What happens:</a:t>
              </a:r>
              <a:endParaRPr b="1" sz="17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1E40AF"/>
                  </a:solidFill>
                </a:rPr>
                <a:t>You miscount and record 9.</a:t>
              </a:r>
              <a:endParaRPr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The consequence:</a:t>
              </a:r>
              <a:endParaRPr b="1" sz="17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1E40AF"/>
                  </a:solidFill>
                </a:rPr>
                <a:t>Recount next week: find 12.</a:t>
              </a:r>
              <a:endParaRPr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42"/>
          <p:cNvGrpSpPr/>
          <p:nvPr/>
        </p:nvGrpSpPr>
        <p:grpSpPr>
          <a:xfrm>
            <a:off x="4762500" y="1809750"/>
            <a:ext cx="4000500" cy="2762400"/>
            <a:chOff x="0" y="0"/>
            <a:chExt cx="4000500" cy="2762400"/>
          </a:xfrm>
        </p:grpSpPr>
        <p:sp>
          <p:nvSpPr>
            <p:cNvPr id="292" name="Google Shape;292;p42"/>
            <p:cNvSpPr/>
            <p:nvPr/>
          </p:nvSpPr>
          <p:spPr>
            <a:xfrm>
              <a:off x="0" y="0"/>
              <a:ext cx="4000500" cy="2762400"/>
            </a:xfrm>
            <a:prstGeom prst="roundRect">
              <a:avLst>
                <a:gd fmla="val 4137" name="adj"/>
              </a:avLst>
            </a:prstGeom>
            <a:solidFill>
              <a:srgbClr val="FEF2F2"/>
            </a:solidFill>
            <a:ln cap="flat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2"/>
            <p:cNvSpPr txBox="1"/>
            <p:nvPr/>
          </p:nvSpPr>
          <p:spPr>
            <a:xfrm>
              <a:off x="285750" y="285750"/>
              <a:ext cx="3429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Process Error</a:t>
              </a:r>
              <a:endParaRPr b="1" sz="22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7F1D1D"/>
                  </a:solidFill>
                  <a:latin typeface="Arial"/>
                  <a:ea typeface="Arial"/>
                  <a:cs typeface="Arial"/>
                  <a:sym typeface="Arial"/>
                </a:rPr>
                <a:t>What happens:</a:t>
              </a:r>
              <a:endParaRPr b="1" sz="1700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991B1B"/>
                  </a:solidFill>
                </a:rPr>
                <a:t>A deer eats 3.</a:t>
              </a:r>
              <a:endParaRPr sz="16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7F1D1D"/>
                  </a:solidFill>
                  <a:latin typeface="Arial"/>
                  <a:ea typeface="Arial"/>
                  <a:cs typeface="Arial"/>
                  <a:sym typeface="Arial"/>
                </a:rPr>
                <a:t>The consequence:</a:t>
              </a:r>
              <a:endParaRPr b="1" sz="1700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.Recount next week: 9, and 9 forever.</a:t>
              </a:r>
              <a:endParaRPr sz="16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Error types</a:t>
            </a:r>
            <a:r>
              <a:rPr b="1" lang="en"/>
              <a:t>: your turn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Sort these into measurement / demographic / environmental :</a:t>
            </a:r>
            <a:endParaRPr b="1"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2514E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52514E"/>
                </a:solidFill>
              </a:rPr>
              <a:t>Two observers, same transect, different counts</a:t>
            </a:r>
            <a:endParaRPr>
              <a:solidFill>
                <a:srgbClr val="52514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2514E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52514E"/>
                </a:solidFill>
              </a:rPr>
              <a:t>A hurricane kills a seedling cohort</a:t>
            </a:r>
            <a:endParaRPr>
              <a:solidFill>
                <a:srgbClr val="52514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2514E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52514E"/>
                </a:solidFill>
              </a:rPr>
              <a:t>50 tagged fish: 12 survive, then 15</a:t>
            </a:r>
            <a:endParaRPr>
              <a:solidFill>
                <a:srgbClr val="52514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2514E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52514E"/>
                </a:solidFill>
              </a:rPr>
              <a:t>A thermometer reads 0.4 °C higher than true</a:t>
            </a:r>
            <a:endParaRPr>
              <a:solidFill>
                <a:srgbClr val="52514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2514E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52514E"/>
                </a:solidFill>
              </a:rPr>
              <a:t>Seedlings differ with small-scale light</a:t>
            </a:r>
            <a:endParaRPr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Your own system</a:t>
            </a:r>
            <a:endParaRPr b="1"/>
          </a:p>
        </p:txBody>
      </p:sp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80000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Think of one question you’d like to ask in your system.</a:t>
            </a:r>
            <a:endParaRPr b="1" sz="2000">
              <a:solidFill>
                <a:srgbClr val="980000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80000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What type of model could you use to address it?</a:t>
            </a:r>
            <a:endParaRPr b="1" sz="2000">
              <a:solidFill>
                <a:srgbClr val="980000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theoretical / applied</a:t>
            </a:r>
            <a:endParaRPr sz="2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mechanistic / phenomenological</a:t>
            </a:r>
            <a:endParaRPr sz="20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deterministic / stochastic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 for the remaining time is setting up software</a:t>
            </a:r>
            <a:endParaRPr/>
          </a:p>
        </p:txBody>
      </p:sp>
      <p:sp>
        <p:nvSpPr>
          <p:cNvPr id="316" name="Google Shape;31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We’ll be installing:</a:t>
            </a:r>
            <a:endParaRPr sz="21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R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RStudio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Git (optional for undergrads)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Github </a:t>
            </a:r>
            <a:r>
              <a:rPr lang="en" sz="2200"/>
              <a:t>(optional for undergrads)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pic>
        <p:nvPicPr>
          <p:cNvPr id="322" name="Google Shape;322;p47"/>
          <p:cNvPicPr preferRelativeResize="0"/>
          <p:nvPr/>
        </p:nvPicPr>
        <p:blipFill rotWithShape="1">
          <a:blip r:embed="rId3">
            <a:alphaModFix/>
          </a:blip>
          <a:srcRect b="25550" l="0" r="40526" t="22362"/>
          <a:stretch/>
        </p:blipFill>
        <p:spPr>
          <a:xfrm>
            <a:off x="469900" y="1113550"/>
            <a:ext cx="7331875" cy="36121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RStudio</a:t>
            </a:r>
            <a:endParaRPr/>
          </a:p>
        </p:txBody>
      </p:sp>
      <p:pic>
        <p:nvPicPr>
          <p:cNvPr id="328" name="Google Shape;32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063786" cy="3973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RStudio</a:t>
            </a:r>
            <a:endParaRPr/>
          </a:p>
        </p:txBody>
      </p:sp>
      <p:pic>
        <p:nvPicPr>
          <p:cNvPr id="334" name="Google Shape;33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063786" cy="3973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35" name="Google Shape;335;p49"/>
          <p:cNvCxnSpPr/>
          <p:nvPr/>
        </p:nvCxnSpPr>
        <p:spPr>
          <a:xfrm flipH="1" rot="10800000">
            <a:off x="3690350" y="2273100"/>
            <a:ext cx="4003200" cy="1822200"/>
          </a:xfrm>
          <a:prstGeom prst="straightConnector1">
            <a:avLst/>
          </a:prstGeom>
          <a:noFill/>
          <a:ln cap="flat" cmpd="sng" w="76200">
            <a:solidFill>
              <a:srgbClr val="0B5394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36" name="Google Shape;336;p49"/>
          <p:cNvSpPr txBox="1"/>
          <p:nvPr/>
        </p:nvSpPr>
        <p:spPr>
          <a:xfrm>
            <a:off x="7762625" y="1986750"/>
            <a:ext cx="67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5394"/>
                </a:solidFill>
              </a:rPr>
              <a:t>R</a:t>
            </a:r>
            <a:endParaRPr b="1" sz="2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RStudio</a:t>
            </a:r>
            <a:endParaRPr/>
          </a:p>
        </p:txBody>
      </p:sp>
      <p:pic>
        <p:nvPicPr>
          <p:cNvPr id="342" name="Google Shape;3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063786" cy="3973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43" name="Google Shape;343;p50"/>
          <p:cNvCxnSpPr/>
          <p:nvPr/>
        </p:nvCxnSpPr>
        <p:spPr>
          <a:xfrm flipH="1" rot="10800000">
            <a:off x="3690350" y="2273100"/>
            <a:ext cx="4003200" cy="1822200"/>
          </a:xfrm>
          <a:prstGeom prst="straightConnector1">
            <a:avLst/>
          </a:prstGeom>
          <a:noFill/>
          <a:ln cap="flat" cmpd="sng" w="76200">
            <a:solidFill>
              <a:srgbClr val="0B5394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44" name="Google Shape;344;p50"/>
          <p:cNvSpPr txBox="1"/>
          <p:nvPr/>
        </p:nvSpPr>
        <p:spPr>
          <a:xfrm>
            <a:off x="7762625" y="1986750"/>
            <a:ext cx="67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5394"/>
                </a:solidFill>
              </a:rPr>
              <a:t>R</a:t>
            </a:r>
            <a:endParaRPr b="1" sz="2600">
              <a:solidFill>
                <a:srgbClr val="0B5394"/>
              </a:solidFill>
            </a:endParaRPr>
          </a:p>
        </p:txBody>
      </p:sp>
      <p:sp>
        <p:nvSpPr>
          <p:cNvPr id="345" name="Google Shape;345;p50"/>
          <p:cNvSpPr txBox="1"/>
          <p:nvPr/>
        </p:nvSpPr>
        <p:spPr>
          <a:xfrm>
            <a:off x="2586025" y="261750"/>
            <a:ext cx="538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80000"/>
                </a:solidFill>
              </a:rPr>
              <a:t>Stuff to make R easier to use</a:t>
            </a:r>
            <a:endParaRPr b="1" sz="2600">
              <a:solidFill>
                <a:srgbClr val="980000"/>
              </a:solidFill>
            </a:endParaRPr>
          </a:p>
        </p:txBody>
      </p:sp>
      <p:cxnSp>
        <p:nvCxnSpPr>
          <p:cNvPr id="346" name="Google Shape;346;p50"/>
          <p:cNvCxnSpPr/>
          <p:nvPr/>
        </p:nvCxnSpPr>
        <p:spPr>
          <a:xfrm flipH="1">
            <a:off x="2309975" y="837475"/>
            <a:ext cx="1131900" cy="1076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50"/>
          <p:cNvCxnSpPr/>
          <p:nvPr/>
        </p:nvCxnSpPr>
        <p:spPr>
          <a:xfrm>
            <a:off x="4711875" y="934100"/>
            <a:ext cx="193200" cy="5385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50"/>
          <p:cNvCxnSpPr/>
          <p:nvPr/>
        </p:nvCxnSpPr>
        <p:spPr>
          <a:xfrm flipH="1">
            <a:off x="5595400" y="906475"/>
            <a:ext cx="1062900" cy="17670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</a:t>
            </a:r>
            <a:endParaRPr/>
          </a:p>
        </p:txBody>
      </p:sp>
      <p:sp>
        <p:nvSpPr>
          <p:cNvPr id="354" name="Google Shape;35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Program that tracks changes in files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Removes need for multiple versions of file (you can always go back)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Tracks what is added or removed in each version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multiple users to work on files and combine their changes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360" name="Google Shape;360;p52"/>
          <p:cNvSpPr txBox="1"/>
          <p:nvPr>
            <p:ph idx="1" type="body"/>
          </p:nvPr>
        </p:nvSpPr>
        <p:spPr>
          <a:xfrm>
            <a:off x="311700" y="1152475"/>
            <a:ext cx="33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</a:t>
            </a:r>
            <a:r>
              <a:rPr lang="en"/>
              <a:t>repository</a:t>
            </a:r>
            <a:r>
              <a:rPr lang="en"/>
              <a:t> for Git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Stores your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Also can be used for editing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 even set it up to run analyses for you!</a:t>
            </a:r>
            <a:endParaRPr/>
          </a:p>
        </p:txBody>
      </p:sp>
      <p:pic>
        <p:nvPicPr>
          <p:cNvPr id="361" name="Google Shape;361;p52"/>
          <p:cNvPicPr preferRelativeResize="0"/>
          <p:nvPr/>
        </p:nvPicPr>
        <p:blipFill rotWithShape="1">
          <a:blip r:embed="rId3">
            <a:alphaModFix/>
          </a:blip>
          <a:srcRect b="0" l="0" r="0" t="5402"/>
          <a:stretch/>
        </p:blipFill>
        <p:spPr>
          <a:xfrm>
            <a:off x="3671375" y="164875"/>
            <a:ext cx="5472624" cy="29120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Github?</a:t>
            </a:r>
            <a:endParaRPr/>
          </a:p>
        </p:txBody>
      </p:sp>
      <p:sp>
        <p:nvSpPr>
          <p:cNvPr id="367" name="Google Shape;36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Secure backup of code (in case your computer dies…)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Helps when you use multiple computers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Collaboration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Transparency and reproducibility (if you make it public)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Letting other people use your code (forking/copying)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Increasingly expected of biologists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archived, cited (e.g., via Zenodo)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Grad students have to, undergrads get extra credit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Installing the needed software</a:t>
            </a:r>
            <a:endParaRPr/>
          </a:p>
        </p:txBody>
      </p:sp>
      <p:sp>
        <p:nvSpPr>
          <p:cNvPr id="373" name="Google Shape;373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R (free at </a:t>
            </a:r>
            <a:r>
              <a:rPr lang="en" sz="23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https://www.r-project.org/</a:t>
            </a:r>
            <a:r>
              <a:rPr lang="en" sz="2300">
                <a:solidFill>
                  <a:schemeClr val="dk1"/>
                </a:solidFill>
              </a:rPr>
              <a:t> )</a:t>
            </a:r>
            <a:endParaRPr sz="2300">
              <a:solidFill>
                <a:schemeClr val="dk1"/>
              </a:solidFill>
            </a:endParaRPr>
          </a:p>
          <a:p>
            <a:pPr indent="-3746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RStudio (free at </a:t>
            </a:r>
            <a:r>
              <a:rPr lang="en" sz="23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https://posit.co/download/rstudio-desktop/</a:t>
            </a:r>
            <a:r>
              <a:rPr lang="en" sz="2300">
                <a:solidFill>
                  <a:schemeClr val="dk1"/>
                </a:solidFill>
              </a:rPr>
              <a:t> )</a:t>
            </a:r>
            <a:endParaRPr sz="2300">
              <a:solidFill>
                <a:schemeClr val="dk1"/>
              </a:solidFill>
            </a:endParaRPr>
          </a:p>
          <a:p>
            <a:pPr indent="-3746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Git (free at </a:t>
            </a:r>
            <a:r>
              <a:rPr lang="en" sz="23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https://git-scm.com/downloads</a:t>
            </a:r>
            <a:r>
              <a:rPr lang="en" sz="2300">
                <a:solidFill>
                  <a:schemeClr val="dk1"/>
                </a:solidFill>
              </a:rPr>
              <a:t> )</a:t>
            </a:r>
            <a:endParaRPr sz="2300">
              <a:solidFill>
                <a:schemeClr val="dk1"/>
              </a:solidFill>
            </a:endParaRPr>
          </a:p>
          <a:p>
            <a:pPr indent="-3746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Github account (Sign up for free at: </a:t>
            </a:r>
            <a:r>
              <a:rPr lang="en" sz="2300" u="sng">
                <a:solidFill>
                  <a:srgbClr val="1155CC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</a:t>
            </a:r>
            <a:r>
              <a:rPr lang="en" sz="2300">
                <a:solidFill>
                  <a:schemeClr val="dk1"/>
                </a:solidFill>
              </a:rPr>
              <a:t> 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Git who you are</a:t>
            </a:r>
            <a:endParaRPr/>
          </a:p>
        </p:txBody>
      </p:sp>
      <p:sp>
        <p:nvSpPr>
          <p:cNvPr id="379" name="Google Shape;37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install.packages(c("usethis", "gitcreds"))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usethis::use_git_config(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user.name  = "Your Name",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user.email = "your GitHub email"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it work?</a:t>
            </a:r>
            <a:endParaRPr/>
          </a:p>
        </p:txBody>
      </p:sp>
      <p:pic>
        <p:nvPicPr>
          <p:cNvPr id="385" name="Google Shape;38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063786" cy="3973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86" name="Google Shape;386;p56"/>
          <p:cNvCxnSpPr/>
          <p:nvPr/>
        </p:nvCxnSpPr>
        <p:spPr>
          <a:xfrm>
            <a:off x="5804450" y="850050"/>
            <a:ext cx="193200" cy="5385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56"/>
          <p:cNvSpPr txBox="1"/>
          <p:nvPr/>
        </p:nvSpPr>
        <p:spPr>
          <a:xfrm>
            <a:off x="4038800" y="388350"/>
            <a:ext cx="40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Should have a “Git” tab in RStudio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 Git tab?</a:t>
            </a:r>
            <a:endParaRPr b="1"/>
          </a:p>
        </p:txBody>
      </p:sp>
      <p:sp>
        <p:nvSpPr>
          <p:cNvPr id="393" name="Google Shape;393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CFCFB"/>
                </a:highlight>
              </a:rPr>
              <a:t>Tools → Global Options → Git/SVN</a:t>
            </a:r>
            <a:endParaRPr sz="2100">
              <a:solidFill>
                <a:schemeClr val="dk1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CFCFB"/>
                </a:highlight>
              </a:rPr>
              <a:t>Is the git executable found?</a:t>
            </a:r>
            <a:endParaRPr sz="2100">
              <a:solidFill>
                <a:schemeClr val="dk1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CFCFB"/>
                </a:highlight>
              </a:rPr>
              <a:t>	Windows: C:/Program Files/Git/bin/git.exe</a:t>
            </a:r>
            <a:endParaRPr sz="2100">
              <a:solidFill>
                <a:schemeClr val="dk1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CFCFB"/>
                </a:highlight>
              </a:rPr>
              <a:t>Restart RStudio after changing it</a:t>
            </a:r>
            <a:endParaRPr sz="2100">
              <a:solidFill>
                <a:schemeClr val="dk1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Other common problems</a:t>
            </a:r>
            <a:endParaRPr b="1"/>
          </a:p>
        </p:txBody>
      </p:sp>
      <p:sp>
        <p:nvSpPr>
          <p:cNvPr id="399" name="Google Shape;399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"Git not found" → restart RStudio, then restart the computer.</a:t>
            </a:r>
            <a:endParaRPr sz="2200">
              <a:solidFill>
                <a:schemeClr val="dk1"/>
              </a:solidFill>
            </a:endParaRPr>
          </a:p>
          <a:p>
            <a:pPr indent="0" lvl="0" marL="76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Windows, packages won't build → Rtools</a:t>
            </a:r>
            <a:endParaRPr sz="2200">
              <a:solidFill>
                <a:schemeClr val="dk1"/>
              </a:solidFill>
            </a:endParaRPr>
          </a:p>
          <a:p>
            <a:pPr indent="0" lvl="0" marL="76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Mac, </a:t>
            </a:r>
            <a:r>
              <a:rPr lang="en" sz="2200">
                <a:solidFill>
                  <a:schemeClr val="dk1"/>
                </a:solidFill>
              </a:rPr>
              <a:t>packages won't build</a:t>
            </a:r>
            <a:r>
              <a:rPr lang="en" sz="2200">
                <a:solidFill>
                  <a:schemeClr val="dk1"/>
                </a:solidFill>
              </a:rPr>
              <a:t> → xcode-select --install</a:t>
            </a:r>
            <a:endParaRPr sz="2200">
              <a:solidFill>
                <a:schemeClr val="dk1"/>
              </a:solidFill>
            </a:endParaRPr>
          </a:p>
          <a:p>
            <a:pPr indent="0" lvl="0" marL="76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Still stuck? Flag me down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Make sure it works</a:t>
            </a:r>
            <a:endParaRPr b="1"/>
          </a:p>
        </p:txBody>
      </p:sp>
      <p:sp>
        <p:nvSpPr>
          <p:cNvPr id="405" name="Google Shape;405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Go to your Github page and make a new repo</a:t>
            </a:r>
            <a:endParaRPr b="1">
              <a:solidFill>
                <a:srgbClr val="980000"/>
              </a:solidFill>
            </a:endParaRPr>
          </a:p>
        </p:txBody>
      </p:sp>
      <p:pic>
        <p:nvPicPr>
          <p:cNvPr id="406" name="Google Shape;406;p59"/>
          <p:cNvPicPr preferRelativeResize="0"/>
          <p:nvPr/>
        </p:nvPicPr>
        <p:blipFill rotWithShape="1">
          <a:blip r:embed="rId3">
            <a:alphaModFix/>
          </a:blip>
          <a:srcRect b="0" l="0" r="0" t="5900"/>
          <a:stretch/>
        </p:blipFill>
        <p:spPr>
          <a:xfrm>
            <a:off x="2357925" y="1662775"/>
            <a:ext cx="6575976" cy="34807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07" name="Google Shape;407;p59"/>
          <p:cNvCxnSpPr/>
          <p:nvPr/>
        </p:nvCxnSpPr>
        <p:spPr>
          <a:xfrm flipH="1" rot="10800000">
            <a:off x="1895650" y="2828775"/>
            <a:ext cx="1468500" cy="1221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60"/>
          <p:cNvPicPr preferRelativeResize="0"/>
          <p:nvPr/>
        </p:nvPicPr>
        <p:blipFill rotWithShape="1">
          <a:blip r:embed="rId3">
            <a:alphaModFix/>
          </a:blip>
          <a:srcRect b="0" l="0" r="0" t="5900"/>
          <a:stretch/>
        </p:blipFill>
        <p:spPr>
          <a:xfrm>
            <a:off x="2487525" y="1620175"/>
            <a:ext cx="6656477" cy="3523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3" name="Google Shape;41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Make sure it works</a:t>
            </a:r>
            <a:endParaRPr b="1"/>
          </a:p>
        </p:txBody>
      </p:sp>
      <p:sp>
        <p:nvSpPr>
          <p:cNvPr id="414" name="Google Shape;41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85200C"/>
                </a:solidFill>
              </a:rPr>
              <a:t>Copy the URL</a:t>
            </a:r>
            <a:endParaRPr>
              <a:solidFill>
                <a:srgbClr val="85200C"/>
              </a:solidFill>
            </a:endParaRPr>
          </a:p>
        </p:txBody>
      </p:sp>
      <p:cxnSp>
        <p:nvCxnSpPr>
          <p:cNvPr id="415" name="Google Shape;415;p60"/>
          <p:cNvCxnSpPr/>
          <p:nvPr/>
        </p:nvCxnSpPr>
        <p:spPr>
          <a:xfrm>
            <a:off x="8563150" y="2754800"/>
            <a:ext cx="81900" cy="13908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Make sure it works</a:t>
            </a:r>
            <a:endParaRPr b="1"/>
          </a:p>
        </p:txBody>
      </p:sp>
      <p:sp>
        <p:nvSpPr>
          <p:cNvPr id="421" name="Google Shape;421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RStudio:</a:t>
            </a:r>
            <a:endParaRPr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 File &gt; New Project…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Select “Version Control”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Select “Git”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Paste the copied URL into the “Repository URL” box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Pick a directory for it to be created in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Click “Create Project”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Cloning worked. Pushing won't</a:t>
            </a:r>
            <a:endParaRPr b="1"/>
          </a:p>
        </p:txBody>
      </p:sp>
      <p:sp>
        <p:nvSpPr>
          <p:cNvPr id="427" name="Google Shape;427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Downloading a public repo: no login</a:t>
            </a:r>
            <a:endParaRPr sz="23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Sending changes back: requires login</a:t>
            </a:r>
            <a:endParaRPr sz="23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GitHub stopped taking account passwords in 2021</a:t>
            </a:r>
            <a:endParaRPr sz="23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52514E"/>
              </a:buClr>
              <a:buSzPts val="2300"/>
              <a:buFont typeface="Roboto"/>
              <a:buChar char="-"/>
            </a:pPr>
            <a:r>
              <a:rPr lang="en" sz="2300">
                <a:solidFill>
                  <a:srgbClr val="52514E"/>
                </a:solidFill>
                <a:highlight>
                  <a:srgbClr val="FCFCFB"/>
                </a:highlight>
                <a:latin typeface="Roboto"/>
                <a:ea typeface="Roboto"/>
                <a:cs typeface="Roboto"/>
                <a:sym typeface="Roboto"/>
              </a:rPr>
              <a:t>Requires authentication</a:t>
            </a:r>
            <a:endParaRPr sz="23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52514E"/>
              </a:solidFill>
              <a:highlight>
                <a:srgbClr val="FCFCF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 a token</a:t>
            </a:r>
            <a:endParaRPr b="1"/>
          </a:p>
        </p:txBody>
      </p:sp>
      <p:sp>
        <p:nvSpPr>
          <p:cNvPr id="433" name="Google Shape;43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1A1A1A"/>
                </a:solidFill>
                <a:highlight>
                  <a:srgbClr val="FCFCFB"/>
                </a:highlight>
                <a:latin typeface="Consolas"/>
                <a:ea typeface="Consolas"/>
                <a:cs typeface="Consolas"/>
                <a:sym typeface="Consolas"/>
              </a:rPr>
              <a:t>usethis</a:t>
            </a:r>
            <a:r>
              <a:rPr lang="en" sz="2600">
                <a:solidFill>
                  <a:srgbClr val="737373"/>
                </a:solidFill>
                <a:highlight>
                  <a:srgbClr val="FCFCFB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2600">
                <a:solidFill>
                  <a:srgbClr val="0073E6"/>
                </a:solidFill>
                <a:highlight>
                  <a:srgbClr val="FCFCFB"/>
                </a:highlight>
                <a:latin typeface="Consolas"/>
                <a:ea typeface="Consolas"/>
                <a:cs typeface="Consolas"/>
                <a:sym typeface="Consolas"/>
              </a:rPr>
              <a:t>create_github_token</a:t>
            </a:r>
            <a:r>
              <a:rPr lang="en" sz="2600">
                <a:solidFill>
                  <a:srgbClr val="1A1A1A"/>
                </a:solidFill>
                <a:highlight>
                  <a:srgbClr val="FCFCFB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2600">
              <a:solidFill>
                <a:srgbClr val="1A1A1A"/>
              </a:solidFill>
              <a:highlight>
                <a:srgbClr val="FCFC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Opens GitHub with the right boxes ticked.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Name it, generate, copy it now (you won't see it again)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Store your token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gitcreds</a:t>
            </a:r>
            <a:r>
              <a:rPr lang="en" sz="2000">
                <a:solidFill>
                  <a:srgbClr val="737373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2000">
                <a:solidFill>
                  <a:srgbClr val="0073E6"/>
                </a:solidFill>
                <a:latin typeface="Consolas"/>
                <a:ea typeface="Consolas"/>
                <a:cs typeface="Consolas"/>
                <a:sym typeface="Consolas"/>
              </a:rPr>
              <a:t>gitcreds_set</a:t>
            </a:r>
            <a:r>
              <a:rPr lang="en" sz="2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2000">
              <a:solidFill>
                <a:srgbClr val="1A1A1A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52514E"/>
                </a:solidFill>
              </a:rPr>
              <a:t>Paste when prompted. Once per machine.</a:t>
            </a:r>
            <a:endParaRPr sz="21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52514E"/>
              </a:solidFill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usethis</a:t>
            </a:r>
            <a:r>
              <a:rPr lang="en" sz="2000">
                <a:solidFill>
                  <a:srgbClr val="737373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2000">
                <a:solidFill>
                  <a:srgbClr val="0073E6"/>
                </a:solidFill>
                <a:latin typeface="Consolas"/>
                <a:ea typeface="Consolas"/>
                <a:cs typeface="Consolas"/>
                <a:sym typeface="Consolas"/>
              </a:rPr>
              <a:t>git_sitrep</a:t>
            </a:r>
            <a:r>
              <a:rPr lang="en" sz="2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2000">
              <a:solidFill>
                <a:srgbClr val="1A1A1A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52514E"/>
                </a:solidFill>
              </a:rPr>
              <a:t>Checks everything at once.</a:t>
            </a:r>
            <a:endParaRPr sz="2100">
              <a:solidFill>
                <a:srgbClr val="52514E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52514E"/>
                </a:solidFill>
              </a:rPr>
              <a:t>Treat the token like a password.</a:t>
            </a:r>
            <a:r>
              <a:rPr lang="en" sz="2100">
                <a:solidFill>
                  <a:srgbClr val="52514E"/>
                </a:solidFill>
              </a:rPr>
              <a:t> Never use in a script.</a:t>
            </a:r>
            <a:endParaRPr sz="21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Multiple repositories</a:t>
            </a:r>
            <a:endParaRPr b="1"/>
          </a:p>
        </p:txBody>
      </p:sp>
      <p:sp>
        <p:nvSpPr>
          <p:cNvPr id="445" name="Google Shape;445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2514E"/>
                </a:solidFill>
                <a:highlight>
                  <a:srgbClr val="FCFCFB"/>
                </a:highlight>
              </a:rPr>
              <a:t>Your Github repo:</a:t>
            </a:r>
            <a:r>
              <a:rPr lang="en" sz="1600">
                <a:solidFill>
                  <a:srgbClr val="52514E"/>
                </a:solidFill>
                <a:highlight>
                  <a:srgbClr val="FCFCFB"/>
                </a:highlight>
              </a:rPr>
              <a:t> where your assignments will live.</a:t>
            </a:r>
            <a:endParaRPr sz="160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2514E"/>
                </a:solidFill>
                <a:highlight>
                  <a:srgbClr val="FCFCFB"/>
                </a:highlight>
              </a:rPr>
              <a:t>	Can keep public, or make private and grant me access</a:t>
            </a:r>
            <a:endParaRPr sz="160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2514E"/>
                </a:solidFill>
                <a:highlight>
                  <a:srgbClr val="FCFCFB"/>
                </a:highlight>
              </a:rPr>
              <a:t>The course repo:</a:t>
            </a:r>
            <a:r>
              <a:rPr lang="en" sz="1600">
                <a:solidFill>
                  <a:srgbClr val="52514E"/>
                </a:solidFill>
                <a:highlight>
                  <a:srgbClr val="FCFCFB"/>
                </a:highlight>
              </a:rPr>
              <a:t> lectures, scripts, data</a:t>
            </a:r>
            <a:endParaRPr sz="160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52514E"/>
                </a:solidFill>
                <a:highlight>
                  <a:srgbClr val="FCFCFB"/>
                </a:highlight>
              </a:rPr>
              <a:t>github.com/bmaitner/biometry_course</a:t>
            </a:r>
            <a:endParaRPr sz="160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2514E"/>
                </a:solidFill>
                <a:highlight>
                  <a:srgbClr val="FCFCFB"/>
                </a:highlight>
              </a:rPr>
              <a:t>	Can browse online or pull everything using Git</a:t>
            </a:r>
            <a:endParaRPr sz="160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For grad students, one repo per paper/thesis chapter usually works well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Next time:</a:t>
            </a:r>
            <a:endParaRPr b="1"/>
          </a:p>
        </p:txBody>
      </p:sp>
      <p:sp>
        <p:nvSpPr>
          <p:cNvPr id="451" name="Google Shape;451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Before class: read </a:t>
            </a:r>
            <a:r>
              <a:rPr lang="en" sz="2300"/>
              <a:t>1.4 - 1.6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During class:</a:t>
            </a:r>
            <a:endParaRPr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Discuss 1.4-1.6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Work through 1.7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