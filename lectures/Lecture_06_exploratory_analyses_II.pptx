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y="5143500" cx="9144000"/>
  <p:notesSz cx="6858000" cy="9144000"/>
  <p:embeddedFontLst>
    <p:embeddedFont>
      <p:font typeface="Roboto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2973A5-0495-4726-98FB-BED721036F38}">
  <a:tblStyle styleId="{622973A5-0495-4726-98FB-BED721036F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oboto-bold.fntdata"/><Relationship Id="rId20" Type="http://schemas.openxmlformats.org/officeDocument/2006/relationships/slide" Target="slides/slide14.xml"/><Relationship Id="rId42" Type="http://schemas.openxmlformats.org/officeDocument/2006/relationships/font" Target="fonts/Roboto-boldItalic.fntdata"/><Relationship Id="rId41" Type="http://schemas.openxmlformats.org/officeDocument/2006/relationships/font" Target="fonts/Roboto-italic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font" Target="fonts/Roboto-regular.fntdata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4c02cc92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4c02cc92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8cd60a425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8cd60a425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7d27fd26e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7d27fd26e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7d27fd26e3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7d27fd26e3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d27fd26e3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d27fd26e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8cd60a425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f8cd60a425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8cd60a425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f8cd60a425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7a618bf19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7a618bf19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7da3de92d9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7da3de92d9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f8cd60a425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f8cd60a425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8cd60a425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8cd60a425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7da3de92d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7da3de92d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7ca530e76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7ca530e76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7cae37f8f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7cae37f8f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7cae37f8f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7cae37f8f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7da3de92d9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7da3de92d9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8cd60a425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8cd60a425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8cd60a425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f8cd60a425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Remember: you may need to set </a:t>
            </a:r>
            <a:r>
              <a:rPr lang="en" sz="900">
                <a:solidFill>
                  <a:srgbClr val="0B0B0B"/>
                </a:solidFill>
                <a:latin typeface="Courier New"/>
                <a:ea typeface="Courier New"/>
                <a:cs typeface="Courier New"/>
                <a:sym typeface="Courier New"/>
              </a:rPr>
              <a:t>use = "complete.obs"</a:t>
            </a:r>
            <a:r>
              <a:rPr lang="en">
                <a:solidFill>
                  <a:schemeClr val="dk1"/>
                </a:solidFill>
              </a:rPr>
              <a:t> for your own dataset if it has NAs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8cd60a425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8cd60a425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f8cd60a425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f8cd60a425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f8cd60a425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f8cd60a425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f8cd60a425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f8cd60a425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8cd60a425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f8cd60a425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f8cd60a425_0_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f8cd60a425_0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f8cd60a425_0_1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3f8cd60a425_0_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8cd60a425_0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f8cd60a425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f8cd60a425_0_1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f8cd60a425_0_1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8cd60a425_0_1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f8cd60a425_0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f8cd60a425_0_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f8cd60a425_0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f8cd60a425_0_2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f8cd60a425_0_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8cd60a425_0_2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f8cd60a425_0_2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64c02cc92f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64c02cc92f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bmaitner/biometry_course/raw/refs/heads/main/data/Avonet/AVONET1_BirdLife.csv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www.nature.com/sdata/" TargetMode="External"/><Relationship Id="rId4" Type="http://schemas.openxmlformats.org/officeDocument/2006/relationships/hyperlink" Target="https://datadryad.org/" TargetMode="External"/><Relationship Id="rId5" Type="http://schemas.openxmlformats.org/officeDocument/2006/relationships/hyperlink" Target="https://www.try-db.org/TryWeb/Home.php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Relationship Id="rId4" Type="http://schemas.openxmlformats.org/officeDocument/2006/relationships/image" Target="../media/image2.png"/><Relationship Id="rId5" Type="http://schemas.openxmlformats.org/officeDocument/2006/relationships/image" Target="../media/image11.png"/><Relationship Id="rId6" Type="http://schemas.openxmlformats.org/officeDocument/2006/relationships/image" Target="../media/image7.png"/><Relationship Id="rId7" Type="http://schemas.openxmlformats.org/officeDocument/2006/relationships/image" Target="../media/image3.png"/><Relationship Id="rId8" Type="http://schemas.openxmlformats.org/officeDocument/2006/relationships/image" Target="../media/image1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6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r4ds.hadley.nz/data-transform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99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Exploratory Analyses II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1897850"/>
            <a:ext cx="8520600" cy="255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Discuss Assignment 1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Discuss potential data sources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Apply chapter 2 techniques to your own data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Work through 2.6</a:t>
            </a:r>
            <a:endParaRPr sz="1800"/>
          </a:p>
        </p:txBody>
      </p:sp>
      <p:sp>
        <p:nvSpPr>
          <p:cNvPr id="56" name="Google Shape;56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Opportunity</a:t>
            </a:r>
            <a:endParaRPr/>
          </a:p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Assignment 1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Full </a:t>
            </a:r>
            <a:r>
              <a:rPr lang="en"/>
              <a:t>information</a:t>
            </a:r>
            <a:r>
              <a:rPr lang="en"/>
              <a:t> online (see Canvas/Github)</a:t>
            </a:r>
            <a:endParaRPr/>
          </a:p>
        </p:txBody>
      </p:sp>
      <p:sp>
        <p:nvSpPr>
          <p:cNvPr id="69" name="Google Shape;6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Assignment 1</a:t>
            </a:r>
            <a:endParaRPr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Overview: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Select a dataset (you want one that can ask multiple questions)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some exploratory analyses (and document them)</a:t>
            </a:r>
            <a:endParaRPr/>
          </a:p>
        </p:txBody>
      </p:sp>
      <p:sp>
        <p:nvSpPr>
          <p:cNvPr id="76" name="Google Shape;76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Assignment 1</a:t>
            </a:r>
            <a:endParaRPr b="1"/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In this assignment, students will need to:</a:t>
            </a:r>
            <a:endParaRPr sz="2000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Select a dataset, provide a description, note where it came from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Read in their dataset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Note the class of the dataset itself (e.g., matrix, list, dataframe, etc.)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List the variables of interest and their classes (e.g., numeric, character, etc.)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Examine the structure of the dataset and correct any formatting mistakes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Provide summary statistics for variables of interest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Produce at least 3 different figures that convey different information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For the figures in 6, briefly describe what the figures show</a:t>
            </a:r>
            <a:endParaRPr/>
          </a:p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You already have the tools</a:t>
            </a:r>
            <a:endParaRPr b="1"/>
          </a:p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aphicFrame>
        <p:nvGraphicFramePr>
          <p:cNvPr id="90" name="Google Shape;90;p18"/>
          <p:cNvGraphicFramePr/>
          <p:nvPr/>
        </p:nvGraphicFramePr>
        <p:xfrm>
          <a:off x="311700" y="1200400"/>
          <a:ext cx="3000000" cy="3000000"/>
        </p:xfrm>
        <a:graphic>
          <a:graphicData uri="http://schemas.openxmlformats.org/drawingml/2006/table">
            <a:tbl>
              <a:tblPr>
                <a:solidFill>
                  <a:srgbClr val="FFFFFF"/>
                </a:solidFill>
                <a:tableStyleId>{622973A5-0495-4726-98FB-BED721036F38}</a:tableStyleId>
              </a:tblPr>
              <a:tblGrid>
                <a:gridCol w="2133600"/>
                <a:gridCol w="3286125"/>
              </a:tblGrid>
              <a:tr h="2762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Step</a:t>
                      </a:r>
                      <a:endParaRPr b="1"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Where we did it</a:t>
                      </a:r>
                      <a:endParaRPr b="1"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62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Describe it, cite it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READMEs, Lecture 4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Read it in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Lecture 4: 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read.csv</a:t>
                      </a: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read_xlsx</a:t>
                      </a:r>
                      <a:endParaRPr sz="11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 Class of the dataset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Lecture 4: 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class()</a:t>
                      </a:r>
                      <a:endParaRPr sz="11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 Variables and classes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Lecture 4: 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str()</a:t>
                      </a:r>
                      <a:endParaRPr sz="11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 Fix formatting problems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Lecture 4: 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-999</a:t>
                      </a: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 Lecture 5: the kiwi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6. Summary statistics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Lecture 4: 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summary()</a:t>
                      </a: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table()</a:t>
                      </a:r>
                      <a:endParaRPr sz="11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7. Three figures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Lecture 5: 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hist</a:t>
                      </a: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plot</a:t>
                      </a: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boxplot</a:t>
                      </a: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" sz="11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barplot</a:t>
                      </a:r>
                      <a:endParaRPr sz="11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62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8. Describe the figures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Lecture 5: what log-log changed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57150" marL="57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1" name="Google Shape;91;p18"/>
          <p:cNvSpPr txBox="1"/>
          <p:nvPr/>
        </p:nvSpPr>
        <p:spPr>
          <a:xfrm>
            <a:off x="311700" y="4394250"/>
            <a:ext cx="794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B0B0B"/>
                </a:solidFill>
                <a:highlight>
                  <a:srgbClr val="FFFFFF"/>
                </a:highlight>
              </a:rPr>
              <a:t>We’re going to get more practice with some of these today as well</a:t>
            </a:r>
            <a:endParaRPr sz="2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What counts as three different figures</a:t>
            </a:r>
            <a:endParaRPr b="1"/>
          </a:p>
        </p:txBody>
      </p:sp>
      <p:sp>
        <p:nvSpPr>
          <p:cNvPr id="97" name="Google Shape;97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"Three </a:t>
            </a:r>
            <a:r>
              <a:rPr b="1" lang="en"/>
              <a:t>different figures</a:t>
            </a:r>
            <a:r>
              <a:rPr lang="en"/>
              <a:t> that convey different information"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Three scatterplots of different variables is </a:t>
            </a:r>
            <a:r>
              <a:rPr b="1" lang="en"/>
              <a:t>one kind</a:t>
            </a:r>
            <a:r>
              <a:rPr lang="en"/>
              <a:t> of figure.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Different information means a different question, e.g.: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is one variable distributed?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h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ist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do two relate?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p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lot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do groups compare?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b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oxplot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45720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How many in each category?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barplot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" name="Google Shape;98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Assignment 1: what you’ll submit</a:t>
            </a:r>
            <a:endParaRPr b="1"/>
          </a:p>
        </p:txBody>
      </p:sp>
      <p:sp>
        <p:nvSpPr>
          <p:cNvPr id="104" name="Google Shape;104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 to document what you did and be reproducible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Either: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The output of an .Rmd file showing code and outputs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arenR"/>
            </a:pPr>
            <a:r>
              <a:rPr lang="en"/>
              <a:t>See </a:t>
            </a:r>
            <a:r>
              <a:rPr b="1" lang="en" sz="1200">
                <a:solidFill>
                  <a:srgbClr val="1F2328"/>
                </a:solidFill>
                <a:highlight>
                  <a:srgbClr val="FFFFFF"/>
                </a:highlight>
              </a:rPr>
              <a:t>example_R_markdown</a:t>
            </a:r>
            <a:r>
              <a:rPr lang="en" sz="1200">
                <a:solidFill>
                  <a:srgbClr val="59636E"/>
                </a:solidFill>
                <a:highlight>
                  <a:srgbClr val="FFFFFF"/>
                </a:highlight>
              </a:rPr>
              <a:t>/ for .Rmd file and potential output types, e.g. html, pdf</a:t>
            </a:r>
            <a:endParaRPr sz="1200">
              <a:solidFill>
                <a:srgbClr val="59636E"/>
              </a:solidFill>
              <a:highlight>
                <a:srgbClr val="FFFFFF"/>
              </a:highlight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59636E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A .R file that can be run anywhere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arenR"/>
            </a:pPr>
            <a:r>
              <a:rPr lang="en"/>
              <a:t>See </a:t>
            </a:r>
            <a:r>
              <a:rPr b="1" lang="en" sz="1200">
                <a:solidFill>
                  <a:srgbClr val="1F2328"/>
                </a:solidFill>
                <a:highlight>
                  <a:srgbClr val="FFFFFF"/>
                </a:highlight>
              </a:rPr>
              <a:t>example_R_commented</a:t>
            </a:r>
            <a:r>
              <a:rPr lang="en" sz="1200">
                <a:solidFill>
                  <a:srgbClr val="59636E"/>
                </a:solidFill>
                <a:highlight>
                  <a:srgbClr val="FFFFFF"/>
                </a:highlight>
              </a:rPr>
              <a:t>/ for .R file with comment examples</a:t>
            </a:r>
            <a:endParaRPr sz="1200">
              <a:solidFill>
                <a:srgbClr val="59636E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59636E"/>
              </a:solidFill>
              <a:highlight>
                <a:srgbClr val="FFFFFF"/>
              </a:highlight>
            </a:endParaRPr>
          </a:p>
        </p:txBody>
      </p:sp>
      <p:sp>
        <p:nvSpPr>
          <p:cNvPr id="105" name="Google Shape;10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How and when</a:t>
            </a:r>
            <a:endParaRPr b="1"/>
          </a:p>
        </p:txBody>
      </p:sp>
      <p:sp>
        <p:nvSpPr>
          <p:cNvPr id="111" name="Google Shape;111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Assignments can be submitted on canvas.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	You can either:</a:t>
            </a:r>
            <a:endParaRPr/>
          </a:p>
          <a:p>
            <a:pPr indent="-342900" lvl="0" marL="1371600" rtl="0" algn="l">
              <a:spcBef>
                <a:spcPts val="1200"/>
              </a:spcBef>
              <a:spcAft>
                <a:spcPts val="0"/>
              </a:spcAft>
              <a:buSzPts val="1800"/>
              <a:buAutoNum type="alphaLcParenR"/>
            </a:pPr>
            <a:r>
              <a:rPr lang="en"/>
              <a:t>Upload your file to Github and submit the link on Canvas</a:t>
            </a:r>
            <a:endParaRPr/>
          </a:p>
          <a:p>
            <a:pPr indent="0" lvl="0" marL="13716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(require for grads, extra credit undergrads)</a:t>
            </a:r>
            <a:endParaRPr/>
          </a:p>
          <a:p>
            <a:pPr indent="-342900" lvl="0" marL="1371600" rtl="0" algn="l">
              <a:spcBef>
                <a:spcPts val="1200"/>
              </a:spcBef>
              <a:spcAft>
                <a:spcPts val="0"/>
              </a:spcAft>
              <a:buSzPts val="1800"/>
              <a:buAutoNum type="alphaLcParenR"/>
            </a:pPr>
            <a:r>
              <a:rPr lang="en"/>
              <a:t>Upload the file on canvas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Due Friday, Sept. 18th before midnight.</a:t>
            </a:r>
            <a:endParaRPr/>
          </a:p>
        </p:txBody>
      </p:sp>
      <p:sp>
        <p:nvSpPr>
          <p:cNvPr id="112" name="Google Shape;112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"Runs anywhere" includes the data</a:t>
            </a:r>
            <a:endParaRPr b="1"/>
          </a:p>
        </p:txBody>
      </p:sp>
      <p:sp>
        <p:nvSpPr>
          <p:cNvPr id="118" name="Google Shape;118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300">
                <a:solidFill>
                  <a:srgbClr val="52514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b="1" lang="en" sz="1200">
                <a:solidFill>
                  <a:srgbClr val="9999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 Only works on my laptop</a:t>
            </a:r>
            <a:endParaRPr b="1" sz="1200">
              <a:solidFill>
                <a:srgbClr val="999999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read.csv</a:t>
            </a:r>
            <a:r>
              <a:rPr b="1" lang="en" sz="12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" sz="12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"C:/Users/bmaitner/Desktop/.../AVONET1_BirdLife.csv"</a:t>
            </a:r>
            <a:r>
              <a:rPr b="1" lang="en" sz="12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12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2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rgbClr val="9999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 Works if you have the course repo open</a:t>
            </a:r>
            <a:endParaRPr b="1" sz="1200">
              <a:solidFill>
                <a:srgbClr val="999999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read.csv</a:t>
            </a:r>
            <a:r>
              <a:rPr b="1" lang="en" sz="12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" sz="12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"data/Avonet/AVONET1_BirdLife.csv"</a:t>
            </a:r>
            <a:r>
              <a:rPr b="1" lang="en" sz="12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12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2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rgbClr val="9999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 Works for anyone, anywhere</a:t>
            </a:r>
            <a:endParaRPr b="1" sz="1200">
              <a:solidFill>
                <a:srgbClr val="999999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read.csv</a:t>
            </a:r>
            <a:r>
              <a:rPr b="1" lang="en" sz="12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" sz="12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b="1" lang="en" sz="1200" u="sng">
                <a:solidFill>
                  <a:schemeClr val="hlink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  <a:hlinkClick r:id="rId3"/>
              </a:rPr>
              <a:t>https://github.com/bmaitner/biometry_course/raw/refs/heads/main/data/Avonet/AVONET1_BirdLife.csv</a:t>
            </a:r>
            <a:r>
              <a:rPr b="1" lang="en" sz="12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b="1" lang="en" sz="12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12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9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52514E"/>
                </a:solidFill>
                <a:highlight>
                  <a:srgbClr val="FFFFFF"/>
                </a:highlight>
              </a:rPr>
              <a:t>Using your own data? Put it in your repo and link it, or link the original source.</a:t>
            </a:r>
            <a:endParaRPr/>
          </a:p>
        </p:txBody>
      </p:sp>
      <p:sp>
        <p:nvSpPr>
          <p:cNvPr id="119" name="Google Shape;119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Documenting what you did</a:t>
            </a:r>
            <a:endParaRPr b="1"/>
          </a:p>
        </p:txBody>
      </p:sp>
      <p:sp>
        <p:nvSpPr>
          <p:cNvPr id="125" name="Google Shape;125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980000"/>
                </a:solidFill>
              </a:rPr>
              <a:t>Open</a:t>
            </a:r>
            <a:r>
              <a:rPr lang="en"/>
              <a:t>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example_R_commented/Example.R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Comments say why, not what: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x &lt;- log10(mass)   # take the log of mass (not great)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x &lt;- log10(mass)   # mass spans 5 orders of magnitude (better)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Ctrl(cmd) + shift + r makes a section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Ctrl(cmd) + shift + c makes a comment (or comments out highlighted code)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Ctrl(cmd) + shift + o opens an outline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>
                <a:solidFill>
                  <a:srgbClr val="980000"/>
                </a:solidFill>
              </a:rPr>
              <a:t>Try these command out</a:t>
            </a:r>
            <a:endParaRPr b="1">
              <a:solidFill>
                <a:srgbClr val="980000"/>
              </a:solidFill>
            </a:endParaRPr>
          </a:p>
        </p:txBody>
      </p:sp>
      <p:sp>
        <p:nvSpPr>
          <p:cNvPr id="126" name="Google Shape;126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Questions so far?</a:t>
            </a:r>
            <a:endParaRPr b="1"/>
          </a:p>
        </p:txBody>
      </p:sp>
      <p:sp>
        <p:nvSpPr>
          <p:cNvPr id="132" name="Google Shape;13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Getting data</a:t>
            </a:r>
            <a:endParaRPr b="1"/>
          </a:p>
        </p:txBody>
      </p:sp>
      <p:sp>
        <p:nvSpPr>
          <p:cNvPr id="138" name="Google Shape;138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 it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pro: you know it best, can be tailored to a specific question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con: time-consuming, possibly expensive, probably requires cleaning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Download it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pro: quick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con: less knowledge of collection, probably still needs cleaning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Aggregate it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pro: data volume and breadth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con: even less knowledge of collection, lots of standardization and cleaning required</a:t>
            </a:r>
            <a:endParaRPr/>
          </a:p>
        </p:txBody>
      </p:sp>
      <p:sp>
        <p:nvSpPr>
          <p:cNvPr id="139" name="Google Shape;139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Where to look for data</a:t>
            </a:r>
            <a:endParaRPr b="1"/>
          </a:p>
        </p:txBody>
      </p:sp>
      <p:sp>
        <p:nvSpPr>
          <p:cNvPr id="145" name="Google Shape;145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Github site: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Links to resources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Data folder contains some options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Scientific Publications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Supplementary Information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Data Publications (e.g.,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https://www.nature.com/sdata/</a:t>
            </a:r>
            <a:r>
              <a:rPr lang="en"/>
              <a:t> 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Data repositories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Dryad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https://datadryad.org/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TRY </a:t>
            </a:r>
            <a:r>
              <a:rPr lang="en" u="sng">
                <a:solidFill>
                  <a:schemeClr val="hlink"/>
                </a:solidFill>
                <a:hlinkClick r:id="rId5"/>
              </a:rPr>
              <a:t>https://www.try-db.org/TryWeb/Home.php</a:t>
            </a:r>
            <a:r>
              <a:rPr lang="en"/>
              <a:t> </a:t>
            </a:r>
            <a:endParaRPr/>
          </a:p>
        </p:txBody>
      </p:sp>
      <p:sp>
        <p:nvSpPr>
          <p:cNvPr id="146" name="Google Shape;146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Datasets of interest to this class</a:t>
            </a:r>
            <a:endParaRPr b="1"/>
          </a:p>
        </p:txBody>
      </p:sp>
      <p:sp>
        <p:nvSpPr>
          <p:cNvPr id="152" name="Google Shape;152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Mangrove invert communities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Marine microorganisms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Deep sea megabenthos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Bird Survey Data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Coral populations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Reef fish data</a:t>
            </a:r>
            <a:endParaRPr b="1"/>
          </a:p>
        </p:txBody>
      </p:sp>
      <p:pic>
        <p:nvPicPr>
          <p:cNvPr id="153" name="Google Shape;153;p27"/>
          <p:cNvPicPr preferRelativeResize="0"/>
          <p:nvPr/>
        </p:nvPicPr>
        <p:blipFill rotWithShape="1">
          <a:blip r:embed="rId3">
            <a:alphaModFix/>
          </a:blip>
          <a:srcRect b="9244" l="7891" r="8873" t="15421"/>
          <a:stretch/>
        </p:blipFill>
        <p:spPr>
          <a:xfrm>
            <a:off x="6192200" y="1494449"/>
            <a:ext cx="2858002" cy="145504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4" name="Google Shape;154;p27"/>
          <p:cNvPicPr preferRelativeResize="0"/>
          <p:nvPr/>
        </p:nvPicPr>
        <p:blipFill rotWithShape="1">
          <a:blip r:embed="rId4">
            <a:alphaModFix/>
          </a:blip>
          <a:srcRect b="19627" l="11506" r="38747" t="29059"/>
          <a:stretch/>
        </p:blipFill>
        <p:spPr>
          <a:xfrm>
            <a:off x="3500068" y="1600525"/>
            <a:ext cx="2692133" cy="15620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5" name="Google Shape;155;p27"/>
          <p:cNvPicPr preferRelativeResize="0"/>
          <p:nvPr/>
        </p:nvPicPr>
        <p:blipFill rotWithShape="1">
          <a:blip r:embed="rId5">
            <a:alphaModFix/>
          </a:blip>
          <a:srcRect b="44439" l="12722" r="31136" t="29104"/>
          <a:stretch/>
        </p:blipFill>
        <p:spPr>
          <a:xfrm>
            <a:off x="61450" y="3409812"/>
            <a:ext cx="3389352" cy="8984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6" name="Google Shape;156;p27"/>
          <p:cNvPicPr preferRelativeResize="0"/>
          <p:nvPr/>
        </p:nvPicPr>
        <p:blipFill rotWithShape="1">
          <a:blip r:embed="rId6">
            <a:alphaModFix/>
          </a:blip>
          <a:srcRect b="13286" l="11147" r="12767" t="28159"/>
          <a:stretch/>
        </p:blipFill>
        <p:spPr>
          <a:xfrm>
            <a:off x="6052712" y="2989177"/>
            <a:ext cx="3047035" cy="13190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7" name="Google Shape;157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8" name="Google Shape;158;p27"/>
          <p:cNvPicPr preferRelativeResize="0"/>
          <p:nvPr/>
        </p:nvPicPr>
        <p:blipFill rotWithShape="1">
          <a:blip r:embed="rId7">
            <a:alphaModFix/>
          </a:blip>
          <a:srcRect b="53243" l="9543" r="35074" t="10898"/>
          <a:stretch/>
        </p:blipFill>
        <p:spPr>
          <a:xfrm>
            <a:off x="3450800" y="3238625"/>
            <a:ext cx="2601902" cy="94762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9" name="Google Shape;159;p27"/>
          <p:cNvPicPr preferRelativeResize="0"/>
          <p:nvPr/>
        </p:nvPicPr>
        <p:blipFill rotWithShape="1">
          <a:blip r:embed="rId8">
            <a:alphaModFix/>
          </a:blip>
          <a:srcRect b="38650" l="27008" r="27905" t="24356"/>
          <a:stretch/>
        </p:blipFill>
        <p:spPr>
          <a:xfrm>
            <a:off x="6192210" y="135700"/>
            <a:ext cx="2857992" cy="13190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Datasets of interest to this class</a:t>
            </a:r>
            <a:endParaRPr b="1"/>
          </a:p>
        </p:txBody>
      </p:sp>
      <p:sp>
        <p:nvSpPr>
          <p:cNvPr id="165" name="Google Shape;165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places to look for data noted on the course Github homepage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Data </a:t>
            </a:r>
            <a:r>
              <a:rPr lang="en"/>
              <a:t>folders on course Github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“README” files in each folder contain useful information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May need to look up the data sources to understand all the column names.</a:t>
            </a:r>
            <a:endParaRPr/>
          </a:p>
        </p:txBody>
      </p:sp>
      <p:sp>
        <p:nvSpPr>
          <p:cNvPr id="166" name="Google Shape;166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Now do it to your own data</a:t>
            </a:r>
            <a:endParaRPr b="1"/>
          </a:p>
        </p:txBody>
      </p:sp>
      <p:sp>
        <p:nvSpPr>
          <p:cNvPr id="172" name="Google Shape;172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980000"/>
                </a:solidFill>
              </a:rPr>
              <a:t>Open a new script. Read your dataset in.</a:t>
            </a:r>
            <a:endParaRPr b="1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I'll show each step on the bird data. Then you do it on yours.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By the end you'll have three figures, labelled and saved.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That's Assignment 1, steps 6 to 8.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 dataset yet? Use AVONET for now, modify your code later.</a:t>
            </a:r>
            <a:endParaRPr/>
          </a:p>
        </p:txBody>
      </p:sp>
      <p:sp>
        <p:nvSpPr>
          <p:cNvPr id="173" name="Google Shape;173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Assessing many variables at once</a:t>
            </a:r>
            <a:endParaRPr b="1"/>
          </a:p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1A1A1A"/>
                </a:solidFill>
                <a:highlight>
                  <a:srgbClr val="FFFFFF"/>
                </a:highlight>
              </a:rPr>
              <a:t>Note: if using a different dataset, use your variables</a:t>
            </a:r>
            <a:endParaRPr sz="1900">
              <a:solidFill>
                <a:srgbClr val="1A1A1A"/>
              </a:solidFill>
              <a:highlight>
                <a:srgbClr val="FFFFFF"/>
              </a:highlight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beak </a:t>
            </a:r>
            <a:r>
              <a:rPr lang="en" sz="19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r>
              <a:rPr lang="en" sz="19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avonet[</a:t>
            </a:r>
            <a:r>
              <a:rPr lang="en" sz="19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" sz="19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9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"Beak.Length_Culmen"</a:t>
            </a:r>
            <a:r>
              <a:rPr lang="en" sz="19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9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"Beak.Length_Nares"</a:t>
            </a:r>
            <a:r>
              <a:rPr lang="en" sz="19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9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"Beak.Width"</a:t>
            </a:r>
            <a:r>
              <a:rPr lang="en" sz="19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9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"Beak.Depth"</a:t>
            </a:r>
            <a:r>
              <a:rPr lang="en" sz="19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)]</a:t>
            </a:r>
            <a:endParaRPr sz="19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round</a:t>
            </a:r>
            <a:r>
              <a:rPr lang="en" sz="19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9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cor</a:t>
            </a:r>
            <a:r>
              <a:rPr lang="en" sz="19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(beak)</a:t>
            </a:r>
            <a:r>
              <a:rPr lang="en" sz="19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900">
                <a:solidFill>
                  <a:srgbClr val="CD20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2</a:t>
            </a:r>
            <a:r>
              <a:rPr lang="en" sz="19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9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980000"/>
                </a:solidFill>
                <a:highlight>
                  <a:srgbClr val="FFFFFF"/>
                </a:highlight>
              </a:rPr>
              <a:t>What do these lines of code do?</a:t>
            </a:r>
            <a:endParaRPr b="1" sz="1900">
              <a:solidFill>
                <a:srgbClr val="980000"/>
              </a:solidFill>
              <a:highlight>
                <a:srgbClr val="FFFFFF"/>
              </a:highlight>
            </a:endParaRPr>
          </a:p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1" name="Google Shape;181;p30"/>
          <p:cNvSpPr txBox="1"/>
          <p:nvPr/>
        </p:nvSpPr>
        <p:spPr>
          <a:xfrm>
            <a:off x="4572000" y="3111700"/>
            <a:ext cx="4297500" cy="1416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9144" marR="9144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</a:t>
            </a:r>
            <a:r>
              <a:rPr lang="en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Culmen Nares Width Depth</a:t>
            </a:r>
            <a:endParaRPr sz="1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9144" marR="9144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Beak.Length_Culmen   1.00  0.97  0.74  0.71</a:t>
            </a:r>
            <a:endParaRPr sz="1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9144" marR="9144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Beak.Length_Nares    0.97  1.00  0.73  0.70</a:t>
            </a:r>
            <a:endParaRPr sz="1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9144" marR="9144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Beak.Width           0.74  0.73  1.00  0.91</a:t>
            </a:r>
            <a:endParaRPr sz="1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9144" marR="9144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Beak.Depth           0.71  0.70  0.91  1.00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The same thing as a picture</a:t>
            </a:r>
            <a:endParaRPr b="1"/>
          </a:p>
        </p:txBody>
      </p:sp>
      <p:sp>
        <p:nvSpPr>
          <p:cNvPr id="187" name="Google Shape;187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8" name="Google Shape;188;p31"/>
          <p:cNvSpPr txBox="1"/>
          <p:nvPr/>
        </p:nvSpPr>
        <p:spPr>
          <a:xfrm>
            <a:off x="237402" y="1250260"/>
            <a:ext cx="3867000" cy="2124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pairs(x = beak,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  pch = 16,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  cex = 0.3,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  col = rgb(red = 0,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            green =  0,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            blue =  0,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            alpha =  0.15)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  )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31"/>
          <p:cNvSpPr txBox="1"/>
          <p:nvPr/>
        </p:nvSpPr>
        <p:spPr>
          <a:xfrm>
            <a:off x="237400" y="4047625"/>
            <a:ext cx="5164500" cy="615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pairs(beak,pch=16,cex=0.3,col=rgb(0,0,0,0.15))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31"/>
          <p:cNvSpPr txBox="1"/>
          <p:nvPr/>
        </p:nvSpPr>
        <p:spPr>
          <a:xfrm>
            <a:off x="311700" y="3480088"/>
            <a:ext cx="3165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Same code, different style: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91" name="Google Shape;19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999" y="818813"/>
            <a:ext cx="4111400" cy="298687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31"/>
          <p:cNvSpPr txBox="1"/>
          <p:nvPr/>
        </p:nvSpPr>
        <p:spPr>
          <a:xfrm>
            <a:off x="5813475" y="4014575"/>
            <a:ext cx="2532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Try this on your data</a:t>
            </a:r>
            <a:endParaRPr b="1" sz="18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Correlations in your own data</a:t>
            </a:r>
            <a:endParaRPr b="1"/>
          </a:p>
        </p:txBody>
      </p:sp>
      <p:sp>
        <p:nvSpPr>
          <p:cNvPr id="198" name="Google Shape;198;p32"/>
          <p:cNvSpPr txBox="1"/>
          <p:nvPr/>
        </p:nvSpPr>
        <p:spPr>
          <a:xfrm>
            <a:off x="600600" y="1287100"/>
            <a:ext cx="7942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Did anyone find any suspiciously high correlations?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Or anything that might need log-scaling?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Comparing groups</a:t>
            </a:r>
            <a:endParaRPr b="1"/>
          </a:p>
        </p:txBody>
      </p:sp>
      <p:sp>
        <p:nvSpPr>
          <p:cNvPr id="204" name="Google Shape;204;p33"/>
          <p:cNvSpPr txBox="1"/>
          <p:nvPr>
            <p:ph idx="1" type="body"/>
          </p:nvPr>
        </p:nvSpPr>
        <p:spPr>
          <a:xfrm>
            <a:off x="105973" y="13789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pelicans </a:t>
            </a:r>
            <a:r>
              <a:rPr lang="en" sz="17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avonet[</a:t>
            </a:r>
            <a:r>
              <a:rPr lang="en" sz="17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which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</a:t>
            </a:r>
            <a:r>
              <a:rPr lang="en" sz="17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Order1 </a:t>
            </a:r>
            <a:r>
              <a:rPr lang="en" sz="17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7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"Pelecaniformes"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7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]</a:t>
            </a:r>
            <a:endParaRPr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" sz="17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row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(pelicans)    </a:t>
            </a:r>
            <a:r>
              <a:rPr lang="en" sz="1700">
                <a:solidFill>
                  <a:srgbClr val="9999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 110</a:t>
            </a:r>
            <a:endParaRPr sz="1700">
              <a:solidFill>
                <a:srgbClr val="999999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boxplot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7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log10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(Mass) </a:t>
            </a:r>
            <a:r>
              <a:rPr lang="en" sz="17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~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Family1</a:t>
            </a:r>
            <a:r>
              <a:rPr lang="en" sz="17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7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data</a:t>
            </a:r>
            <a:r>
              <a:rPr lang="en" sz="17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pelicans)</a:t>
            </a:r>
            <a:endParaRPr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</a:rPr>
              <a:t>Note the use of 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which()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</a:rPr>
              <a:t> to select only Pelecaniformes!</a:t>
            </a:r>
            <a:endParaRPr sz="1700">
              <a:solidFill>
                <a:srgbClr val="1A1A1A"/>
              </a:solidFill>
              <a:highlight>
                <a:srgbClr val="FFFFFF"/>
              </a:highlight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A1A1A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980000"/>
                </a:solidFill>
              </a:rPr>
              <a:t>Try a boxplot on your data (figure 1 of 3!)</a:t>
            </a:r>
            <a:endParaRPr sz="2400">
              <a:solidFill>
                <a:srgbClr val="1A1A1A"/>
              </a:solidFill>
              <a:highlight>
                <a:srgbClr val="FFFFFF"/>
              </a:highlight>
            </a:endParaRPr>
          </a:p>
        </p:txBody>
      </p:sp>
      <p:sp>
        <p:nvSpPr>
          <p:cNvPr id="205" name="Google Shape;205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6" name="Google Shape;206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7625" y="58850"/>
            <a:ext cx="4416376" cy="1866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33"/>
          <p:cNvPicPr preferRelativeResize="0"/>
          <p:nvPr/>
        </p:nvPicPr>
        <p:blipFill rotWithShape="1">
          <a:blip r:embed="rId4">
            <a:alphaModFix/>
          </a:blip>
          <a:srcRect b="0" l="29543" r="0" t="0"/>
          <a:stretch/>
        </p:blipFill>
        <p:spPr>
          <a:xfrm>
            <a:off x="5393425" y="1949837"/>
            <a:ext cx="1460626" cy="124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94113" y="1840525"/>
            <a:ext cx="1203710" cy="124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3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388425" y="2739075"/>
            <a:ext cx="1632725" cy="111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3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55702" y="2926857"/>
            <a:ext cx="1632725" cy="1171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3"/>
          <p:cNvPicPr preferRelativeResize="0"/>
          <p:nvPr/>
        </p:nvPicPr>
        <p:blipFill rotWithShape="1">
          <a:blip r:embed="rId8">
            <a:alphaModFix/>
          </a:blip>
          <a:srcRect b="23522" l="18066" r="0" t="13195"/>
          <a:stretch/>
        </p:blipFill>
        <p:spPr>
          <a:xfrm>
            <a:off x="6962216" y="3849675"/>
            <a:ext cx="1972034" cy="1110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Two plots side by side</a:t>
            </a:r>
            <a:endParaRPr b="1"/>
          </a:p>
        </p:txBody>
      </p:sp>
      <p:sp>
        <p:nvSpPr>
          <p:cNvPr id="217" name="Google Shape;217;p34"/>
          <p:cNvSpPr txBox="1"/>
          <p:nvPr>
            <p:ph idx="1" type="body"/>
          </p:nvPr>
        </p:nvSpPr>
        <p:spPr>
          <a:xfrm>
            <a:off x="232569" y="1152475"/>
            <a:ext cx="8520600" cy="37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carnivores 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avonet[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which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Trophic.Level 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3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"Carnivore"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]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scavengers 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avonet[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which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Trophic.Level 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3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"Scavenger"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]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(mfrow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300">
                <a:solidFill>
                  <a:srgbClr val="CD20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300">
                <a:solidFill>
                  <a:srgbClr val="CD20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2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hist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log10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(carnivores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Mass)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3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main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3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"Carnivore"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hist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log10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(scavengers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Mass)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3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main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3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"Scavenger"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(mfrow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300">
                <a:solidFill>
                  <a:srgbClr val="CD20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300">
                <a:solidFill>
                  <a:srgbClr val="CD20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1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   </a:t>
            </a:r>
            <a:r>
              <a:rPr lang="en" sz="1300">
                <a:solidFill>
                  <a:srgbClr val="9999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 put it back!</a:t>
            </a:r>
            <a:endParaRPr sz="2200"/>
          </a:p>
        </p:txBody>
      </p:sp>
      <p:sp>
        <p:nvSpPr>
          <p:cNvPr id="218" name="Google Shape;218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9" name="Google Shape;219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60300" y="1023412"/>
            <a:ext cx="4160850" cy="30228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Look before you believe it</a:t>
            </a:r>
            <a:endParaRPr b="1"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1104997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52514E"/>
                </a:solidFill>
              </a:rPr>
              <a:t>Scavengers look about as common as carnivores.</a:t>
            </a:r>
            <a:endParaRPr sz="1600">
              <a:solidFill>
                <a:srgbClr val="52514E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52514E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980000"/>
                </a:solidFill>
              </a:rPr>
              <a:t>Read the y axes.</a:t>
            </a:r>
            <a:endParaRPr b="1" sz="16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52514E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52514E"/>
                </a:solidFill>
              </a:rPr>
              <a:t>We can sanity check with:</a:t>
            </a:r>
            <a:endParaRPr sz="1600">
              <a:solidFill>
                <a:srgbClr val="52514E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nrow</a:t>
            </a:r>
            <a:r>
              <a:rPr lang="en" sz="17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(carnivores)   </a:t>
            </a:r>
            <a:r>
              <a:rPr lang="en" sz="17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# 6115</a:t>
            </a:r>
            <a:endParaRPr sz="17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nrow</a:t>
            </a:r>
            <a:r>
              <a:rPr lang="en" sz="17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(scavengers)   </a:t>
            </a:r>
            <a:r>
              <a:rPr lang="en" sz="17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#   20</a:t>
            </a:r>
            <a:endParaRPr sz="17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999999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26" name="Google Shape;226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33000" y="1546062"/>
            <a:ext cx="4160850" cy="30228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Two plots side by side</a:t>
            </a:r>
            <a:endParaRPr b="1"/>
          </a:p>
        </p:txBody>
      </p:sp>
      <p:sp>
        <p:nvSpPr>
          <p:cNvPr id="233" name="Google Shape;233;p36"/>
          <p:cNvSpPr txBox="1"/>
          <p:nvPr>
            <p:ph idx="1" type="body"/>
          </p:nvPr>
        </p:nvSpPr>
        <p:spPr>
          <a:xfrm>
            <a:off x="232569" y="1152475"/>
            <a:ext cx="8520600" cy="37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carnivores 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avonet[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which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Trophic.Level 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3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"Carnivore"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]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scavengers 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avonet[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which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Trophic.Level 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3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"Scavenger"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]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(mfrow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300">
                <a:solidFill>
                  <a:srgbClr val="CD20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300">
                <a:solidFill>
                  <a:srgbClr val="CD20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2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hist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log10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(carnivores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Mass)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3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main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3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"Carnivore"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hist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log10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(scavengers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Mass)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3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main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3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"Scavenger"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(mfrow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3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300">
                <a:solidFill>
                  <a:srgbClr val="CD20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3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300">
                <a:solidFill>
                  <a:srgbClr val="CD20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1</a:t>
            </a:r>
            <a:r>
              <a:rPr lang="en" sz="13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   </a:t>
            </a:r>
            <a:r>
              <a:rPr lang="en" sz="1300">
                <a:solidFill>
                  <a:srgbClr val="9999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 put it back!</a:t>
            </a:r>
            <a:endParaRPr sz="2200"/>
          </a:p>
        </p:txBody>
      </p:sp>
      <p:sp>
        <p:nvSpPr>
          <p:cNvPr id="234" name="Google Shape;234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5" name="Google Shape;235;p36"/>
          <p:cNvSpPr txBox="1"/>
          <p:nvPr/>
        </p:nvSpPr>
        <p:spPr>
          <a:xfrm>
            <a:off x="5064375" y="459775"/>
            <a:ext cx="3851100" cy="1623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980000"/>
                </a:solidFill>
              </a:rPr>
              <a:t>Your turn. </a:t>
            </a:r>
            <a:endParaRPr sz="2100">
              <a:solidFill>
                <a:srgbClr val="98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980000"/>
                </a:solidFill>
              </a:rPr>
              <a:t>Plot two groups from your data</a:t>
            </a:r>
            <a:endParaRPr sz="2100">
              <a:solidFill>
                <a:srgbClr val="980000"/>
              </a:solidFill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980000"/>
                </a:solidFill>
              </a:rPr>
              <a:t>side by side</a:t>
            </a:r>
            <a:endParaRPr sz="2100">
              <a:solidFill>
                <a:srgbClr val="98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980000"/>
                </a:solidFill>
              </a:rPr>
              <a:t>Potential figure 2 of 3.</a:t>
            </a:r>
            <a:endParaRPr sz="21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Four groups, four blocks</a:t>
            </a:r>
            <a:endParaRPr b="1"/>
          </a:p>
        </p:txBody>
      </p:sp>
      <p:sp>
        <p:nvSpPr>
          <p:cNvPr id="241" name="Google Shape;241;p3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What about all four groups?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241300" marR="431800" rtl="0" algn="l">
              <a:lnSpc>
                <a:spcPct val="141666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herbivores 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 avonet[</a:t>
            </a:r>
            <a:r>
              <a:rPr lang="en" sz="15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which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500">
              <a:solidFill>
                <a:srgbClr val="1A1A1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215900" lvl="0" marL="2413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avonet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Trophic.Level 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500">
                <a:solidFill>
                  <a:srgbClr val="1E9E3C"/>
                </a:solidFill>
                <a:latin typeface="Courier New"/>
                <a:ea typeface="Courier New"/>
                <a:cs typeface="Courier New"/>
                <a:sym typeface="Courier New"/>
              </a:rPr>
              <a:t> "Herbivore"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 ]</a:t>
            </a:r>
            <a:endParaRPr sz="1500">
              <a:solidFill>
                <a:srgbClr val="1A1A1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omnivores 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 avonet[</a:t>
            </a:r>
            <a:r>
              <a:rPr lang="en" sz="15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which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500">
              <a:solidFill>
                <a:srgbClr val="1A1A1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215900" lvl="0" marL="2413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avonet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Trophic.Level 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500">
                <a:solidFill>
                  <a:srgbClr val="1E9E3C"/>
                </a:solidFill>
                <a:latin typeface="Courier New"/>
                <a:ea typeface="Courier New"/>
                <a:cs typeface="Courier New"/>
                <a:sym typeface="Courier New"/>
              </a:rPr>
              <a:t> "Omnivore"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 ]</a:t>
            </a:r>
            <a:endParaRPr sz="1500">
              <a:solidFill>
                <a:srgbClr val="1A1A1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76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...then four </a:t>
            </a: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hist()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calls, differing by one word each, with </a:t>
            </a: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ylim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written out four times.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76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600">
                <a:solidFill>
                  <a:srgbClr val="980000"/>
                </a:solidFill>
                <a:latin typeface="Roboto"/>
                <a:ea typeface="Roboto"/>
                <a:cs typeface="Roboto"/>
                <a:sym typeface="Roboto"/>
              </a:rPr>
              <a:t>What’s the issue with this approach?</a:t>
            </a:r>
            <a:endParaRPr b="1" sz="2400">
              <a:solidFill>
                <a:srgbClr val="980000"/>
              </a:solidFill>
            </a:endParaRPr>
          </a:p>
        </p:txBody>
      </p:sp>
      <p:sp>
        <p:nvSpPr>
          <p:cNvPr id="242" name="Google Shape;242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For loops</a:t>
            </a:r>
            <a:endParaRPr b="1"/>
          </a:p>
        </p:txBody>
      </p:sp>
      <p:sp>
        <p:nvSpPr>
          <p:cNvPr id="248" name="Google Shape;248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52514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A </a:t>
            </a:r>
            <a:r>
              <a:rPr lang="en" sz="1700">
                <a:solidFill>
                  <a:srgbClr val="52514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for()</a:t>
            </a:r>
            <a:r>
              <a:rPr lang="en" sz="1700">
                <a:solidFill>
                  <a:srgbClr val="52514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loop does it once</a:t>
            </a:r>
            <a:endParaRPr sz="1700">
              <a:solidFill>
                <a:srgbClr val="52514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241300" marR="431800" rtl="0" algn="l">
              <a:lnSpc>
                <a:spcPct val="141666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C5621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n" sz="16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(level </a:t>
            </a:r>
            <a:r>
              <a:rPr lang="en" sz="1600">
                <a:solidFill>
                  <a:srgbClr val="C5621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</a:t>
            </a:r>
            <a:r>
              <a:rPr lang="en" sz="16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</a:t>
            </a:r>
            <a:r>
              <a:rPr lang="en" sz="16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6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"Carnivore"</a:t>
            </a:r>
            <a:r>
              <a:rPr lang="en" sz="16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6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"Herbivore"</a:t>
            </a:r>
            <a:r>
              <a:rPr lang="en" sz="16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6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"Omnivore"</a:t>
            </a:r>
            <a:r>
              <a:rPr lang="en" sz="16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6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"Scavenger"</a:t>
            </a:r>
            <a:r>
              <a:rPr lang="en" sz="16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 {</a:t>
            </a:r>
            <a:endParaRPr sz="16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print</a:t>
            </a:r>
            <a:r>
              <a:rPr lang="en" sz="16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(level)</a:t>
            </a:r>
            <a:endParaRPr sz="16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52514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76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52514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Runs the code in </a:t>
            </a:r>
            <a:r>
              <a:rPr lang="en" sz="1600">
                <a:solidFill>
                  <a:srgbClr val="0B0B0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{ }</a:t>
            </a:r>
            <a:r>
              <a:rPr lang="en" sz="1700">
                <a:solidFill>
                  <a:srgbClr val="52514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once per element, setting </a:t>
            </a:r>
            <a:r>
              <a:rPr lang="en" sz="1600">
                <a:solidFill>
                  <a:srgbClr val="0B0B0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level</a:t>
            </a:r>
            <a:r>
              <a:rPr lang="en" sz="1700">
                <a:solidFill>
                  <a:srgbClr val="52514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to each in turn.</a:t>
            </a:r>
            <a:endParaRPr sz="1700">
              <a:solidFill>
                <a:srgbClr val="52514E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76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700">
                <a:solidFill>
                  <a:srgbClr val="52514E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Now we put the plotting code inside!</a:t>
            </a:r>
            <a:endParaRPr/>
          </a:p>
        </p:txBody>
      </p:sp>
      <p:sp>
        <p:nvSpPr>
          <p:cNvPr id="249" name="Google Shape;249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For loops</a:t>
            </a:r>
            <a:endParaRPr b="1"/>
          </a:p>
        </p:txBody>
      </p:sp>
      <p:sp>
        <p:nvSpPr>
          <p:cNvPr id="255" name="Google Shape;255;p39"/>
          <p:cNvSpPr txBox="1"/>
          <p:nvPr>
            <p:ph idx="1" type="body"/>
          </p:nvPr>
        </p:nvSpPr>
        <p:spPr>
          <a:xfrm>
            <a:off x="311700" y="928975"/>
            <a:ext cx="8520600" cy="412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413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par(mfrow = c(2, 2))</a:t>
            </a:r>
            <a:endParaRPr b="1" sz="1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C5621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(level </a:t>
            </a:r>
            <a:r>
              <a:rPr lang="en" sz="1700">
                <a:solidFill>
                  <a:srgbClr val="C5621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</a:t>
            </a:r>
            <a:r>
              <a:rPr lang="en" sz="17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7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"Carnivore"</a:t>
            </a:r>
            <a:r>
              <a:rPr lang="en" sz="17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7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"Herbivore"</a:t>
            </a:r>
            <a:r>
              <a:rPr lang="en" sz="17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7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"Omnivore"</a:t>
            </a:r>
            <a:r>
              <a:rPr lang="en" sz="17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7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"Scavenger"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 {</a:t>
            </a:r>
            <a:endParaRPr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print</a:t>
            </a: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(level)</a:t>
            </a:r>
            <a:endParaRPr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group_data &lt;- avonet[which(</a:t>
            </a:r>
            <a:endParaRPr b="1"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avonet$Trophic.Level == level), ]</a:t>
            </a:r>
            <a:endParaRPr b="1"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hist(log10(group_data$Mass),</a:t>
            </a:r>
            <a:endParaRPr b="1"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main = level,</a:t>
            </a:r>
            <a:endParaRPr b="1"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xlab = "log10(Mass)",</a:t>
            </a:r>
            <a:endParaRPr b="1"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1557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ylim = c(0, 4000),breaks = c(0:6))</a:t>
            </a:r>
            <a:endParaRPr b="1"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41300" marR="4318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par(mfrow = c(1, 1))</a:t>
            </a:r>
            <a:endParaRPr sz="17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56" name="Google Shape;256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Making figures readable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3" name="Google Shape;26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2727" y="209900"/>
            <a:ext cx="3488425" cy="253427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plot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(x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 log10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(avonet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Mass)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    y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 log10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(avonet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Wing.Length))</a:t>
            </a:r>
            <a:endParaRPr sz="1500">
              <a:solidFill>
                <a:srgbClr val="1A1A1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1A1A1A"/>
              </a:solidFill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1A1A1A"/>
                </a:solidFill>
              </a:rPr>
              <a:t>Not bad, but could be improved.</a:t>
            </a:r>
            <a:endParaRPr sz="2000">
              <a:solidFill>
                <a:srgbClr val="1A1A1A"/>
              </a:solidFill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980000"/>
                </a:solidFill>
              </a:rPr>
              <a:t>How can we see the available arguments for plot()?</a:t>
            </a:r>
            <a:endParaRPr b="1" sz="20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2727" y="209900"/>
            <a:ext cx="3488425" cy="253427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Making figures readable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72" name="Google Shape;272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6100" y="282388"/>
            <a:ext cx="3288873" cy="23893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4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plot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log10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(avonet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Mass)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y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log10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(avonet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Wing.Length)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xlab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"Body mass (log10 g)"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ylab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"Wing length (log10 mm)"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main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"Wing length scales with body mass"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5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fit 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lm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log10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(Wing.Length) 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~</a:t>
            </a: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log10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(Mass)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data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avonet)</a:t>
            </a:r>
            <a:endParaRPr sz="15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abline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(fit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col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"red"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lwd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CD20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3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5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2727" y="209900"/>
            <a:ext cx="3488425" cy="2534275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Making figures readable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1" name="Google Shape;281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6100" y="282388"/>
            <a:ext cx="3288873" cy="23893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plot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log10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(avonet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Mass)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y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log10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(avonet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Wing.Length)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xlab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"Body mass (log10 g)"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ylab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"Wing length (log10 mm)"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main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"Wing length scales with body mass"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5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fit 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lm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log10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(Wing.Length) 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~</a:t>
            </a: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log10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(Mass)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data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avonet)</a:t>
            </a:r>
            <a:endParaRPr sz="15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73E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abline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(fit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col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1E9E3C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"red"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lwd</a:t>
            </a:r>
            <a:r>
              <a:rPr lang="en" sz="1500">
                <a:solidFill>
                  <a:srgbClr val="73737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CD20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3</a:t>
            </a:r>
            <a:r>
              <a:rPr lang="en" sz="1500">
                <a:solidFill>
                  <a:srgbClr val="1A1A1A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500">
              <a:solidFill>
                <a:srgbClr val="1A1A1A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42"/>
          <p:cNvSpPr txBox="1"/>
          <p:nvPr/>
        </p:nvSpPr>
        <p:spPr>
          <a:xfrm>
            <a:off x="273961" y="4580153"/>
            <a:ext cx="85608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980000"/>
                </a:solidFill>
              </a:rPr>
              <a:t>Your turn! Make a scatterplot from your own data. (potential plot 3)</a:t>
            </a:r>
            <a:endParaRPr sz="21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Saving a figure</a:t>
            </a:r>
            <a:endParaRPr/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1152475"/>
            <a:ext cx="8520600" cy="365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png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500">
                <a:solidFill>
                  <a:srgbClr val="1E9E3C"/>
                </a:solidFill>
                <a:latin typeface="Courier New"/>
                <a:ea typeface="Courier New"/>
                <a:cs typeface="Courier New"/>
                <a:sym typeface="Courier New"/>
              </a:rPr>
              <a:t>"my_figure.png"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   width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CD2054"/>
                </a:solidFill>
                <a:latin typeface="Courier New"/>
                <a:ea typeface="Courier New"/>
                <a:cs typeface="Courier New"/>
                <a:sym typeface="Courier New"/>
              </a:rPr>
              <a:t> 900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 height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 =</a:t>
            </a:r>
            <a:r>
              <a:rPr lang="en" sz="1500">
                <a:solidFill>
                  <a:srgbClr val="CD2054"/>
                </a:solidFill>
                <a:latin typeface="Courier New"/>
                <a:ea typeface="Courier New"/>
                <a:cs typeface="Courier New"/>
                <a:sym typeface="Courier New"/>
              </a:rPr>
              <a:t> 650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500">
              <a:solidFill>
                <a:srgbClr val="1A1A1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plot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5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log10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(avonet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Mass)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500">
              <a:solidFill>
                <a:srgbClr val="73737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     log10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(avonet</a:t>
            </a:r>
            <a:r>
              <a:rPr lang="en" sz="1500">
                <a:solidFill>
                  <a:srgbClr val="737373"/>
                </a:solidFill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Wing.Length))</a:t>
            </a:r>
            <a:endParaRPr sz="1500">
              <a:solidFill>
                <a:srgbClr val="1A1A1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0073E6"/>
                </a:solidFill>
                <a:latin typeface="Courier New"/>
                <a:ea typeface="Courier New"/>
                <a:cs typeface="Courier New"/>
                <a:sym typeface="Courier New"/>
              </a:rPr>
              <a:t>dev.off</a:t>
            </a:r>
            <a:r>
              <a:rPr lang="en" sz="1500">
                <a:solidFill>
                  <a:srgbClr val="1A1A1A"/>
                </a:solidFill>
                <a:latin typeface="Courier New"/>
                <a:ea typeface="Courier New"/>
                <a:cs typeface="Courier New"/>
                <a:sym typeface="Courier New"/>
              </a:rPr>
              <a:t>()   </a:t>
            </a:r>
            <a:r>
              <a:rPr lang="en" sz="15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# nothing is written until this</a:t>
            </a:r>
            <a:endParaRPr sz="15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52514E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52514E"/>
                </a:solidFill>
              </a:rPr>
              <a:t>Nothing appears in the Plots pane. That's normal.</a:t>
            </a:r>
            <a:endParaRPr sz="1600">
              <a:solidFill>
                <a:srgbClr val="52514E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980000"/>
                </a:solidFill>
              </a:rPr>
              <a:t>Your turn. Save all three figures. </a:t>
            </a:r>
            <a:endParaRPr b="1" sz="16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980000"/>
                </a:solidFill>
              </a:rPr>
              <a:t>Write a comment</a:t>
            </a:r>
            <a:r>
              <a:rPr b="1" lang="en" sz="1600">
                <a:solidFill>
                  <a:srgbClr val="980000"/>
                </a:solidFill>
              </a:rPr>
              <a:t>ed-out sentence below the code describing what the plot shows.</a:t>
            </a:r>
            <a:endParaRPr b="1" sz="1900">
              <a:solidFill>
                <a:srgbClr val="980000"/>
              </a:solidFill>
            </a:endParaRPr>
          </a:p>
        </p:txBody>
      </p:sp>
      <p:sp>
        <p:nvSpPr>
          <p:cNvPr id="290" name="Google Shape;290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idx="1" type="body"/>
          </p:nvPr>
        </p:nvSpPr>
        <p:spPr>
          <a:xfrm>
            <a:off x="311700" y="390475"/>
            <a:ext cx="8520600" cy="417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Remainder of class:</a:t>
            </a:r>
            <a:endParaRPr b="1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Continue working on 2.6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Start working on Assignment 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Next class:</a:t>
            </a:r>
            <a:endParaRPr b="1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Read and work through R for Data Science Chapter 3: </a:t>
            </a:r>
            <a:r>
              <a:rPr lang="en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https://r4ds.hadley.nz/data-transform.html</a:t>
            </a:r>
            <a:r>
              <a:rPr lang="en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296" name="Google Shape;296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