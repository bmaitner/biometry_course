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9573E9-94D7-40F8-81FC-8318ECE6FA9A}">
  <a:tblStyle styleId="{2B9573E9-94D7-40F8-81FC-8318ECE6FA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b0c6902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b0c6902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b0c6902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b0c6902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b0c69027e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b0c69027e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b0c69027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b0c69027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b0c69027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b0c69027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b0c69027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b0c69027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0c69027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b0c69027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b0c69027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b0c69027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b0c69027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b0c69027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b0c69027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b0c69027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b0c69027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b0c69027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b0c69027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b0c69027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b0c69027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b0c69027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b0c69027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b0c69027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b0c69027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b0c69027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b0c69027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b0c69027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b0c69027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b0c69027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b0c69027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b0c69027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b0c69027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b0c69027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b0c69027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b0c69027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b0c69027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b0c69027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b0c69027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b0c69027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b0c69027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b0c69027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b0c69027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b0c69027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b0c69027e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b0c69027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b0c69027e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b0c69027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b0c69027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9b0c69027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b0c69027e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b0c69027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Fitting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Model Fitting (7.1 - 7.2)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classes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been talking about how to fit models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</a:t>
            </a:r>
            <a:r>
              <a:rPr lang="en"/>
              <a:t>folks</a:t>
            </a:r>
            <a:r>
              <a:rPr lang="en"/>
              <a:t> have asked about the “method” argument in optim and mle2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Today we’ll cover what that is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Returning to the tadpole predation data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Predation experiment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Number killed as a function of initial number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12480"/>
          <a:stretch/>
        </p:blipFill>
        <p:spPr>
          <a:xfrm>
            <a:off x="4276000" y="2294950"/>
            <a:ext cx="4806224" cy="29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tadpole predation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by loading data and specifying a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library(bbmle)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data("ReedfrogFuncresp")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binomNLL2 &lt;- function(params, N, k){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 = params[1]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h = params[2]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pred_prob = a/ (1+a*h*N)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-sum(dbinom(x = k,size = N, prob = pred_prob,log = TRUE))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0" r="0" t="12480"/>
          <a:stretch/>
        </p:blipFill>
        <p:spPr>
          <a:xfrm>
            <a:off x="5403550" y="0"/>
            <a:ext cx="3740451" cy="22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tadpole predation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by loading data and specifying a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parnames(binomNLL2) &lt;- c("a","h")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m1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start = c(a=.5,h=2),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N = ReedfrogFuncresp$Initial))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0" t="12480"/>
          <a:stretch/>
        </p:blipFill>
        <p:spPr>
          <a:xfrm>
            <a:off x="5403550" y="0"/>
            <a:ext cx="3740451" cy="22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tadpole predation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Mle2 used an algorithm to fit your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find out which one, call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m1@method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methods did it use?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0" r="0" t="12480"/>
          <a:stretch/>
        </p:blipFill>
        <p:spPr>
          <a:xfrm>
            <a:off x="5403550" y="0"/>
            <a:ext cx="3740451" cy="22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fitting methods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used a particular </a:t>
            </a:r>
            <a:r>
              <a:rPr i="1" lang="en"/>
              <a:t>algorithm</a:t>
            </a:r>
            <a:r>
              <a:rPr lang="en"/>
              <a:t> to fit your model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Algorithm: “a procedure for solving a mathematical problem”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why does it need an algorithm at all?</a:t>
            </a:r>
            <a:endParaRPr/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0" y="4804800"/>
            <a:ext cx="61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https://www.merriam-webster.com/dictionary/algorithm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Fitting models: Brute Force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Simplest way to fit a model: evaluate all possible parameters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Doesn’t require an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some serious drawbacks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Let’s try fitting our model using brute force</a:t>
            </a:r>
            <a:endParaRPr/>
          </a:p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Brute force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182400" y="1152475"/>
            <a:ext cx="878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use brute force, we need to select parameters to check, let’s try:</a:t>
            </a:r>
            <a:endParaRPr/>
          </a:p>
          <a:p>
            <a:pPr indent="-457200" lvl="0" marL="685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a_vec &lt;- seq(from=0.1, to=0.9, by=.01)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4572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h_vec &lt;- seq(from=0.005, to=0.9, by=.001)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4572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4572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likelihood_surface &lt;- expand.grid(a_vec,h_vec) %&gt;% as.data.frame()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4572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colnames(likelihood_surface) &lt;- c("a","h")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4572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likelihood_surface$nll &lt;- NA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Take a look at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likelihood_surface</a:t>
            </a:r>
            <a:r>
              <a:rPr lang="en">
                <a:solidFill>
                  <a:srgbClr val="980000"/>
                </a:solidFill>
              </a:rPr>
              <a:t> to make sure you understand what it contains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Brute force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182400" y="1152475"/>
            <a:ext cx="878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use a for() loop to evaluate the </a:t>
            </a:r>
            <a:r>
              <a:rPr lang="en"/>
              <a:t>likelihoods: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91">
                <a:latin typeface="Consolas"/>
                <a:ea typeface="Consolas"/>
                <a:cs typeface="Consolas"/>
                <a:sym typeface="Consolas"/>
              </a:rPr>
              <a:t>  for(i in 1:nrow(likelihood_surface)){    </a:t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1">
                <a:latin typeface="Consolas"/>
                <a:ea typeface="Consolas"/>
                <a:cs typeface="Consolas"/>
                <a:sym typeface="Consolas"/>
              </a:rPr>
              <a:t>    likelihood_surface$nll[i] &lt;- binomNLL2(params = c(a = likelihood_surface$a[i],</a:t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1">
                <a:latin typeface="Consolas"/>
                <a:ea typeface="Consolas"/>
                <a:cs typeface="Consolas"/>
                <a:sym typeface="Consolas"/>
              </a:rPr>
              <a:t>                                                      H = likelihood_surface$h[i]),</a:t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91">
                <a:latin typeface="Consolas"/>
                <a:ea typeface="Consolas"/>
                <a:cs typeface="Consolas"/>
                <a:sym typeface="Consolas"/>
              </a:rPr>
              <a:t>                                           N = ReedfrogFuncresp$Initial,</a:t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91">
                <a:latin typeface="Consolas"/>
                <a:ea typeface="Consolas"/>
                <a:cs typeface="Consolas"/>
                <a:sym typeface="Consolas"/>
              </a:rPr>
              <a:t>                                           k = ReedfrogFuncresp$Killed)    </a:t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1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this, and then find the best parameters using: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1">
                <a:latin typeface="Consolas"/>
                <a:ea typeface="Consolas"/>
                <a:cs typeface="Consolas"/>
                <a:sym typeface="Consolas"/>
              </a:rPr>
              <a:t>  best_brute_force &lt;- likelihood_surface[which.min(likelihood_surface$nll),]</a:t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does this compare to your fit from m1?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Brute force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182400" y="1152475"/>
            <a:ext cx="878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brute-force option gave similar (but not identical)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only evaluates the options you told it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differences can be much more severe in some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we had only </a:t>
            </a:r>
            <a:r>
              <a:rPr lang="en"/>
              <a:t>evaluated</a:t>
            </a:r>
            <a:r>
              <a:rPr lang="en"/>
              <a:t> “a” from 0.7 to 0.9 we’d have missed the best values!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also may have notice that brute force was MUCH slower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much slower?</a:t>
            </a:r>
            <a:endParaRPr/>
          </a:p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your functions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system.time()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Will calculate the time it takes to run the code inside of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Tells you: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User time: time for user-specified instructions to run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System time: time for system processes to run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Elapsed time : total time taken</a:t>
            </a:r>
            <a:endParaRPr/>
          </a:p>
        </p:txBody>
      </p:sp>
      <p:sp>
        <p:nvSpPr>
          <p:cNvPr id="137" name="Google Shape;13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your functions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mle2_time &lt;- system.time(  m1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start = c(a=.5,h=2),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data = list(k =ReedfrogFuncresp$Killed,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N=ReedfrogFuncresp$Initial)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							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this. How long did it take?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your functions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97575" y="1152475"/>
            <a:ext cx="873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brute_force_time &lt;- system.time(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for(i in 1:nrow(likelihood_surface)){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likelihood_surface$nll[i] &lt;- binomNLL2(params = c(a=likelihood_surface$a[i],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                                               h=likelihood_surface$h[i]),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                                    N = ReedfrogFuncresp$Initial,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                                           k = ReedfrogFuncresp$Killed)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								   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 							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long did this one take?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your functions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97575" y="1152475"/>
            <a:ext cx="873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compare the two directly: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brute_force_time["elapsed"]/mle2_time["elapsed"]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Brute force is orders of magnitude slower!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8" name="Google Shape;15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your functions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97575" y="1152475"/>
            <a:ext cx="873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Brute force becomes even slower as we add more parameters.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Time will scale exponentially with the number of parameters added!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Brute force could take massive amounts of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the same set of data, 6 parameters evaluated at 100 values each: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Roughly 2 years of run time!</a:t>
            </a:r>
            <a:endParaRPr/>
          </a:p>
        </p:txBody>
      </p:sp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Brute Force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miss the best option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can be useful when other options fail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Usually, we rely on optimization algorithms</a:t>
            </a:r>
            <a:endParaRPr/>
          </a:p>
        </p:txBody>
      </p:sp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algorithms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optimization algorithms: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Derivative-based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BFGS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Derivative-free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Nelder-Mead Simplex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Simulated Annealing</a:t>
            </a:r>
            <a:endParaRPr/>
          </a:p>
        </p:txBody>
      </p:sp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BFGS</a:t>
            </a:r>
            <a:endParaRPr/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Method by Broyden, Fletcher, Goldfarb and Shanno (1970)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Derivatives tell us how the likelihood surface is changing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This method uses derivatives to figure out best values quickly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Fast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Fails</a:t>
            </a:r>
            <a:r>
              <a:rPr lang="en"/>
              <a:t> when given bad starting 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Fails when likelihood surface is not smooth</a:t>
            </a:r>
            <a:endParaRPr/>
          </a:p>
        </p:txBody>
      </p:sp>
      <p:sp>
        <p:nvSpPr>
          <p:cNvPr id="186" name="Google Shape;18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BFGS</a:t>
            </a:r>
            <a:endParaRPr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modify our code to use BFGS: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m1.bfgs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start = c(a=.5,h=2),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N = ReedfrogFuncresp$Initial)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         method = "BFGS"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How do the results compare to the brute force fit or m1?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BFGS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when we pick really bad parameters?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1B27"/>
                </a:solidFill>
              </a:rPr>
              <a:t> </a:t>
            </a:r>
            <a:r>
              <a:rPr lang="en">
                <a:solidFill>
                  <a:srgbClr val="0A1B2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A1B27"/>
                </a:solidFill>
                <a:latin typeface="Consolas"/>
                <a:ea typeface="Consolas"/>
                <a:cs typeface="Consolas"/>
                <a:sym typeface="Consolas"/>
              </a:rPr>
              <a:t>  m1.bfgs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.bad_start</a:t>
            </a:r>
            <a:r>
              <a:rPr lang="en">
                <a:solidFill>
                  <a:srgbClr val="0A1B27"/>
                </a:solidFill>
                <a:latin typeface="Consolas"/>
                <a:ea typeface="Consolas"/>
                <a:cs typeface="Consolas"/>
                <a:sym typeface="Consolas"/>
              </a:rPr>
              <a:t> &lt;- mle2(minuslogl = binomNLL2,</a:t>
            </a:r>
            <a:endParaRPr>
              <a:solidFill>
                <a:srgbClr val="0A1B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1B27"/>
                </a:solidFill>
                <a:latin typeface="Consolas"/>
                <a:ea typeface="Consolas"/>
                <a:cs typeface="Consolas"/>
                <a:sym typeface="Consolas"/>
              </a:rPr>
              <a:t>                  start =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c(a=.01,h=10)</a:t>
            </a:r>
            <a:r>
              <a:rPr lang="en">
                <a:solidFill>
                  <a:srgbClr val="0A1B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solidFill>
                <a:srgbClr val="0A1B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1B27"/>
                </a:solidFill>
                <a:latin typeface="Consolas"/>
                <a:ea typeface="Consolas"/>
                <a:cs typeface="Consolas"/>
                <a:sym typeface="Consolas"/>
              </a:rPr>
              <a:t>                  data = list(k = ReedfrogFuncresp$Killed,</a:t>
            </a:r>
            <a:endParaRPr>
              <a:solidFill>
                <a:srgbClr val="0A1B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1B27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N = ReedfrogFuncresp$Initial),</a:t>
            </a:r>
            <a:endParaRPr>
              <a:solidFill>
                <a:srgbClr val="0A1B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A1B27"/>
                </a:solidFill>
                <a:latin typeface="Consolas"/>
                <a:ea typeface="Consolas"/>
                <a:cs typeface="Consolas"/>
                <a:sym typeface="Consolas"/>
              </a:rPr>
              <a:t>                  method = "BFGS")</a:t>
            </a:r>
            <a:endParaRPr>
              <a:solidFill>
                <a:srgbClr val="0A1B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How do these estimates compare to the others?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Nelder-Mead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Doesn’t rely on derivatives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Evaluates functions at multiple locations in each step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Decides where to look and how far away to look based on local likelihoods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default method used by optim and mle2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Pros: More robust than BFGS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Cons: Slower than BFGS</a:t>
            </a:r>
            <a:endParaRPr/>
          </a:p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Nelder-Mead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Nelder-Mead: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m1.nm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start = c(a=.5,h=2),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N = ReedfrogFuncresp$Initial),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method =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"Nelder-Mead"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This should give the same value as you got for m1</a:t>
            </a:r>
            <a:endParaRPr/>
          </a:p>
        </p:txBody>
      </p:sp>
      <p:sp>
        <p:nvSpPr>
          <p:cNvPr id="214" name="Google Shape;21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Nelder-Mead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when we give this algorithm bad start values?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m1.nm.bad_start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start =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c(a=.01,h=10)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N = ReedfrogFuncresp$Initial),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method = "Nelder-Mead")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How do these parameters compare to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m1.nm</a:t>
            </a:r>
            <a:r>
              <a:rPr lang="en">
                <a:solidFill>
                  <a:srgbClr val="980000"/>
                </a:solidFill>
              </a:rPr>
              <a:t>? How about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m1.bfgs.bad_start?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1" name="Google Shape;22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Simulated Annealing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Global optimizer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 stochasticity to sample surface (helps avoid local maxima/minima)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Good choice for rugged surfaces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Pros: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-Very robust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Cons: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-Slow (but still </a:t>
            </a:r>
            <a:r>
              <a:rPr b="1" lang="en"/>
              <a:t>much </a:t>
            </a:r>
            <a:r>
              <a:rPr lang="en"/>
              <a:t>faster than brute force!)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- Can sometimes miss the best solution due to stochasticity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  (particularly when given bad starting values)</a:t>
            </a:r>
            <a:endParaRPr/>
          </a:p>
        </p:txBody>
      </p:sp>
      <p:sp>
        <p:nvSpPr>
          <p:cNvPr id="228" name="Google Shape;22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Simulated Annealing</a:t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out Simulated Annealing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m1.sa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start = c(a=.5,h=2),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N = ReedfrogFuncresp$Initial),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method = "SANN"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parameter estimates did people get?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Simulated Annealing</a:t>
            </a:r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give it bad starting values: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m1.sa.bad_start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start =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c(a=.01,h=10)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N = ReedfrogFuncresp$Initial),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method = "SANN")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How did it do?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42" name="Google Shape;24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Simulated Annealing and stochasticity</a:t>
            </a:r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311700" y="1152475"/>
            <a:ext cx="8520600" cy="3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Let’s use set.seed to make things a bit more reproducible and try again: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set.seed(1)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m1.sa.1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start =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c(a=.5,h=2)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N = ReedfrogFuncresp$Initial),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method = "SANN")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set.seed(2005)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m1.sa.2005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&lt;- mle2(minuslogl = binomNLL2,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start =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c(a=.5,h=2)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data = list(k = ReedfrogFuncresp$Killed,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N = ReedfrogFuncresp$Initial),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method = "SANN")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980000"/>
                </a:solidFill>
              </a:rPr>
              <a:t>Do the two functions give the same estimates?</a:t>
            </a:r>
            <a:endParaRPr sz="2300">
              <a:solidFill>
                <a:srgbClr val="980000"/>
              </a:solidFill>
            </a:endParaRPr>
          </a:p>
        </p:txBody>
      </p:sp>
      <p:sp>
        <p:nvSpPr>
          <p:cNvPr id="249" name="Google Shape;24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our fits using AIC</a:t>
            </a:r>
            <a:endParaRPr/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</a:t>
            </a:r>
            <a:r>
              <a:rPr lang="en"/>
              <a:t> of the model fit(s) did the best job?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Check using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AICtab()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Which algorithms seem best in this case?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Take-aways</a:t>
            </a:r>
            <a:endParaRPr/>
          </a:p>
        </p:txBody>
      </p:sp>
      <p:sp>
        <p:nvSpPr>
          <p:cNvPr id="262" name="Google Shape;26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3" name="Google Shape;263;p42"/>
          <p:cNvGraphicFramePr/>
          <p:nvPr/>
        </p:nvGraphicFramePr>
        <p:xfrm>
          <a:off x="761625" y="130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{2B9573E9-94D7-40F8-81FC-8318ECE6FA9A}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Algorithm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Brute Force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Slow, only selects among the selected values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BFGS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Fails with rough surfaces, relatively fragile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Nelder-Mead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robust than BFGS, works with rough surfaces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Slower than BFGS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Simulated Annealing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Global </a:t>
                      </a:r>
                      <a:r>
                        <a:rPr lang="en"/>
                        <a:t>optimizer</a:t>
                      </a:r>
                      <a:r>
                        <a:rPr lang="en"/>
                        <a:t>, most robust to rough surfaces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Slower than Nelder-Mead and BFGS, stochasticity can cause issues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7.4</a:t>
            </a:r>
            <a:endParaRPr/>
          </a:p>
        </p:txBody>
      </p:sp>
      <p:sp>
        <p:nvSpPr>
          <p:cNvPr id="269" name="Google Shape;26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