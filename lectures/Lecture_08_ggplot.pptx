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Robot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57E085-4FE1-4E11-93DD-0C22408218D7}">
  <a:tblStyle styleId="{5357E085-4FE1-4E11-93DD-0C22408218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-regular.fntdata"/><Relationship Id="rId47" Type="http://schemas.openxmlformats.org/officeDocument/2006/relationships/slide" Target="slides/slide41.xml"/><Relationship Id="rId49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2062905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2062905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66edb23b7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66edb23b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66edb23b7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66edb23b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66edb23b7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66edb23b7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66edb23b7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66edb23b7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66edb23b7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66edb23b7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66edb23b7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66edb23b7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66edb23b7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66edb23b7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66edb23b7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66edb23b7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66edb23b7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66edb23b7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66edb23b7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66edb23b7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66edb23b7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66edb23b7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66edb23b7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66edb23b7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66edb23b7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66edb23b7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66edb23b7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66edb23b7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66edb23b7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66edb23b7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66edb23b7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66edb23b7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66edb23b7_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66edb23b7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66edb23b7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66edb23b7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66edb23b7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66edb23b7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66edb23b7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66edb23b7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66edb23b7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66edb23b7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66edb23b7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66edb23b7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66edb23b7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66edb23b7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66edb23b7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66edb23b7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66edb23b7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66edb23b7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66edb23b7_1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66edb23b7_1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66edb23b7_1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66edb23b7_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66edb23b7_1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66edb23b7_1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66edb23b7_1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66edb23b7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66edb23b7_1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66edb23b7_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66edb23b7_1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a66edb23b7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66edb23b7_1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66edb23b7_1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66edb23b7_1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66edb23b7_1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66edb23b7_1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66edb23b7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66edb23b7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66edb23b7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aacc2c15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aacc2c15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aacc2c15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faacc2c15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66edb23b7_1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a66edb23b7_1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inyurl.com/avonetbirddat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rstudio.github.io/cheatsheets/html/data-visualization.html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figures with ggplot2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ggplot2 (R for Data Science Chapter 1)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ggplot2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package in the tidyverse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</a:t>
            </a:r>
            <a:r>
              <a:rPr lang="en"/>
              <a:t>g</a:t>
            </a:r>
            <a:r>
              <a:rPr lang="en"/>
              <a:t>g” refers to “grammar of graphics”, a consistent format for plotting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Offers a lot of options for </a:t>
            </a:r>
            <a:r>
              <a:rPr lang="en"/>
              <a:t>publication</a:t>
            </a:r>
            <a:r>
              <a:rPr lang="en"/>
              <a:t>-quality figures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Additional packages (usually starting with “gg”) add more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Syntax can be tricky at first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Getting set up</a:t>
            </a:r>
            <a:endParaRPr b="1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C5621B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lang="en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(tidyverse)</a:t>
            </a:r>
            <a:endParaRPr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C5621B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lang="en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(ggridges)</a:t>
            </a:r>
            <a:endParaRPr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avo </a:t>
            </a:r>
            <a:r>
              <a:rPr lang="en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read_rds</a:t>
            </a:r>
            <a:r>
              <a:rPr lang="en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>
                <a:solidFill>
                  <a:srgbClr val="1E9E3C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https://tinyurl.com/avonetbirddata</a:t>
            </a:r>
            <a:r>
              <a:rPr lang="en">
                <a:solidFill>
                  <a:srgbClr val="1E9E3C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80000"/>
                </a:solidFill>
              </a:rPr>
              <a:t>Go ahead and run this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B0B0B"/>
                </a:solidFill>
                <a:latin typeface="Courier New"/>
                <a:ea typeface="Courier New"/>
                <a:cs typeface="Courier New"/>
                <a:sym typeface="Courier New"/>
              </a:rPr>
              <a:t>ggridges</a:t>
            </a:r>
            <a:r>
              <a:rPr lang="en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 is new. Install it first if you need to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Understanding ggplot</a:t>
            </a:r>
            <a:endParaRPr b="1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Today, we’re going to work through some examples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We’ll start with single variables, then work up to more complicated figures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Distributions</a:t>
            </a:r>
            <a:endParaRPr b="1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single variable case and look at distributions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Base R: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hist(avo$Hand.Wing.Index)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ggplot: 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ggplot(mapping = aes(x = Hand.Wing.Index)) 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geom_histogram()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out now and examine the output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Distributions</a:t>
            </a:r>
            <a:endParaRPr b="1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also use a density plot: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avo |&gt;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ggplot(mapping = aes(x = Hand.Wing.Index))+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geom_density()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out now and examine the output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r>
              <a:rPr b="1" lang="en"/>
              <a:t>gplot syntax</a:t>
            </a:r>
            <a:endParaRPr b="1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ggplot(mapping = aes(x = Hand.Wing.Index)) 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geom_histogram()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happens if we omit the “geom_histogram” bit?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3448800" y="1605600"/>
            <a:ext cx="46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Maps data to plot elements</a:t>
            </a:r>
            <a:endParaRPr sz="1800">
              <a:solidFill>
                <a:srgbClr val="980000"/>
              </a:solidFill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3448800" y="2988203"/>
            <a:ext cx="46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Tells ggplot what type of plot to make</a:t>
            </a:r>
            <a:endParaRPr sz="1800">
              <a:solidFill>
                <a:srgbClr val="980000"/>
              </a:solidFill>
            </a:endParaRPr>
          </a:p>
        </p:txBody>
      </p:sp>
      <p:cxnSp>
        <p:nvCxnSpPr>
          <p:cNvPr id="101" name="Google Shape;101;p19"/>
          <p:cNvCxnSpPr/>
          <p:nvPr/>
        </p:nvCxnSpPr>
        <p:spPr>
          <a:xfrm flipH="1">
            <a:off x="1645800" y="1736100"/>
            <a:ext cx="1803000" cy="3312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9"/>
          <p:cNvCxnSpPr>
            <a:stCxn id="100" idx="1"/>
          </p:cNvCxnSpPr>
          <p:nvPr/>
        </p:nvCxnSpPr>
        <p:spPr>
          <a:xfrm rot="10800000">
            <a:off x="2536800" y="2941853"/>
            <a:ext cx="912000" cy="2772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ggplot syntax</a:t>
            </a:r>
            <a:endParaRPr b="1"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ggplot(mapping = aes(x = Hand.Wing.Index)) 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geom_histogram()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are some of the other “geom_” options? (hint: use tab completion)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Do they result in a figure if we call them instead of geom_histogram?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2335250" y="2629828"/>
            <a:ext cx="46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Plot functions begin with “geom_”</a:t>
            </a:r>
            <a:endParaRPr sz="1800">
              <a:solidFill>
                <a:srgbClr val="980000"/>
              </a:solidFill>
            </a:endParaRPr>
          </a:p>
        </p:txBody>
      </p:sp>
      <p:cxnSp>
        <p:nvCxnSpPr>
          <p:cNvPr id="111" name="Google Shape;111;p20"/>
          <p:cNvCxnSpPr/>
          <p:nvPr/>
        </p:nvCxnSpPr>
        <p:spPr>
          <a:xfrm rot="10800000">
            <a:off x="1306625" y="2571753"/>
            <a:ext cx="912000" cy="2772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Two variables</a:t>
            </a:r>
            <a:endParaRPr b="1"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Options depend on type of data: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9" name="Google Shape;119;p21"/>
          <p:cNvGraphicFramePr/>
          <p:nvPr/>
        </p:nvGraphicFramePr>
        <p:xfrm>
          <a:off x="623725" y="180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{5357E085-4FE1-4E11-93DD-0C22408218D7}</a:tableStyleId>
              </a:tblPr>
              <a:tblGrid>
                <a:gridCol w="871200"/>
                <a:gridCol w="1586700"/>
                <a:gridCol w="2096450"/>
                <a:gridCol w="2175625"/>
              </a:tblGrid>
              <a:tr h="429825">
                <a:tc gridSpan="2"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0255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Continuous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Categorical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23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Continuous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r>
                        <a:rPr lang="en"/>
                        <a:t>eom_point,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geom_line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geom_density_ridges,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coord_flip()-ed versions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5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Categorical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geom_bar,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geom_boxplot,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geom_violin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r>
                        <a:rPr lang="en"/>
                        <a:t>eom_tile,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r>
                        <a:rPr lang="en"/>
                        <a:t>eom_raster,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Continuous x, continuous y</a:t>
            </a:r>
            <a:endParaRPr b="1"/>
          </a:p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geom_point</a:t>
            </a:r>
            <a:endParaRPr b="1"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ggplot(mapping = aes(x = Hand.Wing.Index,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y = Kipps.Distance))+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geom_point()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out. Then, plot two other continuous variables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geom_point</a:t>
            </a:r>
            <a:endParaRPr b="1"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ggplot(mapping = aes(x = Hand.Wing.Index,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y = Kipps.Distance))+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geom_point()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How would we plot a line showing the relationship between the two?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lines</a:t>
            </a:r>
            <a:endParaRPr b="1"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main approaches: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geom_line()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adds a line connecting adjacent points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Doesn’t work in this case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geom_abline()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allows you to add a line you specify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Good option here if we fit a line first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geom_smooth()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fits a line for you and add it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lang="en"/>
              <a:t>ood option here</a:t>
            </a:r>
            <a:endParaRPr/>
          </a:p>
        </p:txBody>
      </p:sp>
      <p:sp>
        <p:nvSpPr>
          <p:cNvPr id="146" name="Google Shape;14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geom_line()</a:t>
            </a:r>
            <a:endParaRPr b="1"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ggplot(mapping = aes(x = Hand.Wing.Index,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y = Kipps.Distance))+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geom_line()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out. Is it useful?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geom_line()</a:t>
            </a:r>
            <a:endParaRPr b="1"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mutate(rounded_hwi = round(Hand.Wing.Index))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group_by(rounded_hwi)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summarise(mean_kipps = mean(Kipps.Distance))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ggplot(mapping = aes(x = rounded_hwi,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y = mean_kipps))+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geom_line()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one.  Is this useful?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60" name="Google Shape;16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geom_abline()</a:t>
            </a:r>
            <a:endParaRPr b="1"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With this, we can add a fitted line to a plot.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First, we need to decide on a line, or model 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kipps_v_hwi_model &lt;- avo |&gt;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lm(formula = Kipps.Distance ~ Hand.Wing.Index)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    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data do we need from the model to plot the fitted line?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geom_abline()</a:t>
            </a:r>
            <a:endParaRPr b="1"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ggplot(data = avo,mapping = aes(x = Hand.Wing.Index,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y = Kipps.Distance))+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geom_point()+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geom_abline(slope = kipps_v_hwi_model$coefficients[2],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intercept = kipps_v_hwi_model$coefficients[1],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color = "blue")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this.  How does it look? Any changes you’d want to make?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74" name="Google Shape;17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geom_smooth()</a:t>
            </a:r>
            <a:endParaRPr b="1"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Fits a line for you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By default uses a loess fit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In many cases, we want an lm instead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ggplot(data = avo,mapping = aes(x = Hand.Wing.Index,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  y = Kipps.Distance))+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geom_point()+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geom_smooth()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now. How does the fitted line look?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geom_smooth()</a:t>
            </a:r>
            <a:endParaRPr b="1"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ggplot(data = avo,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mapping = aes(x = Hand.Wing.Index,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y = Kipps.Distance)) +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geom_point() +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geom_smooth(method = "lm")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this. How does it compare with the plot you made using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geom_abline</a:t>
            </a:r>
            <a:r>
              <a:rPr lang="en">
                <a:solidFill>
                  <a:srgbClr val="980000"/>
                </a:solidFill>
              </a:rPr>
              <a:t>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Categorical x, continuous y</a:t>
            </a:r>
            <a:endParaRPr b="1"/>
          </a:p>
        </p:txBody>
      </p:sp>
      <p:sp>
        <p:nvSpPr>
          <p:cNvPr id="194" name="Google Shape;19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geom_bar</a:t>
            </a:r>
            <a:endParaRPr b="1"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group_by(Order1)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summarise(mean_mass = mean(Mass))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slice_max(n = 5, order_by = mean_mass)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ggplot(mapping = aes(y = mean_mass, x = Order1)) 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geom_bar(stat = "identity")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980000"/>
                </a:solidFill>
              </a:rPr>
              <a:t>Try this out.  Then, try it for different variable(s)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geom_bar</a:t>
            </a:r>
            <a:endParaRPr b="1"/>
          </a:p>
        </p:txBody>
      </p:sp>
      <p:sp>
        <p:nvSpPr>
          <p:cNvPr id="207" name="Google Shape;20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By default,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geom_bar</a:t>
            </a:r>
            <a:r>
              <a:rPr lang="en"/>
              <a:t> uses count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forced it to use the raw data we gave it (mean_mass)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Let’s try the default setting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geom_bar</a:t>
            </a:r>
            <a:endParaRPr b="1"/>
          </a:p>
        </p:txBody>
      </p:sp>
      <p:sp>
        <p:nvSpPr>
          <p:cNvPr id="214" name="Google Shape;21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filter(Order1 %in% c("Struthioniformes",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"Cathartiformes",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"Gaviiformes",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"Sphenisciformes",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"Ciconiiformes"))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ggplot(mapping = aes(x= Order1)) 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geom_bar()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one.  Why don’t we have to specify y in the aesthetics?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geom_boxplot</a:t>
            </a:r>
            <a:endParaRPr b="1"/>
          </a:p>
        </p:txBody>
      </p:sp>
      <p:sp>
        <p:nvSpPr>
          <p:cNvPr id="221" name="Google Shape;22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filter(Order1 %in% c("Struthioniformes",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"Cathartiformes",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"Gaviiformes",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"Sphenisciformes",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"Ciconiiformes"))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ggplot(mapping = aes(x= Order1,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y = Wing.Length)) 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geom_boxplot()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now.  Who remembers what the different features denote?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22" name="Google Shape;22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geom_boxplot</a:t>
            </a:r>
            <a:endParaRPr b="1"/>
          </a:p>
        </p:txBody>
      </p:sp>
      <p:sp>
        <p:nvSpPr>
          <p:cNvPr id="228" name="Google Shape;22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9" name="Google Shape;22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9525"/>
            <a:ext cx="6080493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7"/>
          <p:cNvSpPr txBox="1"/>
          <p:nvPr/>
        </p:nvSpPr>
        <p:spPr>
          <a:xfrm>
            <a:off x="6630350" y="492075"/>
            <a:ext cx="2532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Horizontal</a:t>
            </a:r>
            <a:r>
              <a:rPr lang="en" sz="1800">
                <a:solidFill>
                  <a:schemeClr val="dk2"/>
                </a:solidFill>
              </a:rPr>
              <a:t> line = Median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Hinges = Q1 and Q3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Whiskers =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Furthest data within 1.5*IQR from Q1/Q3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IQR = Q3-Q1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Dots = outliers (points outside whiskers)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geom_violin</a:t>
            </a:r>
            <a:endParaRPr b="1"/>
          </a:p>
        </p:txBody>
      </p:sp>
      <p:sp>
        <p:nvSpPr>
          <p:cNvPr id="236" name="Google Shape;23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sort of combination of a density plot and a boxplot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Contains more information than a boxplot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Revise the code we used for our boxplot to make a violin plot instead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37" name="Google Shape;23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Box vs violin</a:t>
            </a:r>
            <a:endParaRPr b="1"/>
          </a:p>
        </p:txBody>
      </p:sp>
      <p:sp>
        <p:nvSpPr>
          <p:cNvPr id="243" name="Google Shape;24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4" name="Google Shape;2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499" y="1128000"/>
            <a:ext cx="6177425" cy="38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Continuous x, categorical y</a:t>
            </a:r>
            <a:endParaRPr b="1"/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functions as for categorical x and continuous 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Just flip the x and y variables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Can also 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coord_flip()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group_by(Order1)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summarise(mean_mass = mean(Mass))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slice_max(n = 5, order_by = mean_mass)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ggplot(mapping = aes(y = mean_mass, x = Order1)) 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geom_bar(stat = "identity")+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coord_flip()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this one out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251" name="Google Shape;25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Joy Plots (aka Ridgeline plots)</a:t>
            </a:r>
            <a:endParaRPr b="1"/>
          </a:p>
        </p:txBody>
      </p:sp>
      <p:sp>
        <p:nvSpPr>
          <p:cNvPr id="257" name="Google Shape;257;p41"/>
          <p:cNvSpPr txBox="1"/>
          <p:nvPr>
            <p:ph idx="1" type="body"/>
          </p:nvPr>
        </p:nvSpPr>
        <p:spPr>
          <a:xfrm>
            <a:off x="311700" y="1152475"/>
            <a:ext cx="418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Inspired by Joy Division’s album, </a:t>
            </a:r>
            <a:r>
              <a:rPr i="1" lang="en"/>
              <a:t>Unknown Pleasures</a:t>
            </a:r>
            <a:r>
              <a:rPr lang="en"/>
              <a:t> (1979)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Essentially a stacked set of distributions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Implemented in R using        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geom_density_ridges()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9" name="Google Shape;2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9725" y="565725"/>
            <a:ext cx="3733750" cy="370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geom_density_ridges</a:t>
            </a:r>
            <a:endParaRPr b="1"/>
          </a:p>
        </p:txBody>
      </p:sp>
      <p:sp>
        <p:nvSpPr>
          <p:cNvPr id="265" name="Google Shape;26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group_by(Order1)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mutate(mean_mass = mean(Mass))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filter(Order1 %in% c("Struthioniformes",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"Cathartiformes",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"Gaviiformes",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"Sphenisciformes",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"Ciconiiformes"))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ggplot(mapping = aes(x = Wing.Length,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y = Order1,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group = Order1))+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geom_density_ridges()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this out!</a:t>
            </a:r>
            <a:endParaRPr b="1">
              <a:solidFill>
                <a:srgbClr val="980000"/>
              </a:solidFill>
            </a:endParaRPr>
          </a:p>
        </p:txBody>
      </p:sp>
      <p:sp>
        <p:nvSpPr>
          <p:cNvPr id="266" name="Google Shape;26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Categorical x, categorical y</a:t>
            </a:r>
            <a:endParaRPr b="1"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 common thing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Sometimes done to show the counts in the different categories</a:t>
            </a:r>
            <a:endParaRPr/>
          </a:p>
        </p:txBody>
      </p:sp>
      <p:sp>
        <p:nvSpPr>
          <p:cNvPr id="273" name="Google Shape;27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geom_count</a:t>
            </a:r>
            <a:endParaRPr b="1"/>
          </a:p>
        </p:txBody>
      </p:sp>
      <p:sp>
        <p:nvSpPr>
          <p:cNvPr id="279" name="Google Shape;27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filter(Family1 %in% c("Psittacidae","Cacatuidae"))|&gt;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ggplot(mapping = aes(x = Family1,y = Habitat))+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geom_count()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out. Are there situations where it might be useful?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80" name="Google Shape;28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geom_tile</a:t>
            </a:r>
            <a:endParaRPr b="1"/>
          </a:p>
        </p:txBody>
      </p:sp>
      <p:sp>
        <p:nvSpPr>
          <p:cNvPr id="286" name="Google Shape;28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group_by(Family1, Trophic.Level)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mutate(n_species = n(),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log10_species = n() |&gt; log10())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filter(Family1 %in% c("Psittacidae", "Cacatuidae"))|&gt;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ggplot(mapping = aes(x = Family1,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y = Trophic.Level,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fill = log10_species))+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geom_tile()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one out as well.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87" name="Google Shape;28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More than 2 variables?</a:t>
            </a:r>
            <a:endParaRPr b="1"/>
          </a:p>
        </p:txBody>
      </p:sp>
      <p:sp>
        <p:nvSpPr>
          <p:cNvPr id="293" name="Google Shape;293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you have more than two variables, options include: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color/fill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shape/line 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faceting </a:t>
            </a:r>
            <a:endParaRPr/>
          </a:p>
        </p:txBody>
      </p:sp>
      <p:sp>
        <p:nvSpPr>
          <p:cNvPr id="294" name="Google Shape;29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Color and fill</a:t>
            </a:r>
            <a:endParaRPr b="1"/>
          </a:p>
        </p:txBody>
      </p:sp>
      <p:sp>
        <p:nvSpPr>
          <p:cNvPr id="300" name="Google Shape;300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Color used for lines and points, fill for polygons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Example of using color to show three variables: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filter(Family1 %in% c("Psittacidae","Cacatuidae"))|&gt;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group_by(Family1,Habitat)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summarise(mean_mass = mean(Mass))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slice_max(n = 5, order_by = mean_mass)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ggplot(mapping = aes(y = mean_mass,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x = Family1, fill = Habitat)) 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geom_bar(stat = "identity", position = "dodge")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one out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301" name="Google Shape;30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faceting</a:t>
            </a:r>
            <a:endParaRPr b="1"/>
          </a:p>
        </p:txBody>
      </p:sp>
      <p:sp>
        <p:nvSpPr>
          <p:cNvPr id="307" name="Google Shape;30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acet_wrap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facet_grid</a:t>
            </a:r>
            <a:r>
              <a:rPr lang="en">
                <a:solidFill>
                  <a:schemeClr val="dk1"/>
                </a:solidFill>
              </a:rPr>
              <a:t> split up plots into different facets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</a:rPr>
              <a:t>Try out this example: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avo |&gt;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filter(Family1 %in% c("Psittacidae", "Cacatuidae"))|&gt;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ggplot(mapping = aes(x = Mass,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y = Wing.Length))+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geom_point()+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facet_wrap(~Family1)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" name="Google Shape;30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faceting</a:t>
            </a:r>
            <a:endParaRPr b="1"/>
          </a:p>
        </p:txBody>
      </p:sp>
      <p:sp>
        <p:nvSpPr>
          <p:cNvPr id="314" name="Google Shape;314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Facet grid allows you to have plots divided into rows/columns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avo 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filter(Family1 %in% c("Psittacidae", "Cacatuidae"))|&gt;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ggplot(mapping = aes(x = Mass,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y = Wing.Length))+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geom_point()+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facet_grid(Family1 ~ Trophic.Niche)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90000"/>
                </a:solidFill>
              </a:rPr>
              <a:t>Try this one out as well. Note the structure of the facet_grid arguments (y </a:t>
            </a:r>
            <a:r>
              <a:rPr lang="en">
                <a:solidFill>
                  <a:srgbClr val="990000"/>
                </a:solidFill>
              </a:rPr>
              <a:t>~ x)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315" name="Google Shape;31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Labelling your figure</a:t>
            </a:r>
            <a:endParaRPr b="1"/>
          </a:p>
        </p:txBody>
      </p:sp>
      <p:sp>
        <p:nvSpPr>
          <p:cNvPr id="321" name="Google Shape;321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avo 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|&gt;</a:t>
            </a:r>
            <a:endParaRPr sz="13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ggplot</a:t>
            </a: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(mapping = </a:t>
            </a:r>
            <a:r>
              <a:rPr lang="en" sz="13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aes</a:t>
            </a: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Hand.Wing.Index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y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Kipps.Distance)) 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sz="13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geom_point</a:t>
            </a: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(alpha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CD2054"/>
                </a:solidFill>
                <a:latin typeface="Courier New"/>
                <a:ea typeface="Courier New"/>
                <a:cs typeface="Courier New"/>
                <a:sym typeface="Courier New"/>
              </a:rPr>
              <a:t> 0.1</a:t>
            </a: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sz="13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geom_smooth</a:t>
            </a: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(method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1E9E3C"/>
                </a:solidFill>
                <a:latin typeface="Courier New"/>
                <a:ea typeface="Courier New"/>
                <a:cs typeface="Courier New"/>
                <a:sym typeface="Courier New"/>
              </a:rPr>
              <a:t> "lm"</a:t>
            </a: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sz="13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labs</a:t>
            </a: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(title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1E9E3C"/>
                </a:solidFill>
                <a:latin typeface="Courier New"/>
                <a:ea typeface="Courier New"/>
                <a:cs typeface="Courier New"/>
                <a:sym typeface="Courier New"/>
              </a:rPr>
              <a:t> "Kipp's distance rises with hand-wing index"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x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1E9E3C"/>
                </a:solidFill>
                <a:latin typeface="Courier New"/>
                <a:ea typeface="Courier New"/>
                <a:cs typeface="Courier New"/>
                <a:sym typeface="Courier New"/>
              </a:rPr>
              <a:t> "Hand-wing index"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y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1E9E3C"/>
                </a:solidFill>
                <a:latin typeface="Courier New"/>
                <a:ea typeface="Courier New"/>
                <a:cs typeface="Courier New"/>
                <a:sym typeface="Courier New"/>
              </a:rPr>
              <a:t> "Kipp's distance (mm)"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caption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300">
                <a:solidFill>
                  <a:srgbClr val="1E9E3C"/>
                </a:solidFill>
                <a:latin typeface="Courier New"/>
                <a:ea typeface="Courier New"/>
                <a:cs typeface="Courier New"/>
                <a:sym typeface="Courier New"/>
              </a:rPr>
              <a:t> "Data: AVONET"</a:t>
            </a: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300">
                <a:solidFill>
                  <a:srgbClr val="737373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sz="1300">
              <a:solidFill>
                <a:srgbClr val="73737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73E6"/>
                </a:solidFill>
                <a:latin typeface="Courier New"/>
                <a:ea typeface="Courier New"/>
                <a:cs typeface="Courier New"/>
                <a:sym typeface="Courier New"/>
              </a:rPr>
              <a:t> theme_bw</a:t>
            </a:r>
            <a:r>
              <a:rPr lang="en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300">
              <a:solidFill>
                <a:srgbClr val="1A1A1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52514E"/>
                </a:solidFill>
                <a:latin typeface="Roboto"/>
                <a:ea typeface="Roboto"/>
                <a:cs typeface="Roboto"/>
                <a:sym typeface="Roboto"/>
              </a:rPr>
              <a:t>One function, multiple labels.</a:t>
            </a:r>
            <a:endParaRPr sz="1400">
              <a:solidFill>
                <a:srgbClr val="52514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Saving your figure</a:t>
            </a:r>
            <a:endParaRPr b="1"/>
          </a:p>
        </p:txBody>
      </p:sp>
      <p:sp>
        <p:nvSpPr>
          <p:cNvPr id="328" name="Google Shape;328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my_plot 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avo 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|&gt;</a:t>
            </a:r>
            <a:endParaRPr sz="14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ggplot</a:t>
            </a: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(mapping = </a:t>
            </a:r>
            <a:r>
              <a:rPr lang="en" sz="14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aes</a:t>
            </a: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(x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Mass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y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Wing.Length)) 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sz="14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geom_point</a:t>
            </a: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0073E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ggsave</a:t>
            </a: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(filename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en" sz="1400">
                <a:solidFill>
                  <a:srgbClr val="1E9E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"my_figure.png"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4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plot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=</a:t>
            </a: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my_plot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4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width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=</a:t>
            </a:r>
            <a:r>
              <a:rPr lang="en" sz="14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8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4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height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=</a:t>
            </a:r>
            <a:r>
              <a:rPr lang="en" sz="14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5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400">
              <a:solidFill>
                <a:srgbClr val="73737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65100" marR="43180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dpi</a:t>
            </a:r>
            <a:r>
              <a:rPr lang="en" sz="1400">
                <a:solidFill>
                  <a:srgbClr val="73737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=</a:t>
            </a:r>
            <a:r>
              <a:rPr lang="en" sz="1400">
                <a:solidFill>
                  <a:srgbClr val="CD205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300</a:t>
            </a:r>
            <a:r>
              <a:rPr lang="en" sz="1400">
                <a:solidFill>
                  <a:srgbClr val="1A1A1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1A1A1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No </a:t>
            </a:r>
            <a:r>
              <a:rPr b="1"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dev.off()</a:t>
            </a:r>
            <a:r>
              <a:rPr b="1" lang="en" sz="1500">
                <a:solidFill>
                  <a:schemeClr val="dk1"/>
                </a:solidFill>
              </a:rPr>
              <a:t>. No blank Plots pane.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Leave out </a:t>
            </a:r>
            <a:r>
              <a:rPr b="1"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plot =</a:t>
            </a:r>
            <a:r>
              <a:rPr b="1" lang="en" sz="1500">
                <a:solidFill>
                  <a:schemeClr val="dk1"/>
                </a:solidFill>
              </a:rPr>
              <a:t> and it saves the last one you made.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329" name="Google Shape;32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Soooo many more options</a:t>
            </a:r>
            <a:endParaRPr b="1"/>
          </a:p>
        </p:txBody>
      </p:sp>
      <p:sp>
        <p:nvSpPr>
          <p:cNvPr id="335" name="Google Shape;335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we’ve done today only scratches the surface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Many ways of combining plots, customizing,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Lots of blogs and tutorials to look at once you have the basics down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Check out the cheat sheet at: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https://rstudio.github.io/cheatsheets/html/data-visualization.html</a:t>
            </a:r>
            <a:r>
              <a:rPr lang="en"/>
              <a:t> </a:t>
            </a:r>
            <a:endParaRPr/>
          </a:p>
        </p:txBody>
      </p:sp>
      <p:sp>
        <p:nvSpPr>
          <p:cNvPr id="336" name="Google Shape;33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3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Read Bolker 3.1 to 3.3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Next time: Deterministic functions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Assignment 1 due tomorrow, Friday, 11:59 pm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