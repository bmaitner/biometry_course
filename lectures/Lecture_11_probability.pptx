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F4E88B-36BC-4483-84B6-C4A8FA46B4A6}">
  <a:tblStyle styleId="{9DF4E88B-36BC-4483-84B6-C4A8FA46B4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1e899363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1e899363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1e899363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1e899363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1e899363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1e899363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1e899363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1e899363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1e899363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1e899363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1e899363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1e899363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3c3d70eb26becfa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3c3d70eb26becfa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1e899363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1e899363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1e899363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1e899363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3c3d70eb26becfa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3c3d70eb26becfa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P(infected)            = 42/100 = 0.42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the infected row total, over all 100 frogs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P(infected and pond)   = 30/100 = 0.30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one cell, over all 100 frogs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P(infected | pond)     = P(infected and pond) / P(pond)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= 0.30 / 0.50 = 0.60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or straight off the table: 30/50, the pond column 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wrong answer to expect: 30/100 = 0.30, dividing by everyone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P(infected | stream)   = 0.12 / 0.50 = 0.24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or 12/50, the stream column 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P(infected or pond)    = P(infected) + P(pond) - P(infected and pond)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= 0.42 + 0.50 - 0.30 = 0.62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check by counting: 30 + 12 + 20 = 62 frogs out of 100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wrong answer to expect: 0.42 + 0.50 = 0.92, the 30 counted twice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3c3d70eb26becfa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3c3d70eb26becfa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3c3d70eb26becfa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h3c3d70eb26becfa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3c3d70eb26becfa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3c3d70eb26becfa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3c3d70eb26becfa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h3c3d70eb26becfa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1e899363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1e899363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1e899363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1e899363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1e899363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81e899363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1e899363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1e899363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1e899363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81e899363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1e899363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1e899363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1e899363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1e899363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1e899363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1e899363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1e899363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81e899363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1e899363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1e899363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1e899363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81e899363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1e899363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81e899363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and </a:t>
            </a:r>
            <a:r>
              <a:rPr lang="en"/>
              <a:t>stochasticity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Variability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Probability theory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Analyzing probability theory</a:t>
            </a:r>
            <a:endParaRPr sz="1800"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Variability</a:t>
            </a:r>
            <a:endParaRPr b="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Increasing recognition of importance biologically (e.g., intraspecific variation)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Important component of </a:t>
            </a:r>
            <a:r>
              <a:rPr lang="en"/>
              <a:t>statistical</a:t>
            </a:r>
            <a:r>
              <a:rPr lang="en"/>
              <a:t> models (“signal” vs “noise”)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15541"/>
          <a:stretch/>
        </p:blipFill>
        <p:spPr>
          <a:xfrm>
            <a:off x="864198" y="1976124"/>
            <a:ext cx="4942750" cy="29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Variability</a:t>
            </a:r>
            <a:endParaRPr b="1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Different sources of variability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Unmeasured variables (e.g., environmental </a:t>
            </a:r>
            <a:r>
              <a:rPr lang="en"/>
              <a:t>stochasticity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Measurement error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Inherent uncertainty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Demographic stochasticity (50% survival in a population of 3)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Nonlinear</a:t>
            </a:r>
            <a:r>
              <a:rPr lang="en"/>
              <a:t> </a:t>
            </a:r>
            <a:r>
              <a:rPr lang="en"/>
              <a:t>dynamics</a:t>
            </a:r>
            <a:r>
              <a:rPr lang="en"/>
              <a:t> can increase/decrease variation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0" t="15541"/>
          <a:stretch/>
        </p:blipFill>
        <p:spPr>
          <a:xfrm>
            <a:off x="6106800" y="254087"/>
            <a:ext cx="2911125" cy="176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Variability</a:t>
            </a:r>
            <a:endParaRPr b="1"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ways of handling variability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Try to explain it vs. treat as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15541"/>
          <a:stretch/>
        </p:blipFill>
        <p:spPr>
          <a:xfrm>
            <a:off x="5914075" y="2265900"/>
            <a:ext cx="3157850" cy="191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2286" y="214123"/>
            <a:ext cx="2561450" cy="1764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6"/>
          <p:cNvCxnSpPr/>
          <p:nvPr/>
        </p:nvCxnSpPr>
        <p:spPr>
          <a:xfrm>
            <a:off x="7563575" y="2045475"/>
            <a:ext cx="8700" cy="56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Probability theory refresher</a:t>
            </a:r>
            <a:endParaRPr b="1"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Probabilities sum to 1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Probability theory refresher</a:t>
            </a:r>
            <a:endParaRPr b="1"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For mutually exclusive events: Probability A or B = P(A) + P(B)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P(Dead or alive) = P(Dead) + P(Alive) = 1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P(Dead) = 0.4, P(Alive) = 0.6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P(SIR) = P(S) + P(I) + P(R) = 1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P(S) = 0.1, and P(R) = 0.2, P(S or R) = 0.3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Then P(I) = 0.7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Probability theory refresher</a:t>
            </a:r>
            <a:endParaRPr b="1"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For non-mutually exclusive events,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Have to account for double counting: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P(Blue OR Male) =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P(Blue) + P(Male) - P(Blue AND Male) = 0.65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3" name="Google Shape;103;p19"/>
          <p:cNvGraphicFramePr/>
          <p:nvPr/>
        </p:nvGraphicFramePr>
        <p:xfrm>
          <a:off x="4973050" y="36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{9DF4E88B-36BC-4483-84B6-C4A8FA46B4A6}</a:tableStyleId>
              </a:tblPr>
              <a:tblGrid>
                <a:gridCol w="1266675"/>
                <a:gridCol w="1266675"/>
                <a:gridCol w="1266675"/>
              </a:tblGrid>
              <a:tr h="44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cxnSp>
        <p:nvCxnSpPr>
          <p:cNvPr id="104" name="Google Shape;104;p19"/>
          <p:cNvCxnSpPr/>
          <p:nvPr/>
        </p:nvCxnSpPr>
        <p:spPr>
          <a:xfrm rot="10800000">
            <a:off x="3240500" y="3002200"/>
            <a:ext cx="0" cy="691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9"/>
          <p:cNvSpPr txBox="1"/>
          <p:nvPr/>
        </p:nvSpPr>
        <p:spPr>
          <a:xfrm>
            <a:off x="2065450" y="3844075"/>
            <a:ext cx="290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Corrects for double-counts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Can you just add them?</a:t>
            </a:r>
            <a:endParaRPr b="1"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P(A or B) = P(A) + P(B) only when A and B cannot both happen.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Which of these pairs can both happen at once?</a:t>
            </a:r>
            <a:endParaRPr b="1">
              <a:solidFill>
                <a:srgbClr val="98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1. A frog is infected / the frog is uninfected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2. A bird is male / the bird is blue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3. A site is a pond / the site is a stream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4. A tree flowered this year / the tree is more than 20 cm across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Probability theory refresher</a:t>
            </a:r>
            <a:endParaRPr b="1"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Conditional probability: Probability of something, given something else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P(A|B) = P(A and B) / P(B)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P(Male|Blue) = P(Blue male) / P(Blue)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0.40 = 0.20/.50</a:t>
            </a:r>
            <a:endParaRPr/>
          </a:p>
        </p:txBody>
      </p:sp>
      <p:graphicFrame>
        <p:nvGraphicFramePr>
          <p:cNvPr id="120" name="Google Shape;120;p21"/>
          <p:cNvGraphicFramePr/>
          <p:nvPr/>
        </p:nvGraphicFramePr>
        <p:xfrm>
          <a:off x="5343975" y="375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{9DF4E88B-36BC-4483-84B6-C4A8FA46B4A6}</a:tableStyleId>
              </a:tblPr>
              <a:tblGrid>
                <a:gridCol w="1266675"/>
                <a:gridCol w="1266675"/>
                <a:gridCol w="1266675"/>
              </a:tblGrid>
              <a:tr h="44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Probability theory refresher</a:t>
            </a:r>
            <a:endParaRPr b="1"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Independent variables: P(A and B) = P(A)*P(B)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Sex and Color were independent, we’d expect: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P(Blue Male) = P(Blue) * P(Male)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0.175 = 0.5 * 0.35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0.20 != 0.175, measurement error? dependence?</a:t>
            </a:r>
            <a:endParaRPr/>
          </a:p>
        </p:txBody>
      </p:sp>
      <p:graphicFrame>
        <p:nvGraphicFramePr>
          <p:cNvPr id="128" name="Google Shape;128;p22"/>
          <p:cNvGraphicFramePr/>
          <p:nvPr/>
        </p:nvGraphicFramePr>
        <p:xfrm>
          <a:off x="5343975" y="375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{9DF4E88B-36BC-4483-84B6-C4A8FA46B4A6}</a:tableStyleId>
              </a:tblPr>
              <a:tblGrid>
                <a:gridCol w="1266675"/>
                <a:gridCol w="1266675"/>
                <a:gridCol w="1266675"/>
              </a:tblGrid>
              <a:tr h="44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Practice: frogs and a fungus</a:t>
            </a:r>
            <a:endParaRPr b="1"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100 frogs, each scored for habitat and for infection with </a:t>
            </a:r>
            <a:r>
              <a:rPr b="1" i="1" lang="en">
                <a:solidFill>
                  <a:schemeClr val="dk1"/>
                </a:solidFill>
              </a:rPr>
              <a:t>Bd</a:t>
            </a:r>
            <a:r>
              <a:rPr b="1" lang="en">
                <a:solidFill>
                  <a:schemeClr val="dk1"/>
                </a:solidFill>
              </a:rPr>
              <a:t>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Working in groups, figure out: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1. P(infected)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2. P(infected and pond)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3. P(infected, given pond)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4. P(infected, given stream)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5. P(infected or pond)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37" name="Google Shape;137;p23"/>
          <p:cNvGraphicFramePr/>
          <p:nvPr/>
        </p:nvGraphicFramePr>
        <p:xfrm>
          <a:off x="4572000" y="195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{9DF4E88B-36BC-4483-84B6-C4A8FA46B4A6}</a:tableStyleId>
              </a:tblPr>
              <a:tblGrid>
                <a:gridCol w="1168450"/>
                <a:gridCol w="839500"/>
                <a:gridCol w="830975"/>
                <a:gridCol w="1203250"/>
              </a:tblGrid>
              <a:tr h="4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Stream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Infected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Uninfected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Answers</a:t>
            </a:r>
            <a:endParaRPr b="1"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P(infected) = 42/100 = 0.42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P(infected and pond) = 30/100 = 0.30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P(infected | pond) = 0.30 / 0.50 = 0.60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P(infected | stream) = 0.12 / 0.50 = 0.24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 P(infected or pond) = 0.42 + 0.50 - 0.30 = 0.62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Pond frogs are infected at 60%, stream frogs at 24%.</a:t>
            </a:r>
            <a:endParaRPr/>
          </a:p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P(A | B) is not P(B | A)</a:t>
            </a:r>
            <a:endParaRPr b="1"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P(A|B) = P(A and B) / P(B)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P(infected | pond)  = 0.30 / 0.50 = 0.60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P(pond | infected)  = 0.30 / 0.42 = 0.71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Same numerator. Different denominator. Different question.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P(spots | measles) is nearly 1.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P(measles | spots) is nearly 0.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Your turn: does habitat matter?</a:t>
            </a:r>
            <a:endParaRPr b="1"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infection and habitat were independent: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P(infected and pond) = P(infected) x P(pond)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Work out what that gives, and compare it to what we counted.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How many of the 100 frogs would be infected pond frogs?</a:t>
            </a:r>
            <a:endParaRPr/>
          </a:p>
        </p:txBody>
      </p:sp>
      <p:sp>
        <p:nvSpPr>
          <p:cNvPr id="158" name="Google Shape;15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59" name="Google Shape;159;p26"/>
          <p:cNvGraphicFramePr/>
          <p:nvPr/>
        </p:nvGraphicFramePr>
        <p:xfrm>
          <a:off x="796750" y="295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{9DF4E88B-36BC-4483-84B6-C4A8FA46B4A6}</a:tableStyleId>
              </a:tblPr>
              <a:tblGrid>
                <a:gridCol w="1168450"/>
                <a:gridCol w="839500"/>
                <a:gridCol w="830975"/>
                <a:gridCol w="1203250"/>
              </a:tblGrid>
              <a:tr h="4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Stream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Infected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Uninfected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Answer: not independent</a:t>
            </a:r>
            <a:endParaRPr b="1"/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if independent: 0.42 x 0.50 = 0.21, so 21 frogs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Actually counted: 30 frogs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infected pond frogs than independence predicts.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Habitat and infection are associated.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Knowing the habitat changes the probability.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That is what a model is: P(outcome | what you know).</a:t>
            </a:r>
            <a:endParaRPr/>
          </a:p>
        </p:txBody>
      </p:sp>
      <p:sp>
        <p:nvSpPr>
          <p:cNvPr id="166" name="Google Shape;16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Questions so far?</a:t>
            </a:r>
            <a:endParaRPr b="1"/>
          </a:p>
        </p:txBody>
      </p:sp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9500" y="664362"/>
            <a:ext cx="2813300" cy="226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to know about probability distributions</a:t>
            </a:r>
            <a:endParaRPr b="1"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classes: Discrete vs continuous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Discrete: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b="1" lang="en"/>
              <a:t>Integers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E.g., individuals, # events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Continuous: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b="1" lang="en"/>
              <a:t>Any real number</a:t>
            </a:r>
            <a:r>
              <a:rPr lang="en"/>
              <a:t> (or a subset, e.g. positives)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E.g., body sizes, speeds, etc.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P(any exact number) = 0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Focus on P(some number or more extreme)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E.g. P( x &gt;= 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9"/>
          <p:cNvPicPr preferRelativeResize="0"/>
          <p:nvPr/>
        </p:nvPicPr>
        <p:blipFill rotWithShape="1">
          <a:blip r:embed="rId4">
            <a:alphaModFix/>
          </a:blip>
          <a:srcRect b="0" l="0" r="0" t="6629"/>
          <a:stretch/>
        </p:blipFill>
        <p:spPr>
          <a:xfrm>
            <a:off x="5869507" y="2932792"/>
            <a:ext cx="2813300" cy="211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Continuous</a:t>
            </a:r>
            <a:r>
              <a:rPr b="1" lang="en"/>
              <a:t> or discrete?</a:t>
            </a:r>
            <a:endParaRPr b="1"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11700" y="1152475"/>
            <a:ext cx="3382800" cy="39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Organisms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Body Mass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Leaf Area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Population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Population density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richness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Functional diversity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Individuals per transects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Mean body mass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4359725" y="1155051"/>
            <a:ext cx="3382800" cy="39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Environment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Temperature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Hurricane severity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Evolution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 pair s</a:t>
            </a:r>
            <a:r>
              <a:rPr lang="en"/>
              <a:t>ubstitution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Evolutionary rate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per taxon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Central tendencies: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Mean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“Average”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Expected value (denoted </a:t>
            </a:r>
            <a:r>
              <a:rPr i="1" lang="en"/>
              <a:t>E</a:t>
            </a:r>
            <a:r>
              <a:rPr lang="en"/>
              <a:t>[</a:t>
            </a:r>
            <a:r>
              <a:rPr i="1" lang="en"/>
              <a:t>x</a:t>
            </a:r>
            <a:r>
              <a:rPr lang="en"/>
              <a:t>])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Also denoted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function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mean()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 i="1"/>
          </a:p>
        </p:txBody>
      </p:sp>
      <p:sp>
        <p:nvSpPr>
          <p:cNvPr id="195" name="Google Shape;19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to know about probability distributions</a:t>
            </a:r>
            <a:endParaRPr b="1"/>
          </a:p>
        </p:txBody>
      </p:sp>
      <p:pic>
        <p:nvPicPr>
          <p:cNvPr id="196" name="Google Shape;1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550" y="1017725"/>
            <a:ext cx="3732500" cy="30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overline{x}&#10;%b8d103f8-e497-4da3-82d1-1e312c4098fc" id="197" name="Google Shape;19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1000" y="2843775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Central tendencies: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Median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robust than mean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Less sensitive to outliers and skew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function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median()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 i="1"/>
          </a:p>
        </p:txBody>
      </p:sp>
      <p:sp>
        <p:nvSpPr>
          <p:cNvPr id="204" name="Google Shape;20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to know about probability distributions</a:t>
            </a:r>
            <a:endParaRPr b="1"/>
          </a:p>
        </p:txBody>
      </p:sp>
      <p:pic>
        <p:nvPicPr>
          <p:cNvPr id="205" name="Google Shape;2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750" y="1024100"/>
            <a:ext cx="3838724" cy="30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2"/>
          <p:cNvSpPr txBox="1"/>
          <p:nvPr/>
        </p:nvSpPr>
        <p:spPr>
          <a:xfrm>
            <a:off x="5770650" y="4071125"/>
            <a:ext cx="2919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Blue = mean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Orange = median</a:t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Pink = mode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207" name="Google Shape;20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Central tendencies: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Most likely or most common value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built-in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DescTools package has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Mode()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/>
          </a:p>
        </p:txBody>
      </p:sp>
      <p:sp>
        <p:nvSpPr>
          <p:cNvPr id="213" name="Google Shape;21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to know about probability distributions</a:t>
            </a:r>
            <a:endParaRPr b="1"/>
          </a:p>
        </p:txBody>
      </p:sp>
      <p:pic>
        <p:nvPicPr>
          <p:cNvPr id="214" name="Google Shape;21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750" y="1024100"/>
            <a:ext cx="3838724" cy="30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3"/>
          <p:cNvSpPr txBox="1"/>
          <p:nvPr/>
        </p:nvSpPr>
        <p:spPr>
          <a:xfrm>
            <a:off x="5770650" y="4071125"/>
            <a:ext cx="2919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Blue = mean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Orange = median</a:t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Pink = mode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216" name="Google Shape;21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311700" y="1152475"/>
            <a:ext cx="8520600" cy="37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Spread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Variance and standard deviation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Variance: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SD</a:t>
            </a:r>
            <a:r>
              <a:rPr baseline="30000" lang="en"/>
              <a:t>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Additive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Units of mean squared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Function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var()</a:t>
            </a:r>
            <a:endParaRPr baseline="30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800"/>
              <a:t>√variance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Not additive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Same units as mean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Function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sd()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to know about probability distributions</a:t>
            </a:r>
            <a:endParaRPr b="1"/>
          </a:p>
        </p:txBody>
      </p:sp>
      <p:pic>
        <p:nvPicPr>
          <p:cNvPr id="223" name="Google Shape;22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3100" y="850725"/>
            <a:ext cx="3411451" cy="275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4"/>
          <p:cNvSpPr txBox="1"/>
          <p:nvPr/>
        </p:nvSpPr>
        <p:spPr>
          <a:xfrm>
            <a:off x="5824150" y="3514600"/>
            <a:ext cx="31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Blue lines: Mean +/- SD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225" name="Google Shape;22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Activities</a:t>
            </a:r>
            <a:endParaRPr b="1"/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Load data and calculate mean, variance, std dev, </a:t>
            </a:r>
            <a:r>
              <a:rPr lang="en"/>
              <a:t>median, mode, 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 data on github</a:t>
            </a:r>
            <a:endParaRPr/>
          </a:p>
        </p:txBody>
      </p:sp>
      <p:sp>
        <p:nvSpPr>
          <p:cNvPr id="232" name="Google Shape;23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Working with probability distributions</a:t>
            </a:r>
            <a:endParaRPr b="1"/>
          </a:p>
        </p:txBody>
      </p:sp>
      <p:sp>
        <p:nvSpPr>
          <p:cNvPr id="238" name="Google Shape;23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Load the avonet data</a:t>
            </a:r>
            <a:endParaRPr/>
          </a:p>
        </p:txBody>
      </p:sp>
      <p:sp>
        <p:nvSpPr>
          <p:cNvPr id="239" name="Google Shape;239;p36"/>
          <p:cNvSpPr txBox="1"/>
          <p:nvPr/>
        </p:nvSpPr>
        <p:spPr>
          <a:xfrm>
            <a:off x="6327150" y="223475"/>
            <a:ext cx="2395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To get link:</a:t>
            </a:r>
            <a:endParaRPr sz="18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Right click on “Raw”, copy the URL</a:t>
            </a:r>
            <a:endParaRPr sz="1800">
              <a:solidFill>
                <a:srgbClr val="980000"/>
              </a:solidFill>
            </a:endParaRPr>
          </a:p>
        </p:txBody>
      </p:sp>
      <p:sp>
        <p:nvSpPr>
          <p:cNvPr id="240" name="Google Shape;24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1" name="Google Shape;241;p36"/>
          <p:cNvPicPr preferRelativeResize="0"/>
          <p:nvPr/>
        </p:nvPicPr>
        <p:blipFill rotWithShape="1">
          <a:blip r:embed="rId3">
            <a:alphaModFix/>
          </a:blip>
          <a:srcRect b="38362" l="24721" r="0" t="15547"/>
          <a:stretch/>
        </p:blipFill>
        <p:spPr>
          <a:xfrm>
            <a:off x="1973104" y="1631703"/>
            <a:ext cx="6883550" cy="2370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2" name="Google Shape;242;p36"/>
          <p:cNvCxnSpPr/>
          <p:nvPr/>
        </p:nvCxnSpPr>
        <p:spPr>
          <a:xfrm>
            <a:off x="7568625" y="1374175"/>
            <a:ext cx="32100" cy="1990800"/>
          </a:xfrm>
          <a:prstGeom prst="straightConnector1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Working with probability distributions</a:t>
            </a:r>
            <a:endParaRPr b="1"/>
          </a:p>
        </p:txBody>
      </p:sp>
      <p:sp>
        <p:nvSpPr>
          <p:cNvPr id="248" name="Google Shape;24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Load the avonet data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pc="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avonet </a:t>
            </a:r>
            <a:r>
              <a:rPr lang="en" spc="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pc="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read.csv</a:t>
            </a:r>
            <a:r>
              <a:rPr lang="en" spc="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pc="0">
                <a:solidFill>
                  <a:srgbClr val="1E9E3C"/>
                </a:solidFill>
                <a:latin typeface="Courier New"/>
                <a:ea typeface="Courier New"/>
                <a:cs typeface="Courier New"/>
                <a:sym typeface="Courier New"/>
              </a:rPr>
              <a:t>"https://github.com/bmaitner/biometry_course/raw/refs/heads/main/data/Avonet/AVONET1_BirdLife.csv"</a:t>
            </a:r>
            <a:r>
              <a:rPr lang="en" spc="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Or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pc="0" sz="1700">
                <a:solidFill>
                  <a:srgbClr val="C5621B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r>
              <a:rPr lang="en" spc="0" sz="17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(readr)</a:t>
            </a:r>
            <a:endParaRPr spc="0" sz="17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pc="0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avonet </a:t>
            </a:r>
            <a:r>
              <a:rPr lang="en" spc="0" sz="17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pc="0" sz="17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read_rds</a:t>
            </a:r>
            <a:r>
              <a:rPr lang="en" spc="0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pc="0" sz="17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"https://tinyurl.com/avonetbirddata"</a:t>
            </a:r>
            <a:r>
              <a:rPr lang="en" spc="0" sz="17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Working with probability distributions</a:t>
            </a:r>
            <a:endParaRPr b="1"/>
          </a:p>
        </p:txBody>
      </p:sp>
      <p:sp>
        <p:nvSpPr>
          <p:cNvPr id="255" name="Google Shape;255;p38"/>
          <p:cNvSpPr txBox="1"/>
          <p:nvPr>
            <p:ph idx="1" type="body"/>
          </p:nvPr>
        </p:nvSpPr>
        <p:spPr>
          <a:xfrm>
            <a:off x="311700" y="1152475"/>
            <a:ext cx="8520600" cy="38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avonet data: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Generate a histogram of Hand-Wing Index  (high HWI = long-distance flyer)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hist()</a:t>
            </a:r>
            <a:r>
              <a:rPr lang="en"/>
              <a:t>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Calculate mean and median Hand-Wing Index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mean()</a:t>
            </a:r>
            <a:r>
              <a:rPr lang="en"/>
              <a:t>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median()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Generate a histogram of Body Mass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Also try generating a histogram of the log of body mass (use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log10()</a:t>
            </a:r>
            <a:r>
              <a:rPr lang="en"/>
              <a:t> or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log()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Calculate mean and median body mass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How similar are they?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(optional) Try calculating the mode of body mass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Mode()</a:t>
            </a:r>
            <a:r>
              <a:rPr lang="en" sz="1800"/>
              <a:t>in the DescTools package</a:t>
            </a:r>
            <a:endParaRPr/>
          </a:p>
        </p:txBody>
      </p:sp>
      <p:sp>
        <p:nvSpPr>
          <p:cNvPr id="256" name="Google Shape;25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Working with probability distributions</a:t>
            </a:r>
            <a:endParaRPr b="1"/>
          </a:p>
        </p:txBody>
      </p:sp>
      <p:sp>
        <p:nvSpPr>
          <p:cNvPr id="262" name="Google Shape;26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avonet data: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Calculate the variance and standard deviation of Mass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var()</a:t>
            </a:r>
            <a:r>
              <a:rPr lang="en"/>
              <a:t>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sd()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Check that variance equals SD</a:t>
            </a:r>
            <a:r>
              <a:rPr baseline="30000" lang="en"/>
              <a:t>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Use “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/>
              <a:t>” to test whether things are equal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R uses “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^</a:t>
            </a:r>
            <a:r>
              <a:rPr lang="en"/>
              <a:t>” to denote raising something to a power, e.g.,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x^2</a:t>
            </a:r>
            <a:r>
              <a:rPr lang="en"/>
              <a:t> mean x</a:t>
            </a:r>
            <a:r>
              <a:rPr baseline="30000" lang="en"/>
              <a:t>2</a:t>
            </a:r>
            <a:endParaRPr baseline="30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For square roots, use either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sqrt()</a:t>
            </a:r>
            <a:r>
              <a:rPr lang="en"/>
              <a:t> 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x^0.5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Calculate the mean and variance of Range.Size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0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Remainder of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Load in your focal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today’s functions to better understand your key variables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Skim 4.5 and 4.6, the bestiary of distributions</a:t>
            </a:r>
            <a:endParaRPr/>
          </a:p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