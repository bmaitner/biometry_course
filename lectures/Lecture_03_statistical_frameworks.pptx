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B58FE5-279B-44C3-81B6-9072DE97277E}">
  <a:tblStyle styleId="{42B58FE5-279B-44C3-81B6-9072DE97277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1700e73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1700e73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7e8978cb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7e8978cb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1700e73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41700e73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41700e73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41700e73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41700e73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41700e7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41700e73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41700e7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41700e73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41700e73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41700e73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41700e73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a5ae4e72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a5ae4e72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7e8978cb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7e8978cb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41700e73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41700e73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41700e73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41700e73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1700e73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41700e73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1700e73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41700e73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1700e73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41700e73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41700e73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41700e73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1700e73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41700e73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41700e73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41700e73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7e8978c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7e8978c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a5ae4e72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a5ae4e72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a5ae4e72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a5ae4e72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a5ae4e72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a5ae4e72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a5ae4e72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a5ae4e72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a5ae4e72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a5ae4e72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a5ae4e72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a5ae4e72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</a:t>
            </a:r>
            <a:r>
              <a:rPr lang="en"/>
              <a:t> model model the noise, deterministic the signal.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a5ae4e72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a5ae4e72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a5ae4e72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a5ae4e72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a5ae4e72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7a5ae4e72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41700e73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41700e73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41700e73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41700e73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41700e73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41700e73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41700e7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41700e7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7e8978cb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7e8978cb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41700e73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41700e73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41700e73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41700e73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41700e73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41700e73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41700e739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41700e739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41700e73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41700e73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41700e73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41700e73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41700e73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41700e73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41700e73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41700e73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41700e739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f41700e739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41700e739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41700e739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41700e73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41700e73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41700e73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f41700e73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41700e739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f41700e73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41700e73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f41700e73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Frameworks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statistical approaches,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code basics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the modelling process,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working with 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Approaches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How many ways are there to do statistics?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many ways are there to do statistics?</a:t>
            </a:r>
            <a:endParaRPr b="1"/>
          </a:p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1234450"/>
            <a:ext cx="7131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Three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Frequentist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Likelihood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Bayesian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This course will focus mostly on likelihood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dataset, three answers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Bolker provides a dataset from Duncan and Duncan (2000)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Seeds at 941 stations, Kibale, Uganda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Two species: </a:t>
            </a:r>
            <a:r>
              <a:rPr i="1" lang="en" sz="1600">
                <a:solidFill>
                  <a:schemeClr val="dk1"/>
                </a:solidFill>
              </a:rPr>
              <a:t>Polyscias</a:t>
            </a:r>
            <a:r>
              <a:rPr lang="en" sz="1600">
                <a:solidFill>
                  <a:schemeClr val="dk1"/>
                </a:solidFill>
              </a:rPr>
              <a:t> (tiny seeds) and </a:t>
            </a:r>
            <a:r>
              <a:rPr i="1" lang="en" sz="1600">
                <a:solidFill>
                  <a:schemeClr val="dk1"/>
                </a:solidFill>
              </a:rPr>
              <a:t>Pseudospondias</a:t>
            </a:r>
            <a:r>
              <a:rPr lang="en" sz="1600">
                <a:solidFill>
                  <a:schemeClr val="dk1"/>
                </a:solidFill>
              </a:rPr>
              <a:t> (~50 g seeds)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Seeds taken at 51 stations.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Does being taken depend on species?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Frequentist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= long-run frequency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 nothing is going on. How surprising is what we saw?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Answer: a p-value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= probability of the data, given the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Which parameter values make what we saw most probable?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Answer: an estimate, with support</a:t>
            </a:r>
            <a:endParaRPr/>
          </a:p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Bayesian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= degree of belief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 with a prior, update it with the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Answer: a posterior distribution</a:t>
            </a:r>
            <a:endParaRPr/>
          </a:p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data, same 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Frequentist</a:t>
            </a:r>
            <a:r>
              <a:rPr lang="en"/>
              <a:t> (Fisher's exact test) p = 3.8 × 10⁻⁶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Likelihood</a:t>
            </a:r>
            <a:r>
              <a:rPr lang="en"/>
              <a:t> (MLE + likelihood ratio) estimate 3.62, limits 2.13 – 6.16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Bayesian</a:t>
            </a:r>
            <a:r>
              <a:rPr lang="en"/>
              <a:t> (flat prior) mode 3.48, credible interval 2.01 – 6.01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None of the intervals include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frameworks differ in what the numbers </a:t>
            </a:r>
            <a:r>
              <a:rPr i="1" lang="en"/>
              <a:t>mean</a:t>
            </a:r>
            <a:endParaRPr i="1"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Statistical Paradigms</a:t>
            </a:r>
            <a:endParaRPr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97650" y="45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{42B58FE5-279B-44C3-81B6-9072DE97277E}</a:tableStyleId>
              </a:tblPr>
              <a:tblGrid>
                <a:gridCol w="1050575"/>
                <a:gridCol w="2425900"/>
                <a:gridCol w="2591450"/>
                <a:gridCol w="2591450"/>
              </a:tblGrid>
              <a:tr h="27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Aspect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Frequentist Statistics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Likelihood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Bayesian Statistics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Interpretation of probability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Long-run frequency of events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Probability of data, given parameters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Degree of belief / uncertainty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Parameters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Fixed but unknown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Fixed, but unknown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Random variables with distributions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Data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Random (due to sampling)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Fixed; the thing whose probability we evaluate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Fixed, updates beliefs about parameters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Prior information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used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used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Required (can be informative or weak/noninformative)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Main output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Point estimates, confidence intervals, p-values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Point estimates, likelihood-based </a:t>
                      </a:r>
                      <a:r>
                        <a:rPr lang="en" sz="1200"/>
                        <a:t>confidence</a:t>
                      </a:r>
                      <a:r>
                        <a:rPr lang="en" sz="1200"/>
                        <a:t> limits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Posterior distributions, credible intervals, Bayes factors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Confidence vs. credibility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95% CI: in repeated samples, 95% of intervals contain the true value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Support interval: parameter values that make the data nearly as probable as the best estimate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95% credible interval: given data + prior, 95% chance parameter lies in the interval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Inference process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Hypothesis tests, maximum likelihood, resampling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Maximise the likelihood, compare models by likelihood ratio test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Bayes’ theorem: Prior × Likelihood → Posterior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Computation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Often analytic formulas, asymptotics, bootstraps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Numerical optimisation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Often simulation (e.g., MCMC, variational inference)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Common critique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Ignores prior knowledge, interpretation of p-values can be misleading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	No probability statement about the parameter itself; relies on asymptotics in small samples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Can be subjective (depends on choice of prior), computationally intensive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Example question</a:t>
                      </a:r>
                      <a:endParaRPr b="1" sz="10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“If we repeated this study many times, how often would we see results like this?”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"Which parameter values make my data most probable?"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“Given the data, what is the probability the hypothesis is true?”</a:t>
                      </a:r>
                      <a:endParaRPr sz="1200"/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so far?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(Note: this stuff will become more clear as we go)</a:t>
            </a:r>
            <a:endParaRPr/>
          </a:p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 Code Basics</a:t>
            </a:r>
            <a:endParaRPr b="1"/>
          </a:p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Let's actually use it</a:t>
            </a:r>
            <a:endParaRPr b="1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</a:rPr>
              <a:t>Open RStudio</a:t>
            </a:r>
            <a:endParaRPr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</a:rPr>
              <a:t>Make a new R script</a:t>
            </a:r>
            <a:endParaRPr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</a:rPr>
              <a:t>Save it in your project (the one created last time)</a:t>
            </a:r>
            <a:endParaRPr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Note: </a:t>
            </a:r>
            <a:r>
              <a:rPr lang="en" sz="2000"/>
              <a:t>Type along. Don't paste (typing helps you memorize things better)</a:t>
            </a:r>
            <a:endParaRPr sz="2000"/>
          </a:p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as a calculator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In R, type: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* 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Then run it (run button, enter key, CTRL + SHIFT +R or CMD + SHIFT + R)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does the output look like?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as a calculator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In R, type: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sqrt(25)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Then run it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does the output look like?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does [1] refer to?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50" name="Google Shape;15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Type and run: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 &lt;- sqrt(36)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does this do?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Why is nothing shown when </a:t>
            </a:r>
            <a:r>
              <a:rPr b="1" lang="en">
                <a:solidFill>
                  <a:srgbClr val="980000"/>
                </a:solidFill>
              </a:rPr>
              <a:t>you</a:t>
            </a:r>
            <a:r>
              <a:rPr b="1" lang="en">
                <a:solidFill>
                  <a:srgbClr val="980000"/>
                </a:solidFill>
              </a:rPr>
              <a:t> type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x &lt;- sqrt(36) 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(Note the book uses = for assignment.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&lt;-</a:t>
            </a:r>
            <a:r>
              <a:rPr lang="en"/>
              <a:t> (read: gets) is now standard practice )</a:t>
            </a:r>
            <a:endParaRPr/>
          </a:p>
        </p:txBody>
      </p:sp>
      <p:sp>
        <p:nvSpPr>
          <p:cNvPr id="157" name="Google Shape;15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help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has multiple ways to get help.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these:</a:t>
            </a:r>
            <a:endParaRPr b="1">
              <a:solidFill>
                <a:srgbClr val="98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?sqrt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example(sqrt)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help.search("correlation")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What’s different about them? What’s similar?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help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go into this more as we go, but these are a good place to start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modelling process</a:t>
            </a:r>
            <a:endParaRPr b="1"/>
          </a:p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183" name="Google Shape;183;p32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2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2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2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32"/>
          <p:cNvCxnSpPr>
            <a:stCxn id="183" idx="2"/>
            <a:endCxn id="18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32"/>
          <p:cNvCxnSpPr>
            <a:stCxn id="184" idx="2"/>
            <a:endCxn id="18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32"/>
          <p:cNvCxnSpPr>
            <a:stCxn id="184" idx="2"/>
            <a:endCxn id="18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32"/>
          <p:cNvCxnSpPr>
            <a:stCxn id="185" idx="2"/>
            <a:endCxn id="18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32"/>
          <p:cNvCxnSpPr>
            <a:stCxn id="186" idx="2"/>
            <a:endCxn id="18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32"/>
          <p:cNvCxnSpPr>
            <a:stCxn id="187" idx="2"/>
            <a:endCxn id="18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32"/>
          <p:cNvCxnSpPr>
            <a:stCxn id="188" idx="2"/>
            <a:endCxn id="18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04" name="Google Shape;204;p33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3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3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33"/>
          <p:cNvCxnSpPr>
            <a:stCxn id="203" idx="2"/>
            <a:endCxn id="20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33"/>
          <p:cNvCxnSpPr>
            <a:stCxn id="204" idx="2"/>
            <a:endCxn id="20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33"/>
          <p:cNvCxnSpPr>
            <a:stCxn id="204" idx="2"/>
            <a:endCxn id="20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3"/>
          <p:cNvCxnSpPr>
            <a:stCxn id="205" idx="2"/>
            <a:endCxn id="20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3"/>
          <p:cNvCxnSpPr>
            <a:stCxn id="206" idx="2"/>
            <a:endCxn id="20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3"/>
          <p:cNvCxnSpPr>
            <a:stCxn id="207" idx="2"/>
            <a:endCxn id="20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3"/>
          <p:cNvCxnSpPr>
            <a:stCxn id="208" idx="2"/>
            <a:endCxn id="20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223" name="Google Shape;223;p34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24" name="Google Shape;224;p34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25" name="Google Shape;225;p34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4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4"/>
          <p:cNvCxnSpPr>
            <a:stCxn id="223" idx="2"/>
            <a:endCxn id="22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4"/>
          <p:cNvCxnSpPr>
            <a:stCxn id="224" idx="2"/>
            <a:endCxn id="22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4"/>
          <p:cNvCxnSpPr>
            <a:stCxn id="224" idx="2"/>
            <a:endCxn id="22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4"/>
          <p:cNvCxnSpPr>
            <a:stCxn id="225" idx="2"/>
            <a:endCxn id="22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4"/>
          <p:cNvCxnSpPr>
            <a:stCxn id="226" idx="2"/>
            <a:endCxn id="22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4"/>
          <p:cNvCxnSpPr>
            <a:stCxn id="227" idx="2"/>
            <a:endCxn id="22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4"/>
          <p:cNvCxnSpPr>
            <a:stCxn id="228" idx="2"/>
            <a:endCxn id="22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243" name="Google Shape;243;p35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247" name="Google Shape;247;p35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5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0" name="Google Shape;250;p35"/>
          <p:cNvCxnSpPr>
            <a:stCxn id="243" idx="2"/>
            <a:endCxn id="24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5"/>
          <p:cNvCxnSpPr>
            <a:stCxn id="244" idx="2"/>
            <a:endCxn id="24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5"/>
          <p:cNvCxnSpPr>
            <a:stCxn id="244" idx="2"/>
            <a:endCxn id="24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5"/>
          <p:cNvCxnSpPr>
            <a:stCxn id="245" idx="2"/>
            <a:endCxn id="24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5"/>
          <p:cNvCxnSpPr>
            <a:stCxn id="246" idx="2"/>
            <a:endCxn id="24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35"/>
          <p:cNvCxnSpPr>
            <a:stCxn id="247" idx="2"/>
            <a:endCxn id="24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35"/>
          <p:cNvCxnSpPr>
            <a:stCxn id="248" idx="2"/>
            <a:endCxn id="24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263" name="Google Shape;263;p36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65" name="Google Shape;265;p36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266" name="Google Shape;266;p36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267" name="Google Shape;267;p36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268" name="Google Shape;268;p36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36"/>
          <p:cNvCxnSpPr>
            <a:stCxn id="263" idx="2"/>
            <a:endCxn id="26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6"/>
          <p:cNvCxnSpPr>
            <a:stCxn id="264" idx="2"/>
            <a:endCxn id="26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6"/>
          <p:cNvCxnSpPr>
            <a:stCxn id="264" idx="2"/>
            <a:endCxn id="26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6"/>
          <p:cNvCxnSpPr>
            <a:stCxn id="265" idx="2"/>
            <a:endCxn id="26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6"/>
          <p:cNvCxnSpPr>
            <a:stCxn id="266" idx="2"/>
            <a:endCxn id="26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6"/>
          <p:cNvCxnSpPr>
            <a:stCxn id="267" idx="2"/>
            <a:endCxn id="26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6"/>
          <p:cNvCxnSpPr>
            <a:stCxn id="268" idx="2"/>
            <a:endCxn id="26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283" name="Google Shape;283;p37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287" name="Google Shape;287;p37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37"/>
          <p:cNvCxnSpPr>
            <a:stCxn id="283" idx="2"/>
            <a:endCxn id="28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7"/>
          <p:cNvCxnSpPr>
            <a:stCxn id="284" idx="2"/>
            <a:endCxn id="28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7"/>
          <p:cNvCxnSpPr>
            <a:stCxn id="284" idx="2"/>
            <a:endCxn id="28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7"/>
          <p:cNvCxnSpPr>
            <a:stCxn id="285" idx="2"/>
            <a:endCxn id="28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7"/>
          <p:cNvCxnSpPr>
            <a:stCxn id="286" idx="2"/>
            <a:endCxn id="28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7"/>
          <p:cNvCxnSpPr>
            <a:stCxn id="287" idx="2"/>
            <a:endCxn id="28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7"/>
          <p:cNvCxnSpPr>
            <a:stCxn id="288" idx="2"/>
            <a:endCxn id="28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303" name="Google Shape;303;p38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04" name="Google Shape;304;p38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05" name="Google Shape;305;p38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307" name="Google Shape;307;p38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308" name="Google Shape;308;p38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309" name="Google Shape;309;p38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Questions</a:t>
            </a:r>
            <a:endParaRPr/>
          </a:p>
        </p:txBody>
      </p:sp>
      <p:cxnSp>
        <p:nvCxnSpPr>
          <p:cNvPr id="310" name="Google Shape;310;p38"/>
          <p:cNvCxnSpPr>
            <a:stCxn id="303" idx="2"/>
            <a:endCxn id="30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38"/>
          <p:cNvCxnSpPr>
            <a:stCxn id="304" idx="2"/>
            <a:endCxn id="30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38"/>
          <p:cNvCxnSpPr>
            <a:stCxn id="304" idx="2"/>
            <a:endCxn id="30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8"/>
          <p:cNvCxnSpPr>
            <a:stCxn id="305" idx="2"/>
            <a:endCxn id="30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8"/>
          <p:cNvCxnSpPr>
            <a:stCxn id="306" idx="2"/>
            <a:endCxn id="30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8"/>
          <p:cNvCxnSpPr>
            <a:stCxn id="307" idx="2"/>
            <a:endCxn id="30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8"/>
          <p:cNvCxnSpPr>
            <a:stCxn id="308" idx="2"/>
            <a:endCxn id="30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323" name="Google Shape;323;p39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24" name="Google Shape;324;p39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25" name="Google Shape;325;p39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326" name="Google Shape;326;p39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327" name="Google Shape;327;p39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328" name="Google Shape;328;p39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329" name="Google Shape;329;p39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Questions</a:t>
            </a:r>
            <a:endParaRPr/>
          </a:p>
        </p:txBody>
      </p:sp>
      <p:cxnSp>
        <p:nvCxnSpPr>
          <p:cNvPr id="330" name="Google Shape;330;p39"/>
          <p:cNvCxnSpPr>
            <a:stCxn id="323" idx="2"/>
            <a:endCxn id="324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9"/>
          <p:cNvCxnSpPr>
            <a:stCxn id="324" idx="2"/>
            <a:endCxn id="325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9"/>
          <p:cNvCxnSpPr>
            <a:stCxn id="324" idx="2"/>
            <a:endCxn id="326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9"/>
          <p:cNvCxnSpPr>
            <a:stCxn id="325" idx="2"/>
            <a:endCxn id="327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39"/>
          <p:cNvCxnSpPr>
            <a:stCxn id="326" idx="2"/>
            <a:endCxn id="327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39"/>
          <p:cNvCxnSpPr>
            <a:stCxn id="327" idx="2"/>
            <a:endCxn id="328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39"/>
          <p:cNvCxnSpPr>
            <a:stCxn id="328" idx="2"/>
            <a:endCxn id="329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39"/>
          <p:cNvSpPr/>
          <p:nvPr/>
        </p:nvSpPr>
        <p:spPr>
          <a:xfrm>
            <a:off x="4630150" y="2432025"/>
            <a:ext cx="1009400" cy="1486550"/>
          </a:xfrm>
          <a:custGeom>
            <a:rect b="b" l="l" r="r" t="t"/>
            <a:pathLst>
              <a:path extrusionOk="0" h="59462" w="40376">
                <a:moveTo>
                  <a:pt x="0" y="59462"/>
                </a:moveTo>
                <a:cubicBezTo>
                  <a:pt x="6673" y="50741"/>
                  <a:pt x="37329" y="17045"/>
                  <a:pt x="40038" y="7135"/>
                </a:cubicBezTo>
                <a:cubicBezTo>
                  <a:pt x="42747" y="-2775"/>
                  <a:pt x="20217" y="1189"/>
                  <a:pt x="16253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338" name="Google Shape;338;p39"/>
          <p:cNvSpPr txBox="1"/>
          <p:nvPr/>
        </p:nvSpPr>
        <p:spPr>
          <a:xfrm>
            <a:off x="4680250" y="2867500"/>
            <a:ext cx="10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Model 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Selection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9" name="Google Shape;33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345" name="Google Shape;345;p40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46" name="Google Shape;346;p40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47" name="Google Shape;347;p40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348" name="Google Shape;348;p40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350" name="Google Shape;350;p40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351" name="Google Shape;351;p40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Questions</a:t>
            </a:r>
            <a:endParaRPr/>
          </a:p>
        </p:txBody>
      </p:sp>
      <p:cxnSp>
        <p:nvCxnSpPr>
          <p:cNvPr id="352" name="Google Shape;352;p40"/>
          <p:cNvCxnSpPr>
            <a:stCxn id="345" idx="2"/>
            <a:endCxn id="346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40"/>
          <p:cNvCxnSpPr>
            <a:stCxn id="346" idx="2"/>
            <a:endCxn id="347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40"/>
          <p:cNvCxnSpPr>
            <a:stCxn id="346" idx="2"/>
            <a:endCxn id="348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40"/>
          <p:cNvCxnSpPr>
            <a:stCxn id="347" idx="2"/>
            <a:endCxn id="349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40"/>
          <p:cNvCxnSpPr>
            <a:stCxn id="348" idx="2"/>
            <a:endCxn id="349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40"/>
          <p:cNvCxnSpPr>
            <a:stCxn id="349" idx="2"/>
            <a:endCxn id="350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40"/>
          <p:cNvCxnSpPr>
            <a:stCxn id="350" idx="2"/>
            <a:endCxn id="351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40"/>
          <p:cNvSpPr/>
          <p:nvPr/>
        </p:nvSpPr>
        <p:spPr>
          <a:xfrm>
            <a:off x="4630150" y="2432025"/>
            <a:ext cx="1009400" cy="1486550"/>
          </a:xfrm>
          <a:custGeom>
            <a:rect b="b" l="l" r="r" t="t"/>
            <a:pathLst>
              <a:path extrusionOk="0" h="59462" w="40376">
                <a:moveTo>
                  <a:pt x="0" y="59462"/>
                </a:moveTo>
                <a:cubicBezTo>
                  <a:pt x="6673" y="50741"/>
                  <a:pt x="37329" y="17045"/>
                  <a:pt x="40038" y="7135"/>
                </a:cubicBezTo>
                <a:cubicBezTo>
                  <a:pt x="42747" y="-2775"/>
                  <a:pt x="20217" y="1189"/>
                  <a:pt x="16253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360" name="Google Shape;360;p40"/>
          <p:cNvSpPr txBox="1"/>
          <p:nvPr/>
        </p:nvSpPr>
        <p:spPr>
          <a:xfrm>
            <a:off x="4680250" y="2867500"/>
            <a:ext cx="10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Model 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Selection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2237595" y="4118017"/>
            <a:ext cx="19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Hypothesis testing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2" name="Google Shape;36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modelling process?</a:t>
            </a:r>
            <a:endParaRPr/>
          </a:p>
        </p:txBody>
      </p:sp>
      <p:sp>
        <p:nvSpPr>
          <p:cNvPr id="368" name="Google Shape;368;p41"/>
          <p:cNvSpPr/>
          <p:nvPr/>
        </p:nvSpPr>
        <p:spPr>
          <a:xfrm>
            <a:off x="2776900" y="1024725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69" name="Google Shape;369;p41"/>
          <p:cNvSpPr/>
          <p:nvPr/>
        </p:nvSpPr>
        <p:spPr>
          <a:xfrm>
            <a:off x="2790554" y="1633004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70" name="Google Shape;370;p41"/>
          <p:cNvSpPr/>
          <p:nvPr/>
        </p:nvSpPr>
        <p:spPr>
          <a:xfrm>
            <a:off x="2150100" y="2201628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371" name="Google Shape;371;p41"/>
          <p:cNvSpPr/>
          <p:nvPr/>
        </p:nvSpPr>
        <p:spPr>
          <a:xfrm>
            <a:off x="3580950" y="2205379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372" name="Google Shape;372;p41"/>
          <p:cNvSpPr/>
          <p:nvPr/>
        </p:nvSpPr>
        <p:spPr>
          <a:xfrm>
            <a:off x="2788110" y="289910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373" name="Google Shape;373;p41"/>
          <p:cNvSpPr/>
          <p:nvPr/>
        </p:nvSpPr>
        <p:spPr>
          <a:xfrm>
            <a:off x="2330925" y="3613871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374" name="Google Shape;374;p41"/>
          <p:cNvSpPr/>
          <p:nvPr/>
        </p:nvSpPr>
        <p:spPr>
          <a:xfrm>
            <a:off x="2835250" y="4577924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Questions</a:t>
            </a:r>
            <a:endParaRPr/>
          </a:p>
        </p:txBody>
      </p:sp>
      <p:cxnSp>
        <p:nvCxnSpPr>
          <p:cNvPr id="375" name="Google Shape;375;p41"/>
          <p:cNvCxnSpPr>
            <a:stCxn id="368" idx="2"/>
            <a:endCxn id="369" idx="0"/>
          </p:cNvCxnSpPr>
          <p:nvPr/>
        </p:nvCxnSpPr>
        <p:spPr>
          <a:xfrm>
            <a:off x="3356650" y="1381425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41"/>
          <p:cNvCxnSpPr>
            <a:stCxn id="369" idx="2"/>
            <a:endCxn id="370" idx="0"/>
          </p:cNvCxnSpPr>
          <p:nvPr/>
        </p:nvCxnSpPr>
        <p:spPr>
          <a:xfrm flipH="1">
            <a:off x="2729804" y="1989704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41"/>
          <p:cNvCxnSpPr>
            <a:stCxn id="369" idx="2"/>
            <a:endCxn id="371" idx="0"/>
          </p:cNvCxnSpPr>
          <p:nvPr/>
        </p:nvCxnSpPr>
        <p:spPr>
          <a:xfrm>
            <a:off x="3370304" y="1989704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41"/>
          <p:cNvCxnSpPr>
            <a:stCxn id="370" idx="2"/>
            <a:endCxn id="372" idx="0"/>
          </p:cNvCxnSpPr>
          <p:nvPr/>
        </p:nvCxnSpPr>
        <p:spPr>
          <a:xfrm>
            <a:off x="2729850" y="2666028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41"/>
          <p:cNvCxnSpPr>
            <a:stCxn id="371" idx="2"/>
            <a:endCxn id="372" idx="0"/>
          </p:cNvCxnSpPr>
          <p:nvPr/>
        </p:nvCxnSpPr>
        <p:spPr>
          <a:xfrm flipH="1">
            <a:off x="3367800" y="2669779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41"/>
          <p:cNvCxnSpPr>
            <a:stCxn id="372" idx="2"/>
            <a:endCxn id="373" idx="0"/>
          </p:cNvCxnSpPr>
          <p:nvPr/>
        </p:nvCxnSpPr>
        <p:spPr>
          <a:xfrm>
            <a:off x="3367860" y="3363500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41"/>
          <p:cNvCxnSpPr>
            <a:stCxn id="373" idx="2"/>
            <a:endCxn id="374" idx="0"/>
          </p:cNvCxnSpPr>
          <p:nvPr/>
        </p:nvCxnSpPr>
        <p:spPr>
          <a:xfrm>
            <a:off x="3386325" y="4126871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" name="Google Shape;382;p41"/>
          <p:cNvSpPr/>
          <p:nvPr/>
        </p:nvSpPr>
        <p:spPr>
          <a:xfrm>
            <a:off x="4630150" y="2432025"/>
            <a:ext cx="1009400" cy="1486550"/>
          </a:xfrm>
          <a:custGeom>
            <a:rect b="b" l="l" r="r" t="t"/>
            <a:pathLst>
              <a:path extrusionOk="0" h="59462" w="40376">
                <a:moveTo>
                  <a:pt x="0" y="59462"/>
                </a:moveTo>
                <a:cubicBezTo>
                  <a:pt x="6673" y="50741"/>
                  <a:pt x="37329" y="17045"/>
                  <a:pt x="40038" y="7135"/>
                </a:cubicBezTo>
                <a:cubicBezTo>
                  <a:pt x="42747" y="-2775"/>
                  <a:pt x="20217" y="1189"/>
                  <a:pt x="16253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383" name="Google Shape;383;p41"/>
          <p:cNvSpPr/>
          <p:nvPr/>
        </p:nvSpPr>
        <p:spPr>
          <a:xfrm>
            <a:off x="4154450" y="1100151"/>
            <a:ext cx="2329950" cy="3710325"/>
          </a:xfrm>
          <a:custGeom>
            <a:rect b="b" l="l" r="r" t="t"/>
            <a:pathLst>
              <a:path extrusionOk="0" h="148413" w="93198">
                <a:moveTo>
                  <a:pt x="3964" y="148414"/>
                </a:moveTo>
                <a:cubicBezTo>
                  <a:pt x="16914" y="140618"/>
                  <a:pt x="67588" y="121458"/>
                  <a:pt x="81661" y="101637"/>
                </a:cubicBezTo>
                <a:cubicBezTo>
                  <a:pt x="95734" y="81816"/>
                  <a:pt x="95469" y="46073"/>
                  <a:pt x="88400" y="29490"/>
                </a:cubicBezTo>
                <a:cubicBezTo>
                  <a:pt x="81331" y="12907"/>
                  <a:pt x="53978" y="6696"/>
                  <a:pt x="39245" y="2137"/>
                </a:cubicBezTo>
                <a:cubicBezTo>
                  <a:pt x="24512" y="-2422"/>
                  <a:pt x="6541" y="2137"/>
                  <a:pt x="0" y="2137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384" name="Google Shape;384;p41"/>
          <p:cNvSpPr txBox="1"/>
          <p:nvPr/>
        </p:nvSpPr>
        <p:spPr>
          <a:xfrm>
            <a:off x="4680250" y="2867500"/>
            <a:ext cx="10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Model 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Selection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5" name="Google Shape;385;p41"/>
          <p:cNvSpPr txBox="1"/>
          <p:nvPr/>
        </p:nvSpPr>
        <p:spPr>
          <a:xfrm>
            <a:off x="2237595" y="4118017"/>
            <a:ext cx="19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Hypothesis testing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6" name="Google Shape;38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a good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consider two levels: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General:</a:t>
            </a:r>
            <a:r>
              <a:rPr lang="en"/>
              <a:t> does disease select against cannibalism in tiger salamanders?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Specific:</a:t>
            </a:r>
            <a:r>
              <a:rPr lang="en"/>
              <a:t> what is the difference in probability of becoming a cannibal between populations A and B?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a good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consider two levels: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General:</a:t>
            </a:r>
            <a:r>
              <a:rPr lang="en"/>
              <a:t> does disease select against cannibalism in tiger salamanders?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Specific:</a:t>
            </a:r>
            <a:r>
              <a:rPr lang="en"/>
              <a:t> what is the difference in probability of becoming a cannibal between populations A and B?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General is more aligned with how you TALK about the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Specific is more aligned with how you TEST the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vague, too specific</a:t>
            </a:r>
            <a:endParaRPr/>
          </a:p>
        </p:txBody>
      </p:sp>
      <p:sp>
        <p:nvSpPr>
          <p:cNvPr id="406" name="Google Shape;40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Too vague:</a:t>
            </a:r>
            <a:r>
              <a:rPr lang="en"/>
              <a:t> "I want to explore the population genetics of cannibalism"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Too spec</a:t>
            </a:r>
            <a:r>
              <a:rPr b="1" lang="en"/>
              <a:t>i</a:t>
            </a:r>
            <a:r>
              <a:rPr b="1" lang="en"/>
              <a:t>fic:</a:t>
            </a:r>
            <a:r>
              <a:rPr lang="en"/>
              <a:t> "What is the difference in the intercepts of these two linear regressions?"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Too vague can make </a:t>
            </a:r>
            <a:r>
              <a:rPr lang="en"/>
              <a:t>things</a:t>
            </a:r>
            <a:r>
              <a:rPr lang="en"/>
              <a:t> hard to test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Too specific can lead to uninteresting questions</a:t>
            </a:r>
            <a:endParaRPr/>
          </a:p>
        </p:txBody>
      </p:sp>
      <p:sp>
        <p:nvSpPr>
          <p:cNvPr id="407" name="Google Shape;40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Your turn</a:t>
            </a:r>
            <a:endParaRPr b="1"/>
          </a:p>
        </p:txBody>
      </p:sp>
      <p:sp>
        <p:nvSpPr>
          <p:cNvPr id="413" name="Google Shape;41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Take the question you thought about last week.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Write it at the other level:</a:t>
            </a:r>
            <a:endParaRPr b="1">
              <a:solidFill>
                <a:srgbClr val="980000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general if you had specific, specific if you had general.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Swap with a neighbour.</a:t>
            </a:r>
            <a:endParaRPr b="1">
              <a:solidFill>
                <a:srgbClr val="980000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Can they tell which is which?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14" name="Google Shape;41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so far?</a:t>
            </a:r>
            <a:endParaRPr/>
          </a:p>
        </p:txBody>
      </p:sp>
      <p:sp>
        <p:nvSpPr>
          <p:cNvPr id="420" name="Google Shape;42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(Again, this will become more clear as we go along)</a:t>
            </a:r>
            <a:endParaRPr/>
          </a:p>
        </p:txBody>
      </p:sp>
      <p:sp>
        <p:nvSpPr>
          <p:cNvPr id="421" name="Google Shape;42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Code: build, fit, test</a:t>
            </a:r>
            <a:endParaRPr/>
          </a:p>
        </p:txBody>
      </p:sp>
      <p:sp>
        <p:nvSpPr>
          <p:cNvPr id="427" name="Google Shape;42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we'll play nature</a:t>
            </a:r>
            <a:endParaRPr/>
          </a:p>
        </p:txBody>
      </p:sp>
      <p:sp>
        <p:nvSpPr>
          <p:cNvPr id="433" name="Google Shape;4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b</a:t>
            </a:r>
            <a:r>
              <a:rPr lang="en"/>
              <a:t>uild a dataset where we know the true answer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2 * frogs: the real signal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sd = 0.5: the real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 we'll forget we know, and analyse it</a:t>
            </a:r>
            <a:endParaRPr/>
          </a:p>
        </p:txBody>
      </p:sp>
      <p:sp>
        <p:nvSpPr>
          <p:cNvPr id="434" name="Google Shape;4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walk the flowchart</a:t>
            </a:r>
            <a:endParaRPr/>
          </a:p>
        </p:txBody>
      </p:sp>
      <p:sp>
        <p:nvSpPr>
          <p:cNvPr id="440" name="Google Shape;44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We'll build a dataset where we know the true answer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 see whether our analysis can recover it</a:t>
            </a:r>
            <a:endParaRPr/>
          </a:p>
        </p:txBody>
      </p:sp>
      <p:sp>
        <p:nvSpPr>
          <p:cNvPr id="441" name="Google Shape;44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9"/>
          <p:cNvSpPr/>
          <p:nvPr/>
        </p:nvSpPr>
        <p:spPr>
          <a:xfrm>
            <a:off x="6828396" y="439157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443" name="Google Shape;443;p49"/>
          <p:cNvSpPr/>
          <p:nvPr/>
        </p:nvSpPr>
        <p:spPr>
          <a:xfrm>
            <a:off x="6842050" y="1047436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44" name="Google Shape;444;p49"/>
          <p:cNvSpPr/>
          <p:nvPr/>
        </p:nvSpPr>
        <p:spPr>
          <a:xfrm>
            <a:off x="6201596" y="161606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445" name="Google Shape;445;p49"/>
          <p:cNvSpPr/>
          <p:nvPr/>
        </p:nvSpPr>
        <p:spPr>
          <a:xfrm>
            <a:off x="7632446" y="1619812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446" name="Google Shape;446;p49"/>
          <p:cNvSpPr/>
          <p:nvPr/>
        </p:nvSpPr>
        <p:spPr>
          <a:xfrm>
            <a:off x="6839605" y="2313532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447" name="Google Shape;447;p49"/>
          <p:cNvSpPr/>
          <p:nvPr/>
        </p:nvSpPr>
        <p:spPr>
          <a:xfrm>
            <a:off x="6382421" y="3028303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448" name="Google Shape;448;p49"/>
          <p:cNvSpPr/>
          <p:nvPr/>
        </p:nvSpPr>
        <p:spPr>
          <a:xfrm>
            <a:off x="6886746" y="3992356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Questions</a:t>
            </a:r>
            <a:endParaRPr/>
          </a:p>
        </p:txBody>
      </p:sp>
      <p:cxnSp>
        <p:nvCxnSpPr>
          <p:cNvPr id="449" name="Google Shape;449;p49"/>
          <p:cNvCxnSpPr>
            <a:stCxn id="442" idx="2"/>
            <a:endCxn id="443" idx="0"/>
          </p:cNvCxnSpPr>
          <p:nvPr/>
        </p:nvCxnSpPr>
        <p:spPr>
          <a:xfrm>
            <a:off x="7408146" y="795857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49"/>
          <p:cNvCxnSpPr>
            <a:stCxn id="443" idx="2"/>
            <a:endCxn id="444" idx="0"/>
          </p:cNvCxnSpPr>
          <p:nvPr/>
        </p:nvCxnSpPr>
        <p:spPr>
          <a:xfrm flipH="1">
            <a:off x="6781300" y="1404136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49"/>
          <p:cNvCxnSpPr>
            <a:stCxn id="443" idx="2"/>
            <a:endCxn id="445" idx="0"/>
          </p:cNvCxnSpPr>
          <p:nvPr/>
        </p:nvCxnSpPr>
        <p:spPr>
          <a:xfrm>
            <a:off x="7421800" y="1404136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49"/>
          <p:cNvCxnSpPr>
            <a:stCxn id="444" idx="2"/>
            <a:endCxn id="446" idx="0"/>
          </p:cNvCxnSpPr>
          <p:nvPr/>
        </p:nvCxnSpPr>
        <p:spPr>
          <a:xfrm>
            <a:off x="6781346" y="2080460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9"/>
          <p:cNvCxnSpPr>
            <a:stCxn id="445" idx="2"/>
            <a:endCxn id="446" idx="0"/>
          </p:cNvCxnSpPr>
          <p:nvPr/>
        </p:nvCxnSpPr>
        <p:spPr>
          <a:xfrm flipH="1">
            <a:off x="7419296" y="2084212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49"/>
          <p:cNvCxnSpPr>
            <a:stCxn id="446" idx="2"/>
            <a:endCxn id="447" idx="0"/>
          </p:cNvCxnSpPr>
          <p:nvPr/>
        </p:nvCxnSpPr>
        <p:spPr>
          <a:xfrm>
            <a:off x="7419355" y="2777932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49"/>
          <p:cNvCxnSpPr>
            <a:stCxn id="447" idx="2"/>
            <a:endCxn id="448" idx="0"/>
          </p:cNvCxnSpPr>
          <p:nvPr/>
        </p:nvCxnSpPr>
        <p:spPr>
          <a:xfrm>
            <a:off x="7437821" y="3541303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49"/>
          <p:cNvSpPr txBox="1"/>
          <p:nvPr/>
        </p:nvSpPr>
        <p:spPr>
          <a:xfrm>
            <a:off x="6289091" y="3532449"/>
            <a:ext cx="19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Hypothesis testing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signal</a:t>
            </a:r>
            <a:endParaRPr/>
          </a:p>
        </p:txBody>
      </p:sp>
      <p:sp>
        <p:nvSpPr>
          <p:cNvPr id="462" name="Google Shape;46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frogs &lt;- c(1.1, 1.3, 1.7, 1.8, 1.9, 2.1,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2.3, 2.4, 2.5, 2.8, 3.1, 3.3,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3.6, 3.7, 3.9, 4.1, 4.5, 4.8,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5.1, 5.3)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</a:t>
            </a:r>
            <a:r>
              <a:rPr lang="en"/>
              <a:t>f</a:t>
            </a:r>
            <a:r>
              <a:rPr lang="en"/>
              <a:t>rogs” is a </a:t>
            </a:r>
            <a:r>
              <a:rPr b="1" lang="en"/>
              <a:t>vector</a:t>
            </a:r>
            <a:r>
              <a:rPr lang="en"/>
              <a:t> of length 20 describing adult frog density in 20 populations</a:t>
            </a:r>
            <a:endParaRPr/>
          </a:p>
        </p:txBody>
      </p:sp>
      <p:sp>
        <p:nvSpPr>
          <p:cNvPr id="463" name="Google Shape;46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noise</a:t>
            </a:r>
            <a:endParaRPr/>
          </a:p>
        </p:txBody>
      </p:sp>
      <p:sp>
        <p:nvSpPr>
          <p:cNvPr id="469" name="Google Shape;46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set.seed(101)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tadpoles &lt;- rnorm(n = 20,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mean = 2 * frogs,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sd = 0.5)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2 * frogs is the </a:t>
            </a:r>
            <a:r>
              <a:rPr b="1" lang="en"/>
              <a:t>deterministic</a:t>
            </a:r>
            <a:r>
              <a:rPr lang="en"/>
              <a:t> model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sd = 0.5 is the </a:t>
            </a:r>
            <a:r>
              <a:rPr b="1" lang="en"/>
              <a:t>stochastic</a:t>
            </a:r>
            <a:r>
              <a:rPr lang="en"/>
              <a:t> model</a:t>
            </a:r>
            <a:endParaRPr/>
          </a:p>
        </p:txBody>
      </p:sp>
      <p:sp>
        <p:nvSpPr>
          <p:cNvPr id="470" name="Google Shape;47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it</a:t>
            </a:r>
            <a:endParaRPr/>
          </a:p>
        </p:txBody>
      </p:sp>
      <p:sp>
        <p:nvSpPr>
          <p:cNvPr id="476" name="Google Shape;476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plot(x = frogs,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y = tadpoles)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abline(a = 0, b = 2)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980000"/>
                </a:solidFill>
              </a:rPr>
              <a:t>The line is the truth. Why don't the points sit on it?</a:t>
            </a:r>
            <a:endParaRPr sz="2300">
              <a:solidFill>
                <a:srgbClr val="980000"/>
              </a:solidFill>
            </a:endParaRPr>
          </a:p>
        </p:txBody>
      </p:sp>
      <p:sp>
        <p:nvSpPr>
          <p:cNvPr id="477" name="Google Shape;47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the noise up</a:t>
            </a:r>
            <a:endParaRPr/>
          </a:p>
        </p:txBody>
      </p:sp>
      <p:sp>
        <p:nvSpPr>
          <p:cNvPr id="483" name="Google Shape;483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tadpoles_noisy &lt;- rnorm(20, 2 * frogs, sd = 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plot(frogs, tadpoles_noisy)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abline(a = 0, b = 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Same relationship (2 * frogs). Would you have spotted it this time?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484" name="Google Shape;48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recover the truth?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coef(lm(tadpoles ~ frogs))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coef(lm(tadpoles_noisy ~ frogs))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confint(lm(tadpoles ~ frogs))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The real slope is 2. Which one got closer?</a:t>
            </a:r>
            <a:endParaRPr b="1">
              <a:solidFill>
                <a:srgbClr val="98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you just fit two linear models!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draw proves little</a:t>
            </a:r>
            <a:endParaRPr/>
          </a:p>
        </p:txBody>
      </p:sp>
      <p:sp>
        <p:nvSpPr>
          <p:cNvPr id="497" name="Google Shape;497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replicate that simulation 1000 times: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slopes_clean &lt;- replicate(1000,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coef(lm(rnorm(20, 2*frogs, sd = 0.5) ~ frogs))[2])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slopes_noisy &lt;- replicate(1000,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coef(lm(rnorm(20, 2*frogs, sd = 3) ~ frogs))[2])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draw proves little</a:t>
            </a:r>
            <a:endParaRPr/>
          </a:p>
        </p:txBody>
      </p:sp>
      <p:sp>
        <p:nvSpPr>
          <p:cNvPr id="504" name="Google Shape;50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let’s summarize what we found: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mean(slopes_clean)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mean(slopes_noisy)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sd(slopes_clean)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sd(slopes_noisy)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What did adding noise do to our findings?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505" name="Google Shape;50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interval missed</a:t>
            </a:r>
            <a:endParaRPr/>
          </a:p>
        </p:txBody>
      </p:sp>
      <p:sp>
        <p:nvSpPr>
          <p:cNvPr id="511" name="Google Shape;511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confint(frog_lm)</a:t>
            </a:r>
            <a:r>
              <a:rPr lang="en"/>
              <a:t> → </a:t>
            </a:r>
            <a:r>
              <a:rPr lang="en"/>
              <a:t>1.69 to 1.98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true slope is 2. Not in there.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Build 1000 intervals this way and 95% of them contain the truth.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Ours was one of the other 5%.</a:t>
            </a:r>
            <a:endParaRPr/>
          </a:p>
        </p:txBody>
      </p:sp>
      <p:sp>
        <p:nvSpPr>
          <p:cNvPr id="512" name="Google Shape;51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and test</a:t>
            </a:r>
            <a:endParaRPr/>
          </a:p>
        </p:txBody>
      </p:sp>
      <p:sp>
        <p:nvSpPr>
          <p:cNvPr id="518" name="Google Shape;51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mean(tadpoles)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summary(tadpoles)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cor(frogs, tadpoles)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cor.test(frogs, tadpoles)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rgbClr val="980000"/>
                </a:solidFill>
              </a:rPr>
              <a:t>Is that p-value impressive?</a:t>
            </a:r>
            <a:endParaRPr b="1" sz="2100">
              <a:solidFill>
                <a:srgbClr val="980000"/>
              </a:solidFill>
            </a:endParaRPr>
          </a:p>
        </p:txBody>
      </p:sp>
      <p:sp>
        <p:nvSpPr>
          <p:cNvPr id="519" name="Google Shape;51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it again</a:t>
            </a:r>
            <a:endParaRPr/>
          </a:p>
        </p:txBody>
      </p:sp>
      <p:sp>
        <p:nvSpPr>
          <p:cNvPr id="525" name="Google Shape;525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set.seed(202)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tadpoles2 &lt;- rnorm(20, 2 * frogs, sd = 0.5)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cor(frogs, tadpoles2)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How did this differ? Why?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Different data. Same truth.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demographic stochasticity, from last week.</a:t>
            </a:r>
            <a:endParaRPr/>
          </a:p>
        </p:txBody>
      </p:sp>
      <p:sp>
        <p:nvSpPr>
          <p:cNvPr id="526" name="Google Shape;52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just did</a:t>
            </a:r>
            <a:endParaRPr/>
          </a:p>
        </p:txBody>
      </p:sp>
      <p:sp>
        <p:nvSpPr>
          <p:cNvPr id="532" name="Google Shape;532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20 populations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Deterministic model: the line lm() fits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Stochastic model: the normal errors it assumes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Estimate parameters: coef()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Confidence regions: confint()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Hypothesis testing:cor.test()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lm() never saw how we made the data</a:t>
            </a:r>
            <a:endParaRPr b="1"/>
          </a:p>
        </p:txBody>
      </p:sp>
      <p:sp>
        <p:nvSpPr>
          <p:cNvPr id="533" name="Google Shape;53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60"/>
          <p:cNvSpPr/>
          <p:nvPr/>
        </p:nvSpPr>
        <p:spPr>
          <a:xfrm>
            <a:off x="6828396" y="439157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535" name="Google Shape;535;p60"/>
          <p:cNvSpPr/>
          <p:nvPr/>
        </p:nvSpPr>
        <p:spPr>
          <a:xfrm>
            <a:off x="6842050" y="1047436"/>
            <a:ext cx="1159500" cy="35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36" name="Google Shape;536;p60"/>
          <p:cNvSpPr/>
          <p:nvPr/>
        </p:nvSpPr>
        <p:spPr>
          <a:xfrm>
            <a:off x="6201596" y="1616060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Model(s)</a:t>
            </a:r>
            <a:endParaRPr/>
          </a:p>
        </p:txBody>
      </p:sp>
      <p:sp>
        <p:nvSpPr>
          <p:cNvPr id="537" name="Google Shape;537;p60"/>
          <p:cNvSpPr/>
          <p:nvPr/>
        </p:nvSpPr>
        <p:spPr>
          <a:xfrm>
            <a:off x="7632446" y="1619812"/>
            <a:ext cx="1336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Model(s)</a:t>
            </a:r>
            <a:endParaRPr/>
          </a:p>
        </p:txBody>
      </p:sp>
      <p:sp>
        <p:nvSpPr>
          <p:cNvPr id="538" name="Google Shape;538;p60"/>
          <p:cNvSpPr/>
          <p:nvPr/>
        </p:nvSpPr>
        <p:spPr>
          <a:xfrm>
            <a:off x="6839605" y="2313532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Parameters</a:t>
            </a:r>
            <a:endParaRPr/>
          </a:p>
        </p:txBody>
      </p:sp>
      <p:sp>
        <p:nvSpPr>
          <p:cNvPr id="539" name="Google Shape;539;p60"/>
          <p:cNvSpPr/>
          <p:nvPr/>
        </p:nvSpPr>
        <p:spPr>
          <a:xfrm>
            <a:off x="6382421" y="3028303"/>
            <a:ext cx="2110800" cy="5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Estimate Confidence Regions</a:t>
            </a:r>
            <a:endParaRPr/>
          </a:p>
        </p:txBody>
      </p:sp>
      <p:sp>
        <p:nvSpPr>
          <p:cNvPr id="540" name="Google Shape;540;p60"/>
          <p:cNvSpPr/>
          <p:nvPr/>
        </p:nvSpPr>
        <p:spPr>
          <a:xfrm>
            <a:off x="6886746" y="3992356"/>
            <a:ext cx="1159500" cy="4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Questions</a:t>
            </a:r>
            <a:endParaRPr/>
          </a:p>
        </p:txBody>
      </p:sp>
      <p:cxnSp>
        <p:nvCxnSpPr>
          <p:cNvPr id="541" name="Google Shape;541;p60"/>
          <p:cNvCxnSpPr>
            <a:stCxn id="534" idx="2"/>
            <a:endCxn id="535" idx="0"/>
          </p:cNvCxnSpPr>
          <p:nvPr/>
        </p:nvCxnSpPr>
        <p:spPr>
          <a:xfrm>
            <a:off x="7408146" y="795857"/>
            <a:ext cx="13800" cy="25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60"/>
          <p:cNvCxnSpPr>
            <a:stCxn id="535" idx="2"/>
            <a:endCxn id="536" idx="0"/>
          </p:cNvCxnSpPr>
          <p:nvPr/>
        </p:nvCxnSpPr>
        <p:spPr>
          <a:xfrm flipH="1">
            <a:off x="6781300" y="1404136"/>
            <a:ext cx="6405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60"/>
          <p:cNvCxnSpPr>
            <a:stCxn id="535" idx="2"/>
            <a:endCxn id="537" idx="0"/>
          </p:cNvCxnSpPr>
          <p:nvPr/>
        </p:nvCxnSpPr>
        <p:spPr>
          <a:xfrm>
            <a:off x="7421800" y="1404136"/>
            <a:ext cx="879000" cy="2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60"/>
          <p:cNvCxnSpPr>
            <a:stCxn id="536" idx="2"/>
            <a:endCxn id="538" idx="0"/>
          </p:cNvCxnSpPr>
          <p:nvPr/>
        </p:nvCxnSpPr>
        <p:spPr>
          <a:xfrm>
            <a:off x="6781346" y="2080460"/>
            <a:ext cx="638100" cy="23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60"/>
          <p:cNvCxnSpPr>
            <a:stCxn id="537" idx="2"/>
            <a:endCxn id="538" idx="0"/>
          </p:cNvCxnSpPr>
          <p:nvPr/>
        </p:nvCxnSpPr>
        <p:spPr>
          <a:xfrm flipH="1">
            <a:off x="7419296" y="2084212"/>
            <a:ext cx="881400" cy="22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60"/>
          <p:cNvCxnSpPr>
            <a:stCxn id="538" idx="2"/>
            <a:endCxn id="539" idx="0"/>
          </p:cNvCxnSpPr>
          <p:nvPr/>
        </p:nvCxnSpPr>
        <p:spPr>
          <a:xfrm>
            <a:off x="7419355" y="2777932"/>
            <a:ext cx="18600" cy="2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60"/>
          <p:cNvCxnSpPr>
            <a:stCxn id="539" idx="2"/>
            <a:endCxn id="540" idx="0"/>
          </p:cNvCxnSpPr>
          <p:nvPr/>
        </p:nvCxnSpPr>
        <p:spPr>
          <a:xfrm>
            <a:off x="7437821" y="3541303"/>
            <a:ext cx="2880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p60"/>
          <p:cNvSpPr txBox="1"/>
          <p:nvPr/>
        </p:nvSpPr>
        <p:spPr>
          <a:xfrm>
            <a:off x="6289091" y="3532449"/>
            <a:ext cx="19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Hypothesis testing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time:</a:t>
            </a:r>
            <a:endParaRPr/>
          </a:p>
        </p:txBody>
      </p:sp>
      <p:sp>
        <p:nvSpPr>
          <p:cNvPr id="554" name="Google Shape;55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class: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 2.1</a:t>
            </a:r>
            <a:r>
              <a:rPr lang="en"/>
              <a:t> - 2.3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Think about types of data you might want to look 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class: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Discuss 2.1 - 2.3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 on loading in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