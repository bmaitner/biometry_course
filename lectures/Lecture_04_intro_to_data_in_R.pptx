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y="5143500" cx="9144000"/>
  <p:notesSz cx="6858000" cy="9144000"/>
  <p:embeddedFontLst>
    <p:embeddedFont>
      <p:font typeface="Roboto"/>
      <p:regular r:id="rId57"/>
      <p:bold r:id="rId58"/>
      <p:italic r:id="rId59"/>
      <p:boldItalic r:id="rId60"/>
    </p:embeddedFont>
    <p:embeddedFont>
      <p:font typeface="Roboto Mono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8ECA6A7-C6D2-4F19-9CC4-00F07562ADE2}">
  <a:tblStyle styleId="{A8ECA6A7-C6D2-4F19-9CC4-00F07562ADE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RobotoMono-bold.fntdata"/><Relationship Id="rId61" Type="http://schemas.openxmlformats.org/officeDocument/2006/relationships/font" Target="fonts/RobotoMono-regular.fntdata"/><Relationship Id="rId20" Type="http://schemas.openxmlformats.org/officeDocument/2006/relationships/slide" Target="slides/slide14.xml"/><Relationship Id="rId64" Type="http://schemas.openxmlformats.org/officeDocument/2006/relationships/font" Target="fonts/RobotoMono-boldItalic.fntdata"/><Relationship Id="rId63" Type="http://schemas.openxmlformats.org/officeDocument/2006/relationships/font" Target="fonts/RobotoMono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Roboto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Roboto-regular.fntdata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Roboto-italic.fntdata"/><Relationship Id="rId14" Type="http://schemas.openxmlformats.org/officeDocument/2006/relationships/slide" Target="slides/slide8.xml"/><Relationship Id="rId58" Type="http://schemas.openxmlformats.org/officeDocument/2006/relationships/font" Target="fonts/Roboto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c02cc9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c02cc9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a618bf19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7a618bf19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9ef236f0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9ef236f0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9ef236f0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9ef236f0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a618bf19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7a618bf19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a618bf19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a618bf19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a618bf19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a618bf19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a618bf19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7a618bf19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a618bf192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a618bf19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a618bf19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7a618bf19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a618bf192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7a618bf19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a618bf19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7a618bf19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9ef236f05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9ef236f05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9ef236f05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9ef236f05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.xlsx really is a zip archive: you can rename one to .zip and open it. That's why base R can't read it without help, and it ties straight back to the "why plain text" slide from earlier. A .csv you can open in Notepad; an .xlsx you cannot.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9ef236f05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9ef236f05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9ef236f05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9ef236f05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ef236f05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9ef236f05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9ef236f05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f9ef236f05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9ef236f05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9ef236f05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9ef236f05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9ef236f05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9ef236f0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9ef236f0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9ef236f0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f9ef236f0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9ef236f05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f9ef236f0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9ef236f05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f9ef236f0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9ef236f05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f9ef236f05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9ef236f05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f9ef236f05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7a618bf192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7a618bf192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7a618bf192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7a618bf192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7a618bf192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7a618bf192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7a618bf192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7a618bf19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9ef236f05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f9ef236f0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9ef236f05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f9ef236f05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9ef236f05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f9ef236f05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7a618bf192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7a618bf192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7a618bf192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7a618bf192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7a618bf192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7a618bf192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7a618bf192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7a618bf192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7a618bf192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7a618bf192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9ef236f05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f9ef236f05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7a618bf192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7a618bf192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9ef236f05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f9ef236f05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7a618bf192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7a618bf192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Note: </a:t>
            </a:r>
            <a:r>
              <a:rPr lang="en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avonet[1]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versus </a:t>
            </a:r>
            <a:r>
              <a:rPr lang="en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avonet[,1]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: the first returns a one-column data frame, the second a vector. </a:t>
            </a:r>
            <a:r>
              <a:rPr lang="en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class()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on each shows it. Common source of error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7a618bf192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7a618bf192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7a618bf192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7a618bf192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7a618bf192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7a618bf192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f9ef236f05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f9ef236f05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7bb57664d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7bb57664d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7bb57664d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7bb57664d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7a618bf192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7a618bf192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64c02cc92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64c02cc92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bmaitner/Statistical_ecology_course" TargetMode="External"/><Relationship Id="rId4" Type="http://schemas.openxmlformats.org/officeDocument/2006/relationships/hyperlink" Target="http://github.com/bmaitner/biometry_cours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9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in 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97850"/>
            <a:ext cx="8520600" cy="25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 loading data, data types, etc.,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Pointers on data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 and examine some data</a:t>
            </a:r>
            <a:endParaRPr/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Electronic Formats</a:t>
            </a:r>
            <a:endParaRPr b="1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 can handle most common data formats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E.g., .</a:t>
            </a:r>
            <a:r>
              <a:rPr lang="en"/>
              <a:t>c</a:t>
            </a:r>
            <a:r>
              <a:rPr lang="en"/>
              <a:t>sv, .txt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Proprietary data formats may require additional packages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E.g., Excel .xlsx files, ESRI .shp files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 has its own file types: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E.g., .RDS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Different pros/cons to data formats!</a:t>
            </a:r>
            <a:endParaRPr/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Why plain text?</a:t>
            </a:r>
            <a:endParaRPr b="1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Readable by anything, on any machine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Won't become obsolete with the next software version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Survive partial corruption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Note: </a:t>
            </a:r>
            <a:r>
              <a:rPr lang="en" sz="2000"/>
              <a:t>A .csv is just a text file that tells you how to parse it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csv = comma </a:t>
            </a:r>
            <a:r>
              <a:rPr lang="en" sz="2000"/>
              <a:t>separated</a:t>
            </a:r>
            <a:r>
              <a:rPr lang="en" sz="2000"/>
              <a:t> value</a:t>
            </a:r>
            <a:endParaRPr sz="20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We practise this</a:t>
            </a:r>
            <a:endParaRPr b="1"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Your assignments: .R, .Rmd, .Qmd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This course's syllabus: Markdown 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The data in data/: .csv</a:t>
            </a:r>
            <a:endParaRPr sz="22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These are all basically “text” files</a:t>
            </a:r>
            <a:endParaRPr sz="2200"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200"/>
              <a:t>Not an accident!</a:t>
            </a:r>
            <a:endParaRPr b="1" sz="2200"/>
          </a:p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Getting data into R</a:t>
            </a:r>
            <a:endParaRPr b="1"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Functions used will depend on data types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Often multiple options for a given file type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Functions can mess things up when importing them!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 can pull from different places (online, locally, databases, etc.)</a:t>
            </a:r>
            <a:endParaRPr/>
          </a:p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Getting data into R: example functions</a:t>
            </a:r>
            <a:endParaRPr b="1"/>
          </a:p>
        </p:txBody>
      </p:sp>
      <p:graphicFrame>
        <p:nvGraphicFramePr>
          <p:cNvPr id="90" name="Google Shape;90;p18"/>
          <p:cNvGraphicFramePr/>
          <p:nvPr/>
        </p:nvGraphicFramePr>
        <p:xfrm>
          <a:off x="3117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{A8ECA6A7-C6D2-4F19-9CC4-00F07562ADE2}</a:tableStyleId>
              </a:tblPr>
              <a:tblGrid>
                <a:gridCol w="2048475"/>
                <a:gridCol w="1382400"/>
                <a:gridCol w="2991025"/>
                <a:gridCol w="2098725"/>
              </a:tblGrid>
              <a:tr h="209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File type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Extension(s)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Common R import function(s)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Package(s)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Comma-separated values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.csv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read.csv()</a:t>
                      </a:r>
                      <a:r>
                        <a:rPr lang="en" sz="800"/>
                        <a:t>, </a:t>
                      </a: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read_csv()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base, readr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Tab-delimited text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.tsv</a:t>
                      </a:r>
                      <a:r>
                        <a:rPr lang="en" sz="800"/>
                        <a:t>, </a:t>
                      </a: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.txt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read.delim()</a:t>
                      </a:r>
                      <a:r>
                        <a:rPr lang="en" sz="800"/>
                        <a:t>, </a:t>
                      </a: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read_tsv()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base, readr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Excel (old)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.xls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read.xls()</a:t>
                      </a:r>
                      <a:r>
                        <a:rPr lang="en" sz="800"/>
                        <a:t>, </a:t>
                      </a: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read_excel()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gdata, readxl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Excel (modern)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.xlsx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read.xlsx()</a:t>
                      </a:r>
                      <a:r>
                        <a:rPr lang="en" sz="800"/>
                        <a:t>, </a:t>
                      </a: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read_excel()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openxlsx, readxl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 object (binary)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.RData</a:t>
                      </a:r>
                      <a:r>
                        <a:rPr lang="en" sz="800"/>
                        <a:t>, </a:t>
                      </a: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.rda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load()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base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 object (single)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.RDS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readRDS()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base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SPSS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.sav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read.spss()</a:t>
                      </a:r>
                      <a:r>
                        <a:rPr lang="en" sz="800"/>
                        <a:t>, </a:t>
                      </a: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read_sav()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foreign, haven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Stata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.dta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read.dta()</a:t>
                      </a:r>
                      <a:r>
                        <a:rPr lang="en" sz="800"/>
                        <a:t>, </a:t>
                      </a: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read_dta()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foreign, haven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SAS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.sas7bdat</a:t>
                      </a:r>
                      <a:r>
                        <a:rPr lang="en" sz="800"/>
                        <a:t>, </a:t>
                      </a: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.xpt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read_sas()</a:t>
                      </a:r>
                      <a:r>
                        <a:rPr lang="en" sz="800"/>
                        <a:t>, </a:t>
                      </a: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read.xport()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haven, sas7bdat, foreign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JSON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.json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fromJSON()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jsonlite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XML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.xml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xmlParse()</a:t>
                      </a:r>
                      <a:r>
                        <a:rPr lang="en" sz="800"/>
                        <a:t>, </a:t>
                      </a: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read_xml()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XML, xml2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Feather/Arrow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.feather</a:t>
                      </a:r>
                      <a:r>
                        <a:rPr lang="en" sz="800"/>
                        <a:t>, </a:t>
                      </a: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.arrow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read_feather()</a:t>
                      </a:r>
                      <a:r>
                        <a:rPr lang="en" sz="800"/>
                        <a:t>, </a:t>
                      </a: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read_parquet()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arrow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HDF5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.h5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h5read()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rhdf5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NetCDF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.nc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nc_open()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ncdf4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SQLite database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.sqlite</a:t>
                      </a:r>
                      <a:r>
                        <a:rPr lang="en" sz="800"/>
                        <a:t>, </a:t>
                      </a: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.db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dbConnect(RSQLite::SQLite(), ...)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RSQLite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Shapefile (GIS)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.shp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st_read()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sf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GeoPackage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.gpkg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st_read()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sf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Getting data into R: example</a:t>
            </a:r>
            <a:endParaRPr b="1"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Go to the course Github site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</a:t>
            </a:r>
            <a:r>
              <a:rPr lang="en" u="sng">
                <a:solidFill>
                  <a:schemeClr val="hlink"/>
                </a:solidFill>
                <a:hlinkClick r:id="rId4"/>
              </a:rPr>
              <a:t>github.com/bmaitner/biometry_course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Navigate to </a:t>
            </a:r>
            <a:r>
              <a:rPr b="1" lang="en"/>
              <a:t>data/Avonet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Download the file “</a:t>
            </a:r>
            <a:r>
              <a:rPr b="1" lang="en"/>
              <a:t>AVONET1_BirdLife.csv</a:t>
            </a:r>
            <a:r>
              <a:rPr lang="en"/>
              <a:t>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Getting data into R: example</a:t>
            </a:r>
            <a:endParaRPr b="1"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Since the file </a:t>
            </a:r>
            <a:r>
              <a:rPr lang="en" sz="1900"/>
              <a:t>“</a:t>
            </a:r>
            <a:r>
              <a:rPr b="1" lang="en" sz="1900"/>
              <a:t>AVONET1_BirdLife.csv</a:t>
            </a:r>
            <a:r>
              <a:rPr lang="en" sz="1900"/>
              <a:t>” is a csv, we’ll use </a:t>
            </a:r>
            <a:r>
              <a:rPr b="1" lang="en" sz="1900">
                <a:latin typeface="Courier New"/>
                <a:ea typeface="Courier New"/>
                <a:cs typeface="Courier New"/>
                <a:sym typeface="Courier New"/>
              </a:rPr>
              <a:t>read.csv()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We can do this using</a:t>
            </a:r>
            <a:endParaRPr sz="23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Absolute paths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Relative paths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A remote copy of the file</a:t>
            </a:r>
            <a:endParaRPr sz="1900"/>
          </a:p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Getting data into R: relative vs absolute paths</a:t>
            </a:r>
            <a:endParaRPr b="1"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Absolute vs relative paths</a:t>
            </a:r>
            <a:endParaRPr sz="22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Absolute: path from the root of your file system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Relative: path relative to your working directory</a:t>
            </a:r>
            <a:endParaRPr sz="2200"/>
          </a:p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Getting data into R: relative vs absolute paths</a:t>
            </a:r>
            <a:endParaRPr b="1"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Absolute vs relative paths</a:t>
            </a:r>
            <a:endParaRPr sz="1900"/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Absolute: path from the root of your file system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Relative: path relative to your working directory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80000"/>
                </a:solidFill>
              </a:rPr>
              <a:t>Examples: which is which?</a:t>
            </a:r>
            <a:endParaRPr b="1" sz="19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/>
              <a:t>“</a:t>
            </a:r>
            <a:r>
              <a:rPr lang="en" sz="1900"/>
              <a:t>C:/Users/bmaitner/Desktop/current_projects/biometry_course/data/Avonet/AVONET1_BirdLife.csv</a:t>
            </a:r>
            <a:r>
              <a:rPr lang="en" sz="1900"/>
              <a:t>”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/>
              <a:t>“data/Avonet/AVONET1_BirdLife.csv”</a:t>
            </a:r>
            <a:endParaRPr sz="1900"/>
          </a:p>
        </p:txBody>
      </p:sp>
      <p:sp>
        <p:nvSpPr>
          <p:cNvPr id="119" name="Google Shape;11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Getting data into R: relative vs absolute paths</a:t>
            </a:r>
            <a:endParaRPr b="1"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Try to read in the file you downloaded (</a:t>
            </a:r>
            <a:r>
              <a:rPr lang="en" sz="2300"/>
              <a:t>AVONET1_BirdLife.csv</a:t>
            </a:r>
            <a:r>
              <a:rPr lang="en" sz="2300"/>
              <a:t>)</a:t>
            </a:r>
            <a:endParaRPr sz="2300"/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Clr>
                <a:srgbClr val="980000"/>
              </a:buClr>
              <a:buSzPts val="2300"/>
              <a:buChar char="-"/>
            </a:pPr>
            <a:r>
              <a:rPr lang="en" sz="2300">
                <a:solidFill>
                  <a:srgbClr val="980000"/>
                </a:solidFill>
              </a:rPr>
              <a:t>Try reading it using both relative and absolute paths</a:t>
            </a:r>
            <a:endParaRPr sz="2300">
              <a:solidFill>
                <a:srgbClr val="980000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300"/>
              <a:buChar char="-"/>
            </a:pPr>
            <a:r>
              <a:rPr lang="en" sz="2300">
                <a:solidFill>
                  <a:srgbClr val="980000"/>
                </a:solidFill>
              </a:rPr>
              <a:t>Use </a:t>
            </a:r>
            <a:r>
              <a:rPr b="1" lang="en" sz="23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read.csv(</a:t>
            </a:r>
            <a:r>
              <a:rPr b="1" lang="en" sz="23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2300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-"/>
            </a:pPr>
            <a:r>
              <a:rPr lang="en" sz="2300">
                <a:solidFill>
                  <a:schemeClr val="dk1"/>
                </a:solidFill>
              </a:rPr>
              <a:t>Tab completion makes it easier</a:t>
            </a:r>
            <a:endParaRPr sz="2300">
              <a:solidFill>
                <a:schemeClr val="dk1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ourier New"/>
              <a:buChar char="-"/>
            </a:pPr>
            <a:r>
              <a:rPr b="1" lang="en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read.csv("")</a:t>
            </a:r>
            <a:r>
              <a:rPr b="1" lang="en" sz="2300">
                <a:solidFill>
                  <a:schemeClr val="dk1"/>
                </a:solidFill>
              </a:rPr>
              <a:t> then hit the TAB key</a:t>
            </a:r>
            <a:endParaRPr b="1" sz="2300">
              <a:solidFill>
                <a:schemeClr val="dk1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-"/>
            </a:pPr>
            <a:r>
              <a:rPr b="1" lang="en" sz="2300">
                <a:solidFill>
                  <a:schemeClr val="dk1"/>
                </a:solidFill>
              </a:rPr>
              <a:t>Cursor needs to be between the </a:t>
            </a:r>
            <a:r>
              <a:rPr b="1" lang="en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""</a:t>
            </a:r>
            <a:endParaRPr b="1" sz="2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Getting data into R: remote data</a:t>
            </a:r>
            <a:endParaRPr b="1"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 R functions can also read in online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avonet &lt;- read.csv("data/Avonet/AVONET1_BirdLife.csv")</a:t>
            </a:r>
            <a:endParaRPr b="1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avonet_v3 &lt;- read.csv("https://github.com/bmaitner/biometry_course/raw/refs/heads/main/data/Avonet/AVONET1_BirdLife.csv")</a:t>
            </a:r>
            <a:endParaRPr b="1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identical(avonet, avonet_v3)</a:t>
            </a:r>
            <a:endParaRPr b="1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Same data, two routes.</a:t>
            </a:r>
            <a:endParaRPr/>
          </a:p>
        </p:txBody>
      </p:sp>
      <p:sp>
        <p:nvSpPr>
          <p:cNvPr id="133" name="Google Shape;13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Not everything is a .csv</a:t>
            </a:r>
            <a:endParaRPr b="1"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980000"/>
                </a:solidFill>
              </a:rPr>
              <a:t>Try this (download if needed):</a:t>
            </a:r>
            <a:endParaRPr sz="21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amphibians &lt;- read.csv(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  "data/European_amphibians/oo_32985.xlsx")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100">
                <a:solidFill>
                  <a:srgbClr val="980000"/>
                </a:solidFill>
              </a:rPr>
              <a:t>What happens? Why?</a:t>
            </a:r>
            <a:endParaRPr b="1" sz="2100">
              <a:solidFill>
                <a:srgbClr val="980000"/>
              </a:solidFill>
            </a:endParaRPr>
          </a:p>
        </p:txBody>
      </p:sp>
      <p:sp>
        <p:nvSpPr>
          <p:cNvPr id="140" name="Google Shape;14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That's not text</a:t>
            </a:r>
            <a:endParaRPr b="1"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Warning message: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line 1 appears to contain embedded nulls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.xlsx isn't text. It's a zip file full of XML.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read.csv() </a:t>
            </a:r>
            <a:r>
              <a:rPr lang="en">
                <a:solidFill>
                  <a:schemeClr val="dk1"/>
                </a:solidFill>
              </a:rPr>
              <a:t>reads</a:t>
            </a:r>
            <a:r>
              <a:rPr b="1" i="1" lang="en">
                <a:solidFill>
                  <a:schemeClr val="dk1"/>
                </a:solidFill>
              </a:rPr>
              <a:t> text</a:t>
            </a:r>
            <a:r>
              <a:rPr lang="en">
                <a:solidFill>
                  <a:schemeClr val="dk1"/>
                </a:solidFill>
              </a:rPr>
              <a:t>. It tried.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7" name="Google Shape;14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You need a package</a:t>
            </a:r>
            <a:endParaRPr b="1"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Base R can't read Excel files. Someone else wrote code that can.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install.packages("readxl")</a:t>
            </a:r>
            <a:endParaRPr sz="2100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/>
              <a:t>Needed once per computer. Not once per session.</a:t>
            </a:r>
            <a:endParaRPr sz="2100"/>
          </a:p>
        </p:txBody>
      </p:sp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Installing is not loading</a:t>
            </a:r>
            <a:endParaRPr b="1"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980000"/>
                </a:solidFill>
              </a:rPr>
              <a:t>Try:</a:t>
            </a:r>
            <a:endParaRPr b="1" sz="2100">
              <a:solidFill>
                <a:srgbClr val="980000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read_xlsx("data/European_amphibians/oo_32985.xlsx")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Error: could not find function "read_xlsx"</a:t>
            </a:r>
            <a:endParaRPr sz="21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I</a:t>
            </a:r>
            <a:r>
              <a:rPr lang="en" sz="2100"/>
              <a:t>nstalled ≠ available.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980000"/>
                </a:solidFill>
              </a:rPr>
              <a:t>Run:</a:t>
            </a:r>
            <a:endParaRPr b="1" sz="2100">
              <a:solidFill>
                <a:srgbClr val="980000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library(readxl)</a:t>
            </a:r>
            <a:endParaRPr b="1" sz="2100">
              <a:solidFill>
                <a:srgbClr val="980000"/>
              </a:solidFill>
            </a:endParaRPr>
          </a:p>
        </p:txBody>
      </p:sp>
      <p:sp>
        <p:nvSpPr>
          <p:cNvPr id="161" name="Google Shape;16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Now read it</a:t>
            </a:r>
            <a:endParaRPr b="1"/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Consolas"/>
                <a:ea typeface="Consolas"/>
                <a:cs typeface="Consolas"/>
                <a:sym typeface="Consolas"/>
              </a:rPr>
              <a:t>library(readxl)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00">
                <a:latin typeface="Consolas"/>
                <a:ea typeface="Consolas"/>
                <a:cs typeface="Consolas"/>
                <a:sym typeface="Consolas"/>
              </a:rPr>
              <a:t>amphibians &lt;- read_xlsx(</a:t>
            </a:r>
            <a:endParaRPr sz="2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00">
                <a:latin typeface="Consolas"/>
                <a:ea typeface="Consolas"/>
                <a:cs typeface="Consolas"/>
                <a:sym typeface="Consolas"/>
              </a:rPr>
              <a:t>  "data/European_amphibians/oo_32985.xlsx")</a:t>
            </a:r>
            <a:endParaRPr sz="2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00">
                <a:latin typeface="Consolas"/>
                <a:ea typeface="Consolas"/>
                <a:cs typeface="Consolas"/>
                <a:sym typeface="Consolas"/>
              </a:rPr>
              <a:t>head(amphibians)</a:t>
            </a:r>
            <a:endParaRPr sz="2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500">
                <a:solidFill>
                  <a:srgbClr val="980000"/>
                </a:solidFill>
              </a:rPr>
              <a:t>Did it work?</a:t>
            </a:r>
            <a:endParaRPr b="1" sz="2500">
              <a:solidFill>
                <a:srgbClr val="980000"/>
              </a:solidFill>
            </a:endParaRPr>
          </a:p>
        </p:txBody>
      </p:sp>
      <p:sp>
        <p:nvSpPr>
          <p:cNvPr id="168" name="Google Shape;16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Look at the file first</a:t>
            </a:r>
            <a:endParaRPr b="1"/>
          </a:p>
        </p:txBody>
      </p:sp>
      <p:sp>
        <p:nvSpPr>
          <p:cNvPr id="174" name="Google Shape;17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b="7646" l="0" r="25150" t="29163"/>
          <a:stretch/>
        </p:blipFill>
        <p:spPr>
          <a:xfrm>
            <a:off x="152400" y="1095575"/>
            <a:ext cx="8015602" cy="380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0"/>
          <p:cNvSpPr txBox="1"/>
          <p:nvPr/>
        </p:nvSpPr>
        <p:spPr>
          <a:xfrm>
            <a:off x="4314675" y="270425"/>
            <a:ext cx="4236600" cy="74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2514E"/>
                </a:solidFill>
                <a:highlight>
                  <a:srgbClr val="FCFCFB"/>
                </a:highlight>
              </a:rPr>
              <a:t>Rows 1-3: various metadata</a:t>
            </a:r>
            <a:endParaRPr sz="1700">
              <a:solidFill>
                <a:srgbClr val="52514E"/>
              </a:solidFill>
              <a:highlight>
                <a:srgbClr val="FCFCFB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2514E"/>
                </a:solidFill>
                <a:highlight>
                  <a:srgbClr val="FCFCFB"/>
                </a:highlight>
              </a:rPr>
              <a:t>Row 4: the actual column names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Telling R where to start</a:t>
            </a:r>
            <a:endParaRPr b="1"/>
          </a:p>
        </p:txBody>
      </p:sp>
      <p:sp>
        <p:nvSpPr>
          <p:cNvPr id="182" name="Google Shape;18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amphibians &lt;- read_xlsx(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  "data/European_amphibians/oo_32985.xlsx",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  skip  = 3,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  sheet = 1,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  na    = "DD")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skip = 3: ignore metadata rows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sheet = 1: only use the first sheet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na = "DD": “DD” (data deficient) is used instead of NA</a:t>
            </a:r>
            <a:endParaRPr sz="2000"/>
          </a:p>
        </p:txBody>
      </p:sp>
      <p:sp>
        <p:nvSpPr>
          <p:cNvPr id="183" name="Google Shape;18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Metadata</a:t>
            </a:r>
            <a:endParaRPr b="1"/>
          </a:p>
        </p:txBody>
      </p:sp>
      <p:sp>
        <p:nvSpPr>
          <p:cNvPr id="189" name="Google Shape;18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about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information that describes your data: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variable names,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units,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when and where collected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 has no system for this. Keeping it is on </a:t>
            </a:r>
            <a:r>
              <a:rPr i="1" lang="en"/>
              <a:t>you</a:t>
            </a:r>
            <a:r>
              <a:rPr lang="en"/>
              <a:t>.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Super important to do this well!</a:t>
            </a:r>
            <a:endParaRPr b="1"/>
          </a:p>
        </p:txBody>
      </p:sp>
      <p:sp>
        <p:nvSpPr>
          <p:cNvPr id="190" name="Google Shape;19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Column names are metadata</a:t>
            </a:r>
            <a:endParaRPr b="1"/>
          </a:p>
        </p:txBody>
      </p:sp>
      <p:sp>
        <p:nvSpPr>
          <p:cNvPr id="196" name="Google Shape;196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need to strike a balance between </a:t>
            </a:r>
            <a:r>
              <a:rPr b="1" lang="en"/>
              <a:t>clarity</a:t>
            </a:r>
            <a:r>
              <a:rPr lang="en"/>
              <a:t> and </a:t>
            </a:r>
            <a:r>
              <a:rPr b="1" lang="en"/>
              <a:t>brevity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Which of these examples would you prefer to be given?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</a:t>
            </a:r>
            <a:r>
              <a:rPr lang="en"/>
              <a:t>arvdens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larval_density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not x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not larval_density_per_m3_in_ponds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Note: Use u</a:t>
            </a:r>
            <a:r>
              <a:rPr lang="en"/>
              <a:t>nderscores or dots. </a:t>
            </a:r>
            <a:r>
              <a:rPr i="1" lang="en"/>
              <a:t>Never</a:t>
            </a:r>
            <a:r>
              <a:rPr lang="en"/>
              <a:t> spaces.</a:t>
            </a:r>
            <a:endParaRPr/>
          </a:p>
        </p:txBody>
      </p:sp>
      <p:sp>
        <p:nvSpPr>
          <p:cNvPr id="197" name="Google Shape;19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You can put metadata in the file</a:t>
            </a:r>
            <a:endParaRPr b="1" sz="2500"/>
          </a:p>
        </p:txBody>
      </p:sp>
      <p:sp>
        <p:nvSpPr>
          <p:cNvPr id="203" name="Google Shape;203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R ignores anything after </a:t>
            </a: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#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/>
              <a:t>You can use this to include metadata in a file, e.g.:</a:t>
            </a:r>
            <a:endParaRPr sz="19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 Amniote traits, Myhrvold et al. 2015</a:t>
            </a:r>
            <a:endParaRPr sz="19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 Missing values coded as -999</a:t>
            </a:r>
            <a:endParaRPr sz="19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4" name="Google Shape;20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we do in this course</a:t>
            </a:r>
            <a:endParaRPr b="1"/>
          </a:p>
        </p:txBody>
      </p:sp>
      <p:sp>
        <p:nvSpPr>
          <p:cNvPr id="210" name="Google Shape;210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Every folder in data/ has a README</a:t>
            </a:r>
            <a:endParaRPr sz="2400"/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Source, licence, and any gotchas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rgbClr val="980000"/>
                </a:solidFill>
              </a:rPr>
              <a:t>Open data/Amniote_traits/README</a:t>
            </a:r>
            <a:endParaRPr sz="2400">
              <a:solidFill>
                <a:srgbClr val="980000"/>
              </a:solidFill>
            </a:endParaRPr>
          </a:p>
        </p:txBody>
      </p:sp>
      <p:sp>
        <p:nvSpPr>
          <p:cNvPr id="211" name="Google Shape;21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 styles</a:t>
            </a:r>
            <a:endParaRPr b="1"/>
          </a:p>
        </p:txBody>
      </p:sp>
      <p:sp>
        <p:nvSpPr>
          <p:cNvPr id="217" name="Google Shape;217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same data can be represented in multiple different ways</a:t>
            </a:r>
            <a:endParaRPr/>
          </a:p>
        </p:txBody>
      </p:sp>
      <p:sp>
        <p:nvSpPr>
          <p:cNvPr id="218" name="Google Shape;21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Long/skinny/tidy format</a:t>
            </a:r>
            <a:endParaRPr b="1"/>
          </a:p>
        </p:txBody>
      </p:sp>
      <p:sp>
        <p:nvSpPr>
          <p:cNvPr id="224" name="Google Shape;224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One row per observation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26" name="Google Shape;226;p37"/>
          <p:cNvGraphicFramePr/>
          <p:nvPr/>
        </p:nvGraphicFramePr>
        <p:xfrm>
          <a:off x="469560" y="1931251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CFCFB"/>
                </a:solidFill>
                <a:tableStyleId>{A8ECA6A7-C6D2-4F19-9CC4-00F07562ADE2}</a:tableStyleId>
              </a:tblPr>
              <a:tblGrid>
                <a:gridCol w="1621575"/>
                <a:gridCol w="2426100"/>
                <a:gridCol w="1684450"/>
                <a:gridCol w="1382750"/>
              </a:tblGrid>
              <a:tr h="27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52514E"/>
                          </a:solidFill>
                        </a:rPr>
                        <a:t>station</a:t>
                      </a:r>
                      <a:endParaRPr b="1" sz="2000">
                        <a:solidFill>
                          <a:srgbClr val="52514E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52514E"/>
                          </a:solidFill>
                        </a:rPr>
                        <a:t>date</a:t>
                      </a:r>
                      <a:endParaRPr b="1" sz="2000">
                        <a:solidFill>
                          <a:srgbClr val="52514E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52514E"/>
                          </a:solidFill>
                        </a:rPr>
                        <a:t>species</a:t>
                      </a:r>
                      <a:endParaRPr b="1" sz="2000">
                        <a:solidFill>
                          <a:srgbClr val="52514E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52514E"/>
                          </a:solidFill>
                        </a:rPr>
                        <a:t>seeds</a:t>
                      </a:r>
                      <a:endParaRPr b="1" sz="2000">
                        <a:solidFill>
                          <a:srgbClr val="52514E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rgbClr val="52514E"/>
                          </a:solidFill>
                        </a:rPr>
                        <a:t>1</a:t>
                      </a:r>
                      <a:endParaRPr sz="2000">
                        <a:solidFill>
                          <a:srgbClr val="52514E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rgbClr val="52514E"/>
                          </a:solidFill>
                        </a:rPr>
                        <a:t>1999-03-23</a:t>
                      </a:r>
                      <a:endParaRPr sz="2000">
                        <a:solidFill>
                          <a:srgbClr val="52514E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rgbClr val="52514E"/>
                          </a:solidFill>
                        </a:rPr>
                        <a:t>psd</a:t>
                      </a:r>
                      <a:endParaRPr sz="2000">
                        <a:solidFill>
                          <a:srgbClr val="52514E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rgbClr val="52514E"/>
                          </a:solidFill>
                        </a:rPr>
                        <a:t>5</a:t>
                      </a:r>
                      <a:endParaRPr sz="2000">
                        <a:solidFill>
                          <a:srgbClr val="52514E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rgbClr val="52514E"/>
                          </a:solidFill>
                        </a:rPr>
                        <a:t>1</a:t>
                      </a:r>
                      <a:endParaRPr sz="2000">
                        <a:solidFill>
                          <a:srgbClr val="52514E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rgbClr val="52514E"/>
                          </a:solidFill>
                        </a:rPr>
                        <a:t>1999-03-27</a:t>
                      </a:r>
                      <a:endParaRPr sz="2000">
                        <a:solidFill>
                          <a:srgbClr val="52514E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rgbClr val="52514E"/>
                          </a:solidFill>
                        </a:rPr>
                        <a:t>psd</a:t>
                      </a:r>
                      <a:endParaRPr sz="2000">
                        <a:solidFill>
                          <a:srgbClr val="52514E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rgbClr val="52514E"/>
                          </a:solidFill>
                        </a:rPr>
                        <a:t>5</a:t>
                      </a:r>
                      <a:endParaRPr sz="2000">
                        <a:solidFill>
                          <a:srgbClr val="52514E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rgbClr val="52514E"/>
                          </a:solidFill>
                        </a:rPr>
                        <a:t>2</a:t>
                      </a:r>
                      <a:endParaRPr sz="2000">
                        <a:solidFill>
                          <a:srgbClr val="52514E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rgbClr val="52514E"/>
                          </a:solidFill>
                        </a:rPr>
                        <a:t>1999-03-23</a:t>
                      </a:r>
                      <a:endParaRPr sz="2000">
                        <a:solidFill>
                          <a:srgbClr val="52514E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rgbClr val="52514E"/>
                          </a:solidFill>
                        </a:rPr>
                        <a:t>uva</a:t>
                      </a:r>
                      <a:endParaRPr sz="2000">
                        <a:solidFill>
                          <a:srgbClr val="52514E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rgbClr val="52514E"/>
                          </a:solidFill>
                        </a:rPr>
                        <a:t>5</a:t>
                      </a:r>
                      <a:endParaRPr sz="2000">
                        <a:solidFill>
                          <a:srgbClr val="52514E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rgbClr val="52514E"/>
                          </a:solidFill>
                        </a:rPr>
                        <a:t>2</a:t>
                      </a:r>
                      <a:endParaRPr sz="2000">
                        <a:solidFill>
                          <a:srgbClr val="52514E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rgbClr val="52514E"/>
                          </a:solidFill>
                        </a:rPr>
                        <a:t>1999-03-27</a:t>
                      </a:r>
                      <a:endParaRPr sz="2000">
                        <a:solidFill>
                          <a:srgbClr val="52514E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rgbClr val="52514E"/>
                          </a:solidFill>
                        </a:rPr>
                        <a:t>uva</a:t>
                      </a:r>
                      <a:endParaRPr sz="2000">
                        <a:solidFill>
                          <a:srgbClr val="52514E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rgbClr val="52514E"/>
                          </a:solidFill>
                        </a:rPr>
                        <a:t>5</a:t>
                      </a:r>
                      <a:endParaRPr sz="2000">
                        <a:solidFill>
                          <a:srgbClr val="52514E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Wide format</a:t>
            </a:r>
            <a:endParaRPr b="1"/>
          </a:p>
        </p:txBody>
      </p:sp>
      <p:sp>
        <p:nvSpPr>
          <p:cNvPr id="232" name="Google Shape;232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One row per station, dates as columns</a:t>
            </a:r>
            <a:endParaRPr/>
          </a:p>
        </p:txBody>
      </p:sp>
      <p:sp>
        <p:nvSpPr>
          <p:cNvPr id="233" name="Google Shape;233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34" name="Google Shape;234;p38"/>
          <p:cNvGraphicFramePr/>
          <p:nvPr/>
        </p:nvGraphicFramePr>
        <p:xfrm>
          <a:off x="483349" y="2193253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CFCFB"/>
                </a:solidFill>
                <a:tableStyleId>{A8ECA6A7-C6D2-4F19-9CC4-00F07562ADE2}</a:tableStyleId>
              </a:tblPr>
              <a:tblGrid>
                <a:gridCol w="1761050"/>
                <a:gridCol w="1831975"/>
                <a:gridCol w="1548325"/>
                <a:gridCol w="1536500"/>
              </a:tblGrid>
              <a:tr h="27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52514E"/>
                          </a:solidFill>
                        </a:rPr>
                        <a:t>station</a:t>
                      </a:r>
                      <a:endParaRPr b="1" sz="2400">
                        <a:solidFill>
                          <a:srgbClr val="52514E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52514E"/>
                          </a:solidFill>
                        </a:rPr>
                        <a:t>species</a:t>
                      </a:r>
                      <a:endParaRPr b="1" sz="2400">
                        <a:solidFill>
                          <a:srgbClr val="52514E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52514E"/>
                          </a:solidFill>
                        </a:rPr>
                        <a:t>03-23</a:t>
                      </a:r>
                      <a:endParaRPr b="1" sz="2400">
                        <a:solidFill>
                          <a:srgbClr val="52514E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52514E"/>
                          </a:solidFill>
                        </a:rPr>
                        <a:t>03-27</a:t>
                      </a:r>
                      <a:endParaRPr b="1" sz="2400">
                        <a:solidFill>
                          <a:srgbClr val="52514E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52514E"/>
                          </a:solidFill>
                        </a:rPr>
                        <a:t>1</a:t>
                      </a:r>
                      <a:endParaRPr sz="2400">
                        <a:solidFill>
                          <a:srgbClr val="52514E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52514E"/>
                          </a:solidFill>
                        </a:rPr>
                        <a:t>psd</a:t>
                      </a:r>
                      <a:endParaRPr sz="2400">
                        <a:solidFill>
                          <a:srgbClr val="52514E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52514E"/>
                          </a:solidFill>
                        </a:rPr>
                        <a:t>5</a:t>
                      </a:r>
                      <a:endParaRPr sz="2400">
                        <a:solidFill>
                          <a:srgbClr val="52514E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52514E"/>
                          </a:solidFill>
                        </a:rPr>
                        <a:t>5</a:t>
                      </a:r>
                      <a:endParaRPr sz="2400">
                        <a:solidFill>
                          <a:srgbClr val="52514E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52514E"/>
                          </a:solidFill>
                        </a:rPr>
                        <a:t>2</a:t>
                      </a:r>
                      <a:endParaRPr sz="2400">
                        <a:solidFill>
                          <a:srgbClr val="52514E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52514E"/>
                          </a:solidFill>
                        </a:rPr>
                        <a:t>uva</a:t>
                      </a:r>
                      <a:endParaRPr sz="2400">
                        <a:solidFill>
                          <a:srgbClr val="52514E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52514E"/>
                          </a:solidFill>
                        </a:rPr>
                        <a:t>5</a:t>
                      </a:r>
                      <a:endParaRPr sz="2400">
                        <a:solidFill>
                          <a:srgbClr val="52514E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52514E"/>
                          </a:solidFill>
                        </a:rPr>
                        <a:t>5</a:t>
                      </a:r>
                      <a:endParaRPr sz="2400">
                        <a:solidFill>
                          <a:srgbClr val="52514E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 Types in R</a:t>
            </a:r>
            <a:endParaRPr b="1"/>
          </a:p>
        </p:txBody>
      </p:sp>
      <p:sp>
        <p:nvSpPr>
          <p:cNvPr id="240" name="Google Shape;240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In R, all data have a type, e.g.:</a:t>
            </a:r>
            <a:endParaRPr sz="2400"/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Numeric (2005)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Logical (TRUE)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Character (“Optimus Prime”)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Factor (</a:t>
            </a:r>
            <a:r>
              <a:rPr lang="en" sz="2400"/>
              <a:t>“Small” vs “Medium” vs “Large”</a:t>
            </a:r>
            <a:r>
              <a:rPr lang="en" sz="2400"/>
              <a:t>)</a:t>
            </a:r>
            <a:endParaRPr sz="2400"/>
          </a:p>
        </p:txBody>
      </p:sp>
      <p:sp>
        <p:nvSpPr>
          <p:cNvPr id="241" name="Google Shape;241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 Types in R</a:t>
            </a:r>
            <a:endParaRPr b="1"/>
          </a:p>
        </p:txBody>
      </p:sp>
      <p:sp>
        <p:nvSpPr>
          <p:cNvPr id="247" name="Google Shape;247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In R, all data have a type, e.g.:</a:t>
            </a:r>
            <a:endParaRPr sz="2400"/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Numeric (2005)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Logical (TRUE)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Character (“Optimus Prime”)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Factor (“Small” vs “Medium” vs “Large”)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/>
              <a:t>To figure out what type something is, use </a:t>
            </a:r>
            <a:r>
              <a:rPr b="1" lang="en" sz="2400">
                <a:latin typeface="Courier New"/>
                <a:ea typeface="Courier New"/>
                <a:cs typeface="Courier New"/>
                <a:sym typeface="Courier New"/>
              </a:rPr>
              <a:t>class()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8" name="Google Shape;248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 Types in R</a:t>
            </a:r>
            <a:endParaRPr b="1"/>
          </a:p>
        </p:txBody>
      </p:sp>
      <p:sp>
        <p:nvSpPr>
          <p:cNvPr id="254" name="Google Shape;254;p41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980000"/>
                </a:solidFill>
              </a:rPr>
              <a:t>Try </a:t>
            </a:r>
            <a:r>
              <a:rPr lang="en" sz="27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class()</a:t>
            </a:r>
            <a:r>
              <a:rPr lang="en" sz="2700">
                <a:solidFill>
                  <a:srgbClr val="980000"/>
                </a:solidFill>
              </a:rPr>
              <a:t> out on a few things</a:t>
            </a:r>
            <a:endParaRPr sz="2700">
              <a:solidFill>
                <a:srgbClr val="980000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class(“something”)</a:t>
            </a:r>
            <a:endParaRPr sz="2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class(1)</a:t>
            </a:r>
            <a:endParaRPr sz="2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class(1L)</a:t>
            </a:r>
            <a:endParaRPr sz="2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class(TRUE)</a:t>
            </a:r>
            <a:endParaRPr sz="2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5" name="Google Shape;25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 Types in R</a:t>
            </a:r>
            <a:endParaRPr b="1"/>
          </a:p>
        </p:txBody>
      </p:sp>
      <p:sp>
        <p:nvSpPr>
          <p:cNvPr id="261" name="Google Shape;261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 tries to guess what type things are, but sometimes gets it very wrong!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Numeric vs logical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Date vs character or number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Factor vs Numeric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These mistakes can cause big problems in analyses!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It’s important to check your data!</a:t>
            </a:r>
            <a:endParaRPr/>
          </a:p>
        </p:txBody>
      </p:sp>
      <p:sp>
        <p:nvSpPr>
          <p:cNvPr id="262" name="Google Shape;26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 read it. Is it right?</a:t>
            </a:r>
            <a:endParaRPr b="1"/>
          </a:p>
        </p:txBody>
      </p:sp>
      <p:sp>
        <p:nvSpPr>
          <p:cNvPr id="268" name="Google Shape;268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980000"/>
                </a:solidFill>
              </a:rPr>
              <a:t>Try this (may require downloading from Github):</a:t>
            </a:r>
            <a:endParaRPr b="1" sz="22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amniotes &lt;- read.csv("data/Amniote_traits/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                      Amniote_Database_Aug_2015.csv")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mean(amniotes$litter_or_clutch_size_n)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mean(amniotes$longevity_y)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200">
                <a:solidFill>
                  <a:srgbClr val="980000"/>
                </a:solidFill>
              </a:rPr>
              <a:t>What do you get?</a:t>
            </a:r>
            <a:endParaRPr b="1" sz="2200">
              <a:solidFill>
                <a:srgbClr val="980000"/>
              </a:solidFill>
            </a:endParaRPr>
          </a:p>
        </p:txBody>
      </p:sp>
      <p:sp>
        <p:nvSpPr>
          <p:cNvPr id="269" name="Google Shape;269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happened?</a:t>
            </a:r>
            <a:endParaRPr b="1"/>
          </a:p>
        </p:txBody>
      </p:sp>
      <p:sp>
        <p:nvSpPr>
          <p:cNvPr id="275" name="Google Shape;275;p44"/>
          <p:cNvSpPr txBox="1"/>
          <p:nvPr>
            <p:ph idx="1" type="body"/>
          </p:nvPr>
        </p:nvSpPr>
        <p:spPr>
          <a:xfrm>
            <a:off x="311700" y="1152475"/>
            <a:ext cx="8520600" cy="37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dataset codes missing values as −999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Try this:</a:t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amniotes &lt;- read.csv(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"data/Amniote_traits/Amniote_Database_Aug_2015.csv",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                 na.strings = -999)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mean(amniotes$litter_or_clutch_size_n, na.rm = TRUE)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We needed metadata to get this right!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276" name="Google Shape;276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The one that should worry you</a:t>
            </a:r>
            <a:endParaRPr b="1" sz="2500"/>
          </a:p>
        </p:txBody>
      </p:sp>
      <p:sp>
        <p:nvSpPr>
          <p:cNvPr id="282" name="Google Shape;282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Mean body mass, naive: 29,107 g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Mean body mass, correct: 37,493 g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Nothing about the first number looks wrong.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/>
              <a:t>No error. No warning. Just wrong.</a:t>
            </a:r>
            <a:endParaRPr sz="2200"/>
          </a:p>
        </p:txBody>
      </p:sp>
      <p:sp>
        <p:nvSpPr>
          <p:cNvPr id="283" name="Google Shape;283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Higher data types</a:t>
            </a:r>
            <a:endParaRPr b="1"/>
          </a:p>
        </p:txBody>
      </p:sp>
      <p:sp>
        <p:nvSpPr>
          <p:cNvPr id="289" name="Google Shape;289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 single value is often not very useful, often we want sets of data:</a:t>
            </a:r>
            <a:endParaRPr sz="22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Vector </a:t>
            </a:r>
            <a:endParaRPr sz="22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the most fundamental structure;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an ordered collection of elements of the same type</a:t>
            </a:r>
            <a:endParaRPr sz="18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Matrix</a:t>
            </a:r>
            <a:endParaRPr sz="22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 2D vector, all elements must be the same type</a:t>
            </a:r>
            <a:endParaRPr sz="18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Array</a:t>
            </a:r>
            <a:endParaRPr sz="22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an n-dimensional generalization of a matrix</a:t>
            </a:r>
            <a:endParaRPr sz="1800"/>
          </a:p>
        </p:txBody>
      </p:sp>
      <p:sp>
        <p:nvSpPr>
          <p:cNvPr id="290" name="Google Shape;290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Higher data types</a:t>
            </a:r>
            <a:endParaRPr b="1"/>
          </a:p>
        </p:txBody>
      </p:sp>
      <p:sp>
        <p:nvSpPr>
          <p:cNvPr id="296" name="Google Shape;296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L</a:t>
            </a:r>
            <a:r>
              <a:rPr lang="en" sz="2200"/>
              <a:t>ist</a:t>
            </a:r>
            <a:endParaRPr sz="22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ordered collection of objects that can be of different types or lengths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 very flexible container</a:t>
            </a:r>
            <a:endParaRPr sz="18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D</a:t>
            </a:r>
            <a:r>
              <a:rPr lang="en" sz="2200"/>
              <a:t>ata.frame</a:t>
            </a:r>
            <a:endParaRPr sz="22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tabular data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essentially a list of equal-length vectors, often used for datasets</a:t>
            </a:r>
            <a:endParaRPr sz="18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T</a:t>
            </a:r>
            <a:r>
              <a:rPr lang="en" sz="2200"/>
              <a:t>ibble</a:t>
            </a:r>
            <a:endParaRPr sz="22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 modern variant of data.frame with cleaner printing and stricter rules</a:t>
            </a:r>
            <a:endParaRPr sz="1800"/>
          </a:p>
        </p:txBody>
      </p:sp>
      <p:sp>
        <p:nvSpPr>
          <p:cNvPr id="297" name="Google Shape;297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Higher data types</a:t>
            </a:r>
            <a:endParaRPr b="1"/>
          </a:p>
        </p:txBody>
      </p:sp>
      <p:sp>
        <p:nvSpPr>
          <p:cNvPr id="303" name="Google Shape;303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You can also use </a:t>
            </a:r>
            <a:r>
              <a:rPr b="1" lang="en" sz="2100">
                <a:latin typeface="Consolas"/>
                <a:ea typeface="Consolas"/>
                <a:cs typeface="Consolas"/>
                <a:sym typeface="Consolas"/>
              </a:rPr>
              <a:t>class()</a:t>
            </a:r>
            <a:r>
              <a:rPr lang="en" sz="2100"/>
              <a:t> with these higher data types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/>
              <a:t>Try this and see what class the avonet data you loaded earlier is</a:t>
            </a:r>
            <a:endParaRPr sz="2100"/>
          </a:p>
        </p:txBody>
      </p:sp>
      <p:sp>
        <p:nvSpPr>
          <p:cNvPr id="304" name="Google Shape;30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Accessing data within an object</a:t>
            </a:r>
            <a:endParaRPr b="1"/>
          </a:p>
        </p:txBody>
      </p:sp>
      <p:sp>
        <p:nvSpPr>
          <p:cNvPr id="310" name="Google Shape;310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a vector or a list, you can access elements by their </a:t>
            </a:r>
            <a:r>
              <a:rPr b="1" lang="en"/>
              <a:t>position</a:t>
            </a:r>
            <a:r>
              <a:rPr lang="en"/>
              <a:t>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test_vector &lt;- c("Optimus Prime","Megatron")      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test_vector[[1]]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est_vector[1]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1" name="Google Shape;311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Accessing data within an object</a:t>
            </a:r>
            <a:endParaRPr b="1"/>
          </a:p>
        </p:txBody>
      </p:sp>
      <p:sp>
        <p:nvSpPr>
          <p:cNvPr id="317" name="Google Shape;317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For a vector or a list, you can access elements by their </a:t>
            </a:r>
            <a:r>
              <a:rPr b="1" lang="en" sz="2300"/>
              <a:t>name</a:t>
            </a:r>
            <a:r>
              <a:rPr lang="en" sz="2300"/>
              <a:t>:</a:t>
            </a:r>
            <a:endParaRPr sz="2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test_named_vector &lt;- c("A" = "Optimus Prime",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                       "B" = "Megatron")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test_named_vector[["A"]]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test_named_vector["A"]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8" name="Google Shape;318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Accessing data within an object</a:t>
            </a:r>
            <a:endParaRPr b="1"/>
          </a:p>
        </p:txBody>
      </p:sp>
      <p:sp>
        <p:nvSpPr>
          <p:cNvPr id="324" name="Google Shape;324;p51"/>
          <p:cNvSpPr txBox="1"/>
          <p:nvPr>
            <p:ph idx="1" type="body"/>
          </p:nvPr>
        </p:nvSpPr>
        <p:spPr>
          <a:xfrm>
            <a:off x="311700" y="1152475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For a vector or a list, you can access elements by their </a:t>
            </a:r>
            <a:r>
              <a:rPr b="1" lang="en" sz="2300"/>
              <a:t>name</a:t>
            </a:r>
            <a:r>
              <a:rPr lang="en" sz="2300"/>
              <a:t>:</a:t>
            </a:r>
            <a:endParaRPr sz="2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test_named_vector &lt;- c("A" = "Optimus Prime",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                       "B" = "Megatron")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test_named_vector[["A"]]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test_named_vector["A"]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You can find the names with the function 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names()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	names(test_named_vector)</a:t>
            </a:r>
            <a:endParaRPr sz="2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5" name="Google Shape;325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Accessing data within an object</a:t>
            </a:r>
            <a:endParaRPr b="1"/>
          </a:p>
        </p:txBody>
      </p:sp>
      <p:sp>
        <p:nvSpPr>
          <p:cNvPr id="331" name="Google Shape;331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For matrices, data.frames, and arrays there are more options!</a:t>
            </a:r>
            <a:endParaRPr sz="22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Rows (name or number)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Columns </a:t>
            </a:r>
            <a:r>
              <a:rPr lang="en" sz="2200"/>
              <a:t>(name or number)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Row and column </a:t>
            </a:r>
            <a:r>
              <a:rPr lang="en" sz="2200"/>
              <a:t>(name or number)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Same shape, different rules</a:t>
            </a:r>
            <a:endParaRPr b="1"/>
          </a:p>
        </p:txBody>
      </p:sp>
      <p:sp>
        <p:nvSpPr>
          <p:cNvPr id="338" name="Google Shape;338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Dataframes and matrices look similar, but work differently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 frame: names() or colnames()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Matrix: colnames() only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 frame: x$a, x[["a"]], x[,"a"]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Matrix: x[,"a"] only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class(x) tells you which you have</a:t>
            </a:r>
            <a:endParaRPr/>
          </a:p>
        </p:txBody>
      </p:sp>
      <p:sp>
        <p:nvSpPr>
          <p:cNvPr id="339" name="Google Shape;339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Accessing data within an object</a:t>
            </a:r>
            <a:endParaRPr b="1"/>
          </a:p>
        </p:txBody>
      </p:sp>
      <p:sp>
        <p:nvSpPr>
          <p:cNvPr id="345" name="Google Shape;345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use the Avonet data from earlier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To access the species information, we can use:</a:t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vonet$Species1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vonet[1]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avonet[,1]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2000">
                <a:solidFill>
                  <a:srgbClr val="980000"/>
                </a:solidFill>
              </a:rPr>
              <a:t>Try these out!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346" name="Google Shape;346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Accessing data within an object</a:t>
            </a:r>
            <a:endParaRPr b="1"/>
          </a:p>
        </p:txBody>
      </p:sp>
      <p:sp>
        <p:nvSpPr>
          <p:cNvPr id="352" name="Google Shape;352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Let’s use the Avonet data from earlier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	To access the information for a particular row:</a:t>
            </a:r>
            <a:endParaRPr sz="21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avonet[1,]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avonet["1",]</a:t>
            </a:r>
            <a:r>
              <a:rPr lang="en" sz="21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100"/>
              <a:t>(note: only works because the row is named “1”)</a:t>
            </a:r>
            <a:endParaRPr sz="21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980000"/>
                </a:solidFill>
              </a:rPr>
              <a:t>Try these as well</a:t>
            </a:r>
            <a:endParaRPr b="1" sz="2100">
              <a:solidFill>
                <a:srgbClr val="980000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Checking data within the avonet dataset</a:t>
            </a:r>
            <a:endParaRPr b="1"/>
          </a:p>
        </p:txBody>
      </p:sp>
      <p:sp>
        <p:nvSpPr>
          <p:cNvPr id="359" name="Google Shape;359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Use </a:t>
            </a:r>
            <a:r>
              <a:rPr b="1" lang="en" sz="2100">
                <a:latin typeface="Consolas"/>
                <a:ea typeface="Consolas"/>
                <a:cs typeface="Consolas"/>
                <a:sym typeface="Consolas"/>
              </a:rPr>
              <a:t>class()</a:t>
            </a:r>
            <a:r>
              <a:rPr lang="en" sz="2100"/>
              <a:t> to check the data type</a:t>
            </a:r>
            <a:endParaRPr sz="2100"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class(avonet$Species1)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class(avonet[,2])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0" name="Google Shape;360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Checking data with str()</a:t>
            </a:r>
            <a:endParaRPr b="1"/>
          </a:p>
        </p:txBody>
      </p:sp>
      <p:sp>
        <p:nvSpPr>
          <p:cNvPr id="366" name="Google Shape;366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 Can check all the fields using the structure command, </a:t>
            </a:r>
            <a:r>
              <a:rPr b="1" lang="en" sz="2200">
                <a:latin typeface="Consolas"/>
                <a:ea typeface="Consolas"/>
                <a:cs typeface="Consolas"/>
                <a:sym typeface="Consolas"/>
              </a:rPr>
              <a:t>str()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00">
                <a:latin typeface="Consolas"/>
                <a:ea typeface="Consolas"/>
                <a:cs typeface="Consolas"/>
                <a:sym typeface="Consolas"/>
              </a:rPr>
              <a:t>str(avonet)</a:t>
            </a:r>
            <a:endParaRPr b="1" sz="22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980000"/>
                </a:solidFill>
              </a:rPr>
              <a:t>Try it out!</a:t>
            </a:r>
            <a:endParaRPr b="1" sz="22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7" name="Google Shape;367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Checking data with str()</a:t>
            </a:r>
            <a:endParaRPr b="1"/>
          </a:p>
        </p:txBody>
      </p:sp>
      <p:sp>
        <p:nvSpPr>
          <p:cNvPr id="373" name="Google Shape;373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4" name="Google Shape;374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75" name="Google Shape;375;p58"/>
          <p:cNvPicPr preferRelativeResize="0"/>
          <p:nvPr/>
        </p:nvPicPr>
        <p:blipFill rotWithShape="1">
          <a:blip r:embed="rId3">
            <a:alphaModFix/>
          </a:blip>
          <a:srcRect b="0" l="0" r="22439" t="22408"/>
          <a:stretch/>
        </p:blipFill>
        <p:spPr>
          <a:xfrm>
            <a:off x="137875" y="1017725"/>
            <a:ext cx="7331890" cy="412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Other quick ways to check objects</a:t>
            </a:r>
            <a:endParaRPr b="1"/>
          </a:p>
        </p:txBody>
      </p:sp>
      <p:sp>
        <p:nvSpPr>
          <p:cNvPr id="381" name="Google Shape;381;p59"/>
          <p:cNvSpPr txBox="1"/>
          <p:nvPr>
            <p:ph idx="1" type="body"/>
          </p:nvPr>
        </p:nvSpPr>
        <p:spPr>
          <a:xfrm>
            <a:off x="311700" y="1152475"/>
            <a:ext cx="8520600" cy="37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str()</a:t>
            </a:r>
            <a:r>
              <a:rPr lang="en"/>
              <a:t> - gives info on object structure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summary()</a:t>
            </a:r>
            <a:r>
              <a:rPr lang="en"/>
              <a:t>  - provides summary information that varies by column class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head()</a:t>
            </a:r>
            <a:r>
              <a:rPr lang="en"/>
              <a:t> - shows the first few rows of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table()</a:t>
            </a:r>
            <a:r>
              <a:rPr lang="en"/>
              <a:t> - used for categorical variables, shows how often combinations occur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rownames()</a:t>
            </a:r>
            <a:r>
              <a:rPr lang="en"/>
              <a:t> - row names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colnames()</a:t>
            </a:r>
            <a:r>
              <a:rPr lang="en"/>
              <a:t> - column names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Try these out!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382" name="Google Shape;382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if R gets the type wrong?</a:t>
            </a:r>
            <a:endParaRPr b="1"/>
          </a:p>
        </p:txBody>
      </p:sp>
      <p:sp>
        <p:nvSpPr>
          <p:cNvPr id="388" name="Google Shape;388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You can convert between many </a:t>
            </a:r>
            <a:r>
              <a:rPr lang="en" sz="2000"/>
              <a:t>different</a:t>
            </a:r>
            <a:r>
              <a:rPr lang="en" sz="2000"/>
              <a:t> types using “as” commands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as.factor()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as.character()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as.data.frame()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as.matrix()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9" name="Google Shape;389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Dealing with NAs</a:t>
            </a:r>
            <a:endParaRPr b="1"/>
          </a:p>
        </p:txBody>
      </p:sp>
      <p:sp>
        <p:nvSpPr>
          <p:cNvPr id="395" name="Google Shape;395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You can remove any record that contains an NA using </a:t>
            </a: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na.omit()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Some functions have arguments for handling NA values</a:t>
            </a:r>
            <a:endParaRPr sz="19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na.rm in </a:t>
            </a: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mean()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n</a:t>
            </a:r>
            <a:r>
              <a:rPr lang="en" sz="1900"/>
              <a:t>a.action in </a:t>
            </a: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lm()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u</a:t>
            </a:r>
            <a:r>
              <a:rPr lang="en" sz="1900"/>
              <a:t>se in </a:t>
            </a: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cor()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You can turn the NA values into other values (e.g, 0)</a:t>
            </a:r>
            <a:endParaRPr sz="19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Only do this if it makes sense (e.g., number of </a:t>
            </a:r>
            <a:r>
              <a:rPr lang="en" sz="1700"/>
              <a:t>species</a:t>
            </a:r>
            <a:r>
              <a:rPr lang="en" sz="1700"/>
              <a:t> seen in a day)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We’ll discuss how to do this later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Next time:</a:t>
            </a:r>
            <a:endParaRPr b="1"/>
          </a:p>
        </p:txBody>
      </p:sp>
      <p:sp>
        <p:nvSpPr>
          <p:cNvPr id="402" name="Google Shape;402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class: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read 2.4</a:t>
            </a:r>
            <a:r>
              <a:rPr lang="en"/>
              <a:t> - 2.5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During class: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Discuss 2.4 - 2.5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Discuss data we’re interested 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Work through 2.6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