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Inter SemiBold"/>
      <p:regular r:id="rId33"/>
      <p:bold r:id="rId34"/>
      <p:italic r:id="rId35"/>
      <p:boldItalic r:id="rId36"/>
    </p:embeddedFont>
    <p:embeddedFont>
      <p:font typeface="Montserrat"/>
      <p:bold r:id="rId37"/>
      <p:boldItalic r:id="rId38"/>
    </p:embeddedFont>
    <p:embeddedFont>
      <p:font typeface="Inter"/>
      <p:bold r:id="rId39"/>
      <p:boldItalic r:id="rId40"/>
    </p:embeddedFont>
    <p:embeddedFont>
      <p:font typeface="Inter ExtraBold"/>
      <p:bold r:id="rId41"/>
      <p:boldItalic r:id="rId42"/>
    </p:embeddedFont>
    <p:embeddedFont>
      <p:font typeface="Inter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FE8AA7-955E-4A92-90C8-8FBC07ACE3E1}">
  <a:tblStyle styleId="{D4FE8AA7-955E-4A92-90C8-8FBC07ACE3E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20" Type="http://schemas.openxmlformats.org/officeDocument/2006/relationships/slide" Target="slides/slide14.xml"/><Relationship Id="rId42" Type="http://schemas.openxmlformats.org/officeDocument/2006/relationships/font" Target="fonts/InterExtraBold-boldItalic.fntdata"/><Relationship Id="rId41" Type="http://schemas.openxmlformats.org/officeDocument/2006/relationships/font" Target="fonts/InterExtraBold-bold.fntdata"/><Relationship Id="rId22" Type="http://schemas.openxmlformats.org/officeDocument/2006/relationships/slide" Target="slides/slide16.xml"/><Relationship Id="rId44" Type="http://schemas.openxmlformats.org/officeDocument/2006/relationships/font" Target="fonts/InterMedium-bold.fntdata"/><Relationship Id="rId21" Type="http://schemas.openxmlformats.org/officeDocument/2006/relationships/slide" Target="slides/slide15.xml"/><Relationship Id="rId43" Type="http://schemas.openxmlformats.org/officeDocument/2006/relationships/font" Target="fonts/InterMedium-regular.fntdata"/><Relationship Id="rId24" Type="http://schemas.openxmlformats.org/officeDocument/2006/relationships/slide" Target="slides/slide18.xml"/><Relationship Id="rId46" Type="http://schemas.openxmlformats.org/officeDocument/2006/relationships/font" Target="fonts/InterMedium-boldItalic.fntdata"/><Relationship Id="rId23" Type="http://schemas.openxmlformats.org/officeDocument/2006/relationships/slide" Target="slides/slide17.xml"/><Relationship Id="rId45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InterSemiBold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InterSemiBold-italic.fntdata"/><Relationship Id="rId12" Type="http://schemas.openxmlformats.org/officeDocument/2006/relationships/slide" Target="slides/slide6.xml"/><Relationship Id="rId34" Type="http://schemas.openxmlformats.org/officeDocument/2006/relationships/font" Target="fonts/InterSemiBold-bold.fntdata"/><Relationship Id="rId15" Type="http://schemas.openxmlformats.org/officeDocument/2006/relationships/slide" Target="slides/slide9.xml"/><Relationship Id="rId37" Type="http://schemas.openxmlformats.org/officeDocument/2006/relationships/font" Target="fonts/Montserrat-bold.fntdata"/><Relationship Id="rId14" Type="http://schemas.openxmlformats.org/officeDocument/2006/relationships/slide" Target="slides/slide8.xml"/><Relationship Id="rId36" Type="http://schemas.openxmlformats.org/officeDocument/2006/relationships/font" Target="fonts/InterSemi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Inter-bold.fntdata"/><Relationship Id="rId16" Type="http://schemas.openxmlformats.org/officeDocument/2006/relationships/slide" Target="slides/slide10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4c02cc92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4c02cc9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4c02cc92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4c02cc92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4019a4882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4019a4882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4c02cc92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4c02cc92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4c02cc92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4c02cc92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4c02cc92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4c02cc92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4c02cc92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4c02cc92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4c02cc92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4c02cc92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40202e321_12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40202e321_12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4019a488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4019a488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4c02cc92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4c02cc92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4c02cc92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64c02cc92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4c02cc92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4c02cc92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4c02cc92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64c02cc92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84df5010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84df5010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4019a4882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4019a4882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4c02cc92f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64c02cc92f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4c02cc92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4c02cc92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4c02cc92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64c02cc92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4c02cc92f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64c02cc92f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4c02cc92f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64c02cc92f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4c02cc92f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64c02cc92f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4c02cc92f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4c02cc92f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c02cc92f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4c02cc92f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bmaitner@usf.edu" TargetMode="External"/><Relationship Id="rId4" Type="http://schemas.openxmlformats.org/officeDocument/2006/relationships/hyperlink" Target="https://github.com/bmaitner/biometry_cours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Biometry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Introductions,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Syllabus,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need stats,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Reproducibility and Openness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571500" y="428625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Introductions</a:t>
            </a:r>
            <a:endParaRPr b="1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571500" y="1095375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Please take a moment to tell us about yourself:</a:t>
            </a:r>
            <a:endParaRPr b="1" sz="160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14"/>
          <p:cNvGrpSpPr/>
          <p:nvPr/>
        </p:nvGrpSpPr>
        <p:grpSpPr>
          <a:xfrm>
            <a:off x="571500" y="1762125"/>
            <a:ext cx="8001150" cy="2667000"/>
            <a:chOff x="571500" y="1762125"/>
            <a:chExt cx="8001150" cy="2667000"/>
          </a:xfrm>
        </p:grpSpPr>
        <p:sp>
          <p:nvSpPr>
            <p:cNvPr id="63" name="Google Shape;63;p14"/>
            <p:cNvSpPr/>
            <p:nvPr/>
          </p:nvSpPr>
          <p:spPr>
            <a:xfrm>
              <a:off x="571500" y="1762125"/>
              <a:ext cx="2571900" cy="2667000"/>
            </a:xfrm>
            <a:prstGeom prst="roundRect">
              <a:avLst>
                <a:gd fmla="val 592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286125" y="1762125"/>
              <a:ext cx="2571900" cy="2667000"/>
            </a:xfrm>
            <a:prstGeom prst="roundRect">
              <a:avLst>
                <a:gd fmla="val 592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6000750" y="1762125"/>
              <a:ext cx="2571900" cy="2667000"/>
            </a:xfrm>
            <a:prstGeom prst="roundRect">
              <a:avLst>
                <a:gd fmla="val 592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571500" y="1762125"/>
              <a:ext cx="2571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800" lIns="228600" spcFirstLastPara="1" rIns="228600" wrap="square" tIns="30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9800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0" sz="2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Your Name</a:t>
              </a:r>
              <a:endParaRPr b="1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Introduce yourself to the class, including what you prefer to be called and your pronouns if you'd like to share.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3286125" y="1762125"/>
              <a:ext cx="2571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800" lIns="228600" spcFirstLastPara="1" rIns="228600" wrap="square" tIns="30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9800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0" sz="2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Research</a:t>
              </a:r>
              <a:endParaRPr b="1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Describe your current research interests, what systems or questions you study, or what you hope to work on.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6000750" y="1762125"/>
              <a:ext cx="2571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800" lIns="228600" spcFirstLastPara="1" rIns="228600" wrap="square" tIns="30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9800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0" sz="2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Fun Fact</a:t>
              </a:r>
              <a:endParaRPr b="1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Tell us something interesting or unique about yourself—hobbies, favorite travel spots, pets, or hidden talents!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Syllabus: basic stuff</a:t>
            </a:r>
            <a:endParaRPr b="1"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Meeting Days: T, Th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Meeting Time: 2:00 – 3:50 pm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Meeting Location: DAV 265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Instructor: Dr. Brian Maitner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Office Location: DAV 226  (but I’m usually in URL 106, because it’s warmer)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Office Hours: TBD - ?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lang="en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bmaitner@usf.edu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 to date syllabus: </a:t>
            </a:r>
            <a:r>
              <a:rPr lang="en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https://github.com/bmaitner/biometry_course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Course Github page</a:t>
            </a:r>
            <a:endParaRPr b="1"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27066" t="16771"/>
          <a:stretch/>
        </p:blipFill>
        <p:spPr>
          <a:xfrm>
            <a:off x="55850" y="960675"/>
            <a:ext cx="5671325" cy="364042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5851375" y="1126150"/>
            <a:ext cx="330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072000" y="988250"/>
            <a:ext cx="2937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Full of useful stuff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Syllabus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Lectures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Previous quizzes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Flipped course: read before class, work during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Assignments will focus on data of your choosing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1082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Syllabus: Course structure</a:t>
            </a:r>
            <a:endParaRPr b="1"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7000" y="123125"/>
            <a:ext cx="2288550" cy="323747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6087875" y="3544850"/>
            <a:ext cx="290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Digital</a:t>
            </a:r>
            <a:r>
              <a:rPr lang="en" sz="1800">
                <a:solidFill>
                  <a:schemeClr val="dk2"/>
                </a:solidFill>
              </a:rPr>
              <a:t> copies available through the library for free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91" name="Google Shape;91;p17"/>
          <p:cNvGraphicFramePr/>
          <p:nvPr/>
        </p:nvGraphicFramePr>
        <p:xfrm>
          <a:off x="311700" y="215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{D4FE8AA7-955E-4A92-90C8-8FBC07ACE3E1}</a:tableStyleId>
              </a:tblPr>
              <a:tblGrid>
                <a:gridCol w="3417850"/>
                <a:gridCol w="18672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Graded Item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Percent of Final Grade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In-class participation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In-class quizzes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Assignments (4x)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Midterm (take-home)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Final (presentation + take-home)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476250" y="476250"/>
            <a:ext cx="8191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Course Expectations</a:t>
            </a:r>
            <a:endParaRPr b="1" sz="3200">
              <a:solidFill>
                <a:srgbClr val="1E29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7" name="Google Shape;97;p18"/>
          <p:cNvGrpSpPr/>
          <p:nvPr/>
        </p:nvGrpSpPr>
        <p:grpSpPr>
          <a:xfrm>
            <a:off x="476250" y="1428750"/>
            <a:ext cx="3905400" cy="2857500"/>
            <a:chOff x="0" y="0"/>
            <a:chExt cx="3905400" cy="2857500"/>
          </a:xfrm>
        </p:grpSpPr>
        <p:sp>
          <p:nvSpPr>
            <p:cNvPr id="98" name="Google Shape;98;p18"/>
            <p:cNvSpPr/>
            <p:nvPr/>
          </p:nvSpPr>
          <p:spPr>
            <a:xfrm>
              <a:off x="0" y="0"/>
              <a:ext cx="3905400" cy="28575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" name="Google Shape;99;p18"/>
            <p:cNvGrpSpPr/>
            <p:nvPr/>
          </p:nvGrpSpPr>
          <p:grpSpPr>
            <a:xfrm>
              <a:off x="285750" y="338328"/>
              <a:ext cx="3333900" cy="2233272"/>
              <a:chOff x="0" y="52578"/>
              <a:chExt cx="3333900" cy="2233272"/>
            </a:xfrm>
          </p:grpSpPr>
          <p:sp>
            <p:nvSpPr>
              <p:cNvPr id="100" name="Google Shape;100;p18"/>
              <p:cNvSpPr txBox="1"/>
              <p:nvPr/>
            </p:nvSpPr>
            <p:spPr>
              <a:xfrm>
                <a:off x="0" y="52578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6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forum</a:t>
                </a:r>
                <a:endParaRPr sz="36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01" name="Google Shape;101;p18"/>
              <p:cNvSpPr txBox="1"/>
              <p:nvPr/>
            </p:nvSpPr>
            <p:spPr>
              <a:xfrm>
                <a:off x="0" y="666750"/>
                <a:ext cx="33339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Participate!</a:t>
                </a:r>
                <a:endParaRPr b="1" sz="2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Ask questions. Share ideas, experiences, and knowledge!</a:t>
                </a:r>
                <a:endParaRPr b="0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2" name="Google Shape;102;p18"/>
          <p:cNvGrpSpPr/>
          <p:nvPr/>
        </p:nvGrpSpPr>
        <p:grpSpPr>
          <a:xfrm>
            <a:off x="4762500" y="1428750"/>
            <a:ext cx="3905400" cy="2857500"/>
            <a:chOff x="0" y="0"/>
            <a:chExt cx="3905400" cy="2857500"/>
          </a:xfrm>
        </p:grpSpPr>
        <p:sp>
          <p:nvSpPr>
            <p:cNvPr id="103" name="Google Shape;103;p18"/>
            <p:cNvSpPr/>
            <p:nvPr/>
          </p:nvSpPr>
          <p:spPr>
            <a:xfrm>
              <a:off x="0" y="0"/>
              <a:ext cx="3905400" cy="28575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" name="Google Shape;104;p18"/>
            <p:cNvGrpSpPr/>
            <p:nvPr/>
          </p:nvGrpSpPr>
          <p:grpSpPr>
            <a:xfrm>
              <a:off x="285750" y="338328"/>
              <a:ext cx="3333900" cy="2233272"/>
              <a:chOff x="0" y="52578"/>
              <a:chExt cx="3333900" cy="2233272"/>
            </a:xfrm>
          </p:grpSpPr>
          <p:sp>
            <p:nvSpPr>
              <p:cNvPr id="105" name="Google Shape;105;p18"/>
              <p:cNvSpPr txBox="1"/>
              <p:nvPr/>
            </p:nvSpPr>
            <p:spPr>
              <a:xfrm>
                <a:off x="0" y="52578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600">
                    <a:solidFill>
                      <a:srgbClr val="10B98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sentiment_satisfied</a:t>
                </a:r>
                <a:endParaRPr sz="36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06" name="Google Shape;106;p18"/>
              <p:cNvSpPr txBox="1"/>
              <p:nvPr/>
            </p:nvSpPr>
            <p:spPr>
              <a:xfrm>
                <a:off x="0" y="666750"/>
                <a:ext cx="33339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Be Respectful.</a:t>
                </a:r>
                <a:endParaRPr b="1" sz="2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Create a welcoming environment for everyone to learn, collaborate, and grow together.</a:t>
                </a:r>
                <a:endParaRPr b="0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/>
        </p:nvSpPr>
        <p:spPr>
          <a:xfrm>
            <a:off x="476250" y="476250"/>
            <a:ext cx="8191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 sz="3200">
              <a:solidFill>
                <a:srgbClr val="1E29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2" name="Google Shape;112;p19"/>
          <p:cNvGrpSpPr/>
          <p:nvPr/>
        </p:nvGrpSpPr>
        <p:grpSpPr>
          <a:xfrm>
            <a:off x="476250" y="1428750"/>
            <a:ext cx="1485900" cy="2667000"/>
            <a:chOff x="0" y="0"/>
            <a:chExt cx="1485900" cy="2667000"/>
          </a:xfrm>
        </p:grpSpPr>
        <p:sp>
          <p:nvSpPr>
            <p:cNvPr id="113" name="Google Shape;113;p19"/>
            <p:cNvSpPr/>
            <p:nvPr/>
          </p:nvSpPr>
          <p:spPr>
            <a:xfrm>
              <a:off x="0" y="0"/>
              <a:ext cx="1485900" cy="2667000"/>
            </a:xfrm>
            <a:prstGeom prst="roundRect">
              <a:avLst>
                <a:gd fmla="val 7692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9"/>
            <p:cNvSpPr txBox="1"/>
            <p:nvPr/>
          </p:nvSpPr>
          <p:spPr>
            <a:xfrm>
              <a:off x="0" y="0"/>
              <a:ext cx="1485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Read the syllabus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" name="Google Shape;115;p19"/>
          <p:cNvGrpSpPr/>
          <p:nvPr/>
        </p:nvGrpSpPr>
        <p:grpSpPr>
          <a:xfrm>
            <a:off x="2152650" y="1428750"/>
            <a:ext cx="1485900" cy="2667000"/>
            <a:chOff x="0" y="0"/>
            <a:chExt cx="1485900" cy="2667000"/>
          </a:xfrm>
        </p:grpSpPr>
        <p:sp>
          <p:nvSpPr>
            <p:cNvPr id="116" name="Google Shape;116;p19"/>
            <p:cNvSpPr/>
            <p:nvPr/>
          </p:nvSpPr>
          <p:spPr>
            <a:xfrm>
              <a:off x="0" y="0"/>
              <a:ext cx="1485900" cy="2667000"/>
            </a:xfrm>
            <a:prstGeom prst="roundRect">
              <a:avLst>
                <a:gd fmla="val 7692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9"/>
            <p:cNvSpPr txBox="1"/>
            <p:nvPr/>
          </p:nvSpPr>
          <p:spPr>
            <a:xfrm>
              <a:off x="0" y="0"/>
              <a:ext cx="1485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menu_book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Read the book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" name="Google Shape;118;p19"/>
          <p:cNvGrpSpPr/>
          <p:nvPr/>
        </p:nvGrpSpPr>
        <p:grpSpPr>
          <a:xfrm>
            <a:off x="3829050" y="1428750"/>
            <a:ext cx="1485900" cy="2667000"/>
            <a:chOff x="0" y="0"/>
            <a:chExt cx="1485900" cy="2667000"/>
          </a:xfrm>
        </p:grpSpPr>
        <p:sp>
          <p:nvSpPr>
            <p:cNvPr id="119" name="Google Shape;119;p19"/>
            <p:cNvSpPr/>
            <p:nvPr/>
          </p:nvSpPr>
          <p:spPr>
            <a:xfrm>
              <a:off x="0" y="0"/>
              <a:ext cx="1485900" cy="2667000"/>
            </a:xfrm>
            <a:prstGeom prst="roundRect">
              <a:avLst>
                <a:gd fmla="val 7692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9"/>
            <p:cNvSpPr txBox="1"/>
            <p:nvPr/>
          </p:nvSpPr>
          <p:spPr>
            <a:xfrm>
              <a:off x="0" y="0"/>
              <a:ext cx="1485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edit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Take notes on paper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" name="Google Shape;121;p19"/>
          <p:cNvGrpSpPr/>
          <p:nvPr/>
        </p:nvGrpSpPr>
        <p:grpSpPr>
          <a:xfrm>
            <a:off x="5505450" y="1428750"/>
            <a:ext cx="1485900" cy="2667000"/>
            <a:chOff x="0" y="0"/>
            <a:chExt cx="1485900" cy="2667000"/>
          </a:xfrm>
        </p:grpSpPr>
        <p:sp>
          <p:nvSpPr>
            <p:cNvPr id="122" name="Google Shape;122;p19"/>
            <p:cNvSpPr/>
            <p:nvPr/>
          </p:nvSpPr>
          <p:spPr>
            <a:xfrm>
              <a:off x="0" y="0"/>
              <a:ext cx="1485900" cy="2667000"/>
            </a:xfrm>
            <a:prstGeom prst="roundRect">
              <a:avLst>
                <a:gd fmla="val 7692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 txBox="1"/>
            <p:nvPr/>
          </p:nvSpPr>
          <p:spPr>
            <a:xfrm>
              <a:off x="0" y="0"/>
              <a:ext cx="1485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event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Plan ahead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" name="Google Shape;124;p19"/>
          <p:cNvGrpSpPr/>
          <p:nvPr/>
        </p:nvGrpSpPr>
        <p:grpSpPr>
          <a:xfrm>
            <a:off x="7181850" y="1428750"/>
            <a:ext cx="1485900" cy="2667000"/>
            <a:chOff x="0" y="0"/>
            <a:chExt cx="1485900" cy="2667000"/>
          </a:xfrm>
        </p:grpSpPr>
        <p:sp>
          <p:nvSpPr>
            <p:cNvPr id="125" name="Google Shape;125;p19"/>
            <p:cNvSpPr/>
            <p:nvPr/>
          </p:nvSpPr>
          <p:spPr>
            <a:xfrm>
              <a:off x="0" y="0"/>
              <a:ext cx="1485900" cy="2667000"/>
            </a:xfrm>
            <a:prstGeom prst="roundRect">
              <a:avLst>
                <a:gd fmla="val 7692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9"/>
            <p:cNvSpPr txBox="1"/>
            <p:nvPr/>
          </p:nvSpPr>
          <p:spPr>
            <a:xfrm>
              <a:off x="0" y="0"/>
              <a:ext cx="1485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laptop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Bring a laptop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Questions so far?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62000" y="476250"/>
            <a:ext cx="7620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What will you get out of this class?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 general:</a:t>
            </a:r>
            <a:endParaRPr b="0" sz="16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7" name="Google Shape;137;p21"/>
          <p:cNvGrpSpPr/>
          <p:nvPr/>
        </p:nvGrpSpPr>
        <p:grpSpPr>
          <a:xfrm>
            <a:off x="762000" y="1714500"/>
            <a:ext cx="3619500" cy="2476500"/>
            <a:chOff x="0" y="0"/>
            <a:chExt cx="3619500" cy="2476500"/>
          </a:xfrm>
        </p:grpSpPr>
        <p:sp>
          <p:nvSpPr>
            <p:cNvPr id="138" name="Google Shape;138;p21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1"/>
            <p:cNvSpPr txBox="1"/>
            <p:nvPr/>
          </p:nvSpPr>
          <p:spPr>
            <a:xfrm>
              <a:off x="0" y="0"/>
              <a:ext cx="3619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Practical Application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Ability to do common analyses and visualizations</a:t>
              </a:r>
              <a:endParaRPr b="0" sz="16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40" name="Google Shape;140;p21"/>
          <p:cNvGrpSpPr/>
          <p:nvPr/>
        </p:nvGrpSpPr>
        <p:grpSpPr>
          <a:xfrm>
            <a:off x="4762500" y="1714500"/>
            <a:ext cx="3619500" cy="2476500"/>
            <a:chOff x="0" y="0"/>
            <a:chExt cx="3619500" cy="2476500"/>
          </a:xfrm>
        </p:grpSpPr>
        <p:sp>
          <p:nvSpPr>
            <p:cNvPr id="141" name="Google Shape;141;p21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 txBox="1"/>
            <p:nvPr/>
          </p:nvSpPr>
          <p:spPr>
            <a:xfrm>
              <a:off x="0" y="0"/>
              <a:ext cx="3619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Future Growth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Ability to go further on your own</a:t>
              </a:r>
              <a:endParaRPr b="0" sz="16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22"/>
          <p:cNvGrpSpPr/>
          <p:nvPr/>
        </p:nvGrpSpPr>
        <p:grpSpPr>
          <a:xfrm>
            <a:off x="571500" y="476250"/>
            <a:ext cx="8001000" cy="1047900"/>
            <a:chOff x="0" y="0"/>
            <a:chExt cx="8001000" cy="1047900"/>
          </a:xfrm>
        </p:grpSpPr>
        <p:sp>
          <p:nvSpPr>
            <p:cNvPr id="148" name="Google Shape;148;p22"/>
            <p:cNvSpPr/>
            <p:nvPr/>
          </p:nvSpPr>
          <p:spPr>
            <a:xfrm>
              <a:off x="0" y="0"/>
              <a:ext cx="80010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2"/>
            <p:cNvSpPr txBox="1"/>
            <p:nvPr/>
          </p:nvSpPr>
          <p:spPr>
            <a:xfrm>
              <a:off x="0" y="0"/>
              <a:ext cx="800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3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What will you get out of this class?</a:t>
              </a:r>
              <a:endParaRPr b="0" i="0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" sz="16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More specifically:</a:t>
              </a:r>
              <a:endParaRPr b="0" i="0" sz="16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0" name="Google Shape;150;p22"/>
          <p:cNvGrpSpPr/>
          <p:nvPr/>
        </p:nvGrpSpPr>
        <p:grpSpPr>
          <a:xfrm>
            <a:off x="571500" y="1714500"/>
            <a:ext cx="2476500" cy="2762400"/>
            <a:chOff x="0" y="0"/>
            <a:chExt cx="2476500" cy="2762400"/>
          </a:xfrm>
        </p:grpSpPr>
        <p:sp>
          <p:nvSpPr>
            <p:cNvPr id="151" name="Google Shape;151;p22"/>
            <p:cNvSpPr/>
            <p:nvPr/>
          </p:nvSpPr>
          <p:spPr>
            <a:xfrm>
              <a:off x="0" y="0"/>
              <a:ext cx="2476500" cy="2762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2"/>
            <p:cNvSpPr/>
            <p:nvPr/>
          </p:nvSpPr>
          <p:spPr>
            <a:xfrm>
              <a:off x="228600" y="22860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2"/>
            <p:cNvSpPr txBox="1"/>
            <p:nvPr/>
          </p:nvSpPr>
          <p:spPr>
            <a:xfrm>
              <a:off x="0" y="0"/>
              <a:ext cx="2476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228600" spcFirstLastPara="1" rIns="190500" wrap="square" tIns="381000">
              <a:noAutofit/>
            </a:bodyPr>
            <a:lstStyle/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DATA &amp; VISUALIZATION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Load data into R &amp; perform common data-wrangling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Create plots using base R &amp; ggplot2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4" name="Google Shape;154;p22"/>
          <p:cNvGrpSpPr/>
          <p:nvPr/>
        </p:nvGrpSpPr>
        <p:grpSpPr>
          <a:xfrm>
            <a:off x="3333750" y="1714500"/>
            <a:ext cx="2476500" cy="2762400"/>
            <a:chOff x="0" y="0"/>
            <a:chExt cx="2476500" cy="2762400"/>
          </a:xfrm>
        </p:grpSpPr>
        <p:sp>
          <p:nvSpPr>
            <p:cNvPr id="155" name="Google Shape;155;p22"/>
            <p:cNvSpPr/>
            <p:nvPr/>
          </p:nvSpPr>
          <p:spPr>
            <a:xfrm>
              <a:off x="0" y="0"/>
              <a:ext cx="2476500" cy="2762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2"/>
            <p:cNvSpPr/>
            <p:nvPr/>
          </p:nvSpPr>
          <p:spPr>
            <a:xfrm>
              <a:off x="228600" y="22860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2"/>
            <p:cNvSpPr txBox="1"/>
            <p:nvPr/>
          </p:nvSpPr>
          <p:spPr>
            <a:xfrm>
              <a:off x="0" y="0"/>
              <a:ext cx="2476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228600" spcFirstLastPara="1" rIns="190500" wrap="square" tIns="381000">
              <a:noAutofit/>
            </a:bodyPr>
            <a:lstStyle/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STATS &amp; ANALYSIS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Understand key statistical distributions and applications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Select correct analyses for ecological datasets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8" name="Google Shape;158;p22"/>
          <p:cNvGrpSpPr/>
          <p:nvPr/>
        </p:nvGrpSpPr>
        <p:grpSpPr>
          <a:xfrm>
            <a:off x="6096000" y="1714500"/>
            <a:ext cx="2476500" cy="2762400"/>
            <a:chOff x="0" y="0"/>
            <a:chExt cx="2476500" cy="2762400"/>
          </a:xfrm>
        </p:grpSpPr>
        <p:sp>
          <p:nvSpPr>
            <p:cNvPr id="159" name="Google Shape;159;p22"/>
            <p:cNvSpPr/>
            <p:nvPr/>
          </p:nvSpPr>
          <p:spPr>
            <a:xfrm>
              <a:off x="0" y="0"/>
              <a:ext cx="2476500" cy="2762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2"/>
            <p:cNvSpPr/>
            <p:nvPr/>
          </p:nvSpPr>
          <p:spPr>
            <a:xfrm>
              <a:off x="228600" y="22860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2"/>
            <p:cNvSpPr txBox="1"/>
            <p:nvPr/>
          </p:nvSpPr>
          <p:spPr>
            <a:xfrm>
              <a:off x="0" y="0"/>
              <a:ext cx="2476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228600" spcFirstLastPara="1" rIns="190500" wrap="square" tIns="381000">
              <a:noAutofit/>
            </a:bodyPr>
            <a:lstStyle/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PROBLEM SOLVING</a:t>
              </a:r>
              <a:endParaRPr b="1" sz="1018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2022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6"/>
                <a:buFont typeface="Inter"/>
                <a:buChar char="●"/>
              </a:pPr>
              <a:r>
                <a:rPr b="0" lang="en" sz="1156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Troubleshoot &amp; debug R code effectively</a:t>
              </a:r>
              <a:endParaRPr b="0" sz="1156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2022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6"/>
                <a:buFont typeface="Inter"/>
                <a:buChar char="●"/>
              </a:pPr>
              <a:r>
                <a:rPr b="0" lang="en" sz="1156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Approach novel coding challenges with confidence</a:t>
              </a:r>
              <a:endParaRPr b="0" sz="1156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2022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156"/>
                <a:buFont typeface="Inter"/>
                <a:buChar char="●"/>
              </a:pPr>
              <a:r>
                <a:rPr b="0" lang="en" sz="1156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Apply new programming skills directly to your own work</a:t>
              </a:r>
              <a:endParaRPr b="0" sz="1156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/>
        </p:nvSpPr>
        <p:spPr>
          <a:xfrm>
            <a:off x="571500" y="476250"/>
            <a:ext cx="8001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Learning Stats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People learn differently and stats can be non-intuitive</a:t>
            </a:r>
            <a:endParaRPr b="0" sz="16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7" name="Google Shape;167;p23"/>
          <p:cNvGrpSpPr/>
          <p:nvPr/>
        </p:nvGrpSpPr>
        <p:grpSpPr>
          <a:xfrm>
            <a:off x="571500" y="1714500"/>
            <a:ext cx="2476500" cy="2667000"/>
            <a:chOff x="0" y="0"/>
            <a:chExt cx="2476500" cy="2667000"/>
          </a:xfrm>
        </p:grpSpPr>
        <p:sp>
          <p:nvSpPr>
            <p:cNvPr id="168" name="Google Shape;168;p23"/>
            <p:cNvSpPr/>
            <p:nvPr/>
          </p:nvSpPr>
          <p:spPr>
            <a:xfrm>
              <a:off x="0" y="0"/>
              <a:ext cx="2476500" cy="2667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3"/>
            <p:cNvSpPr/>
            <p:nvPr/>
          </p:nvSpPr>
          <p:spPr>
            <a:xfrm>
              <a:off x="228600" y="22860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3"/>
            <p:cNvSpPr txBox="1"/>
            <p:nvPr/>
          </p:nvSpPr>
          <p:spPr>
            <a:xfrm>
              <a:off x="0" y="0"/>
              <a:ext cx="2476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THE BOOK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Exposes you to verbal and mathematical descriptions of key statistical concepts.</a:t>
              </a:r>
              <a:endParaRPr b="0" sz="1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1" name="Google Shape;171;p23"/>
          <p:cNvGrpSpPr/>
          <p:nvPr/>
        </p:nvGrpSpPr>
        <p:grpSpPr>
          <a:xfrm>
            <a:off x="3333750" y="1714500"/>
            <a:ext cx="2476500" cy="2667000"/>
            <a:chOff x="0" y="0"/>
            <a:chExt cx="2476500" cy="2667000"/>
          </a:xfrm>
        </p:grpSpPr>
        <p:sp>
          <p:nvSpPr>
            <p:cNvPr id="172" name="Google Shape;172;p23"/>
            <p:cNvSpPr/>
            <p:nvPr/>
          </p:nvSpPr>
          <p:spPr>
            <a:xfrm>
              <a:off x="0" y="0"/>
              <a:ext cx="2476500" cy="2667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3"/>
            <p:cNvSpPr/>
            <p:nvPr/>
          </p:nvSpPr>
          <p:spPr>
            <a:xfrm>
              <a:off x="228600" y="22860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3"/>
            <p:cNvSpPr txBox="1"/>
            <p:nvPr/>
          </p:nvSpPr>
          <p:spPr>
            <a:xfrm>
              <a:off x="0" y="0"/>
              <a:ext cx="2476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IN CLASS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Hands-on coding and interactive visualizations help build intuitive understanding.</a:t>
              </a:r>
              <a:endParaRPr b="0" sz="1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5" name="Google Shape;175;p23"/>
          <p:cNvGrpSpPr/>
          <p:nvPr/>
        </p:nvGrpSpPr>
        <p:grpSpPr>
          <a:xfrm>
            <a:off x="6096000" y="1714500"/>
            <a:ext cx="2476500" cy="2667000"/>
            <a:chOff x="0" y="0"/>
            <a:chExt cx="2476500" cy="2667000"/>
          </a:xfrm>
        </p:grpSpPr>
        <p:sp>
          <p:nvSpPr>
            <p:cNvPr id="176" name="Google Shape;176;p23"/>
            <p:cNvSpPr/>
            <p:nvPr/>
          </p:nvSpPr>
          <p:spPr>
            <a:xfrm>
              <a:off x="0" y="0"/>
              <a:ext cx="2476500" cy="2667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3"/>
            <p:cNvSpPr/>
            <p:nvPr/>
          </p:nvSpPr>
          <p:spPr>
            <a:xfrm>
              <a:off x="228600" y="22860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3"/>
            <p:cNvSpPr txBox="1"/>
            <p:nvPr/>
          </p:nvSpPr>
          <p:spPr>
            <a:xfrm>
              <a:off x="0" y="0"/>
              <a:ext cx="2476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THE GOAL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Providing multiple teaching methods ensures that at least one appeals to everyone.</a:t>
              </a:r>
              <a:endParaRPr b="0" sz="1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4"/>
          <p:cNvGrpSpPr/>
          <p:nvPr/>
        </p:nvGrpSpPr>
        <p:grpSpPr>
          <a:xfrm>
            <a:off x="571500" y="476250"/>
            <a:ext cx="8001000" cy="762000"/>
            <a:chOff x="0" y="0"/>
            <a:chExt cx="8001000" cy="762000"/>
          </a:xfrm>
        </p:grpSpPr>
        <p:sp>
          <p:nvSpPr>
            <p:cNvPr id="184" name="Google Shape;184;p24"/>
            <p:cNvSpPr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4"/>
            <p:cNvSpPr txBox="1"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Learning Stats</a:t>
              </a:r>
              <a:endParaRPr b="0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86" name="Google Shape;186;p24"/>
          <p:cNvGrpSpPr/>
          <p:nvPr/>
        </p:nvGrpSpPr>
        <p:grpSpPr>
          <a:xfrm>
            <a:off x="571500" y="1524000"/>
            <a:ext cx="3714900" cy="2667000"/>
            <a:chOff x="0" y="0"/>
            <a:chExt cx="3714900" cy="2667000"/>
          </a:xfrm>
        </p:grpSpPr>
        <p:sp>
          <p:nvSpPr>
            <p:cNvPr id="187" name="Google Shape;187;p24"/>
            <p:cNvSpPr/>
            <p:nvPr/>
          </p:nvSpPr>
          <p:spPr>
            <a:xfrm>
              <a:off x="0" y="0"/>
              <a:ext cx="3714900" cy="26670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4"/>
            <p:cNvSpPr/>
            <p:nvPr/>
          </p:nvSpPr>
          <p:spPr>
            <a:xfrm>
              <a:off x="228600" y="22860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4"/>
            <p:cNvSpPr txBox="1"/>
            <p:nvPr/>
          </p:nvSpPr>
          <p:spPr>
            <a:xfrm>
              <a:off x="0" y="0"/>
              <a:ext cx="3714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800" lIns="304800" spcFirstLastPara="1" rIns="3048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What to Avoid</a:t>
              </a:r>
              <a:endParaRPr b="1" sz="11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Don’t focus on memorization</a:t>
              </a:r>
              <a:endParaRPr b="0" sz="20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90" name="Google Shape;190;p24"/>
          <p:cNvGrpSpPr/>
          <p:nvPr/>
        </p:nvGrpSpPr>
        <p:grpSpPr>
          <a:xfrm>
            <a:off x="4857750" y="1524000"/>
            <a:ext cx="3714900" cy="2667000"/>
            <a:chOff x="0" y="0"/>
            <a:chExt cx="3714900" cy="2667000"/>
          </a:xfrm>
        </p:grpSpPr>
        <p:sp>
          <p:nvSpPr>
            <p:cNvPr id="191" name="Google Shape;191;p24"/>
            <p:cNvSpPr/>
            <p:nvPr/>
          </p:nvSpPr>
          <p:spPr>
            <a:xfrm>
              <a:off x="0" y="0"/>
              <a:ext cx="3714900" cy="26670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4"/>
            <p:cNvSpPr/>
            <p:nvPr/>
          </p:nvSpPr>
          <p:spPr>
            <a:xfrm>
              <a:off x="228600" y="22860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4"/>
            <p:cNvSpPr txBox="1"/>
            <p:nvPr/>
          </p:nvSpPr>
          <p:spPr>
            <a:xfrm>
              <a:off x="0" y="0"/>
              <a:ext cx="3714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800" lIns="304800" spcFirstLastPara="1" rIns="3048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What to Focus On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DO focus on practice and understanding</a:t>
              </a:r>
              <a:endParaRPr b="0" sz="20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/>
        </p:nvSpPr>
        <p:spPr>
          <a:xfrm>
            <a:off x="571500" y="476250"/>
            <a:ext cx="8001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 Note on AI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Establishing core fundamentals before leveraging artificial intelligence</a:t>
            </a:r>
            <a:endParaRPr b="0" sz="16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9" name="Google Shape;199;p25"/>
          <p:cNvGrpSpPr/>
          <p:nvPr/>
        </p:nvGrpSpPr>
        <p:grpSpPr>
          <a:xfrm>
            <a:off x="571500" y="1714500"/>
            <a:ext cx="2476500" cy="2667000"/>
            <a:chOff x="0" y="0"/>
            <a:chExt cx="2476500" cy="2667000"/>
          </a:xfrm>
        </p:grpSpPr>
        <p:sp>
          <p:nvSpPr>
            <p:cNvPr id="200" name="Google Shape;200;p25"/>
            <p:cNvSpPr/>
            <p:nvPr/>
          </p:nvSpPr>
          <p:spPr>
            <a:xfrm>
              <a:off x="0" y="0"/>
              <a:ext cx="2476500" cy="2667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5"/>
            <p:cNvSpPr/>
            <p:nvPr/>
          </p:nvSpPr>
          <p:spPr>
            <a:xfrm>
              <a:off x="228600" y="22860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5"/>
            <p:cNvSpPr txBox="1"/>
            <p:nvPr/>
          </p:nvSpPr>
          <p:spPr>
            <a:xfrm>
              <a:off x="0" y="0"/>
              <a:ext cx="2476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TIMING</a:t>
              </a:r>
              <a:endParaRPr b="1" sz="11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We’ll cover AI later in the semester, once the foundations are established.</a:t>
              </a:r>
              <a:endParaRPr b="0" sz="1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3" name="Google Shape;203;p25"/>
          <p:cNvGrpSpPr/>
          <p:nvPr/>
        </p:nvGrpSpPr>
        <p:grpSpPr>
          <a:xfrm>
            <a:off x="3333750" y="1714500"/>
            <a:ext cx="2476500" cy="2667000"/>
            <a:chOff x="0" y="0"/>
            <a:chExt cx="2476500" cy="2667000"/>
          </a:xfrm>
        </p:grpSpPr>
        <p:sp>
          <p:nvSpPr>
            <p:cNvPr id="204" name="Google Shape;204;p25"/>
            <p:cNvSpPr/>
            <p:nvPr/>
          </p:nvSpPr>
          <p:spPr>
            <a:xfrm>
              <a:off x="0" y="0"/>
              <a:ext cx="2476500" cy="2667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228600" y="22860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5"/>
            <p:cNvSpPr txBox="1"/>
            <p:nvPr/>
          </p:nvSpPr>
          <p:spPr>
            <a:xfrm>
              <a:off x="0" y="0"/>
              <a:ext cx="2476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APPROACH</a:t>
              </a:r>
              <a:endParaRPr b="1" sz="11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Strongly recommend that you start out without it to truly grasp the mechanics.</a:t>
              </a:r>
              <a:endParaRPr b="0" sz="1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7" name="Google Shape;207;p25"/>
          <p:cNvGrpSpPr/>
          <p:nvPr/>
        </p:nvGrpSpPr>
        <p:grpSpPr>
          <a:xfrm>
            <a:off x="6096000" y="1714500"/>
            <a:ext cx="2476500" cy="2667000"/>
            <a:chOff x="0" y="0"/>
            <a:chExt cx="2476500" cy="2667000"/>
          </a:xfrm>
        </p:grpSpPr>
        <p:sp>
          <p:nvSpPr>
            <p:cNvPr id="208" name="Google Shape;208;p25"/>
            <p:cNvSpPr/>
            <p:nvPr/>
          </p:nvSpPr>
          <p:spPr>
            <a:xfrm>
              <a:off x="0" y="0"/>
              <a:ext cx="2476500" cy="2667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5"/>
            <p:cNvSpPr/>
            <p:nvPr/>
          </p:nvSpPr>
          <p:spPr>
            <a:xfrm>
              <a:off x="228600" y="22860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5"/>
            <p:cNvSpPr txBox="1"/>
            <p:nvPr/>
          </p:nvSpPr>
          <p:spPr>
            <a:xfrm>
              <a:off x="0" y="0"/>
              <a:ext cx="2476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REQUIREMENT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You need reasonable fundamentals to be able to effectively and safely use AI.</a:t>
              </a:r>
              <a:endParaRPr b="0" sz="1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Questions so far?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Why do we need statistics?</a:t>
            </a:r>
            <a:endParaRPr b="1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/>
        </p:nvSpPr>
        <p:spPr>
          <a:xfrm>
            <a:off x="476250" y="42862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Why do we need statistics?</a:t>
            </a:r>
            <a:endParaRPr b="0" sz="2600">
              <a:solidFill>
                <a:srgbClr val="1E293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26" name="Google Shape;226;p28"/>
          <p:cNvGrpSpPr/>
          <p:nvPr/>
        </p:nvGrpSpPr>
        <p:grpSpPr>
          <a:xfrm>
            <a:off x="476250" y="1238250"/>
            <a:ext cx="2476500" cy="1619100"/>
            <a:chOff x="0" y="0"/>
            <a:chExt cx="2476500" cy="1619100"/>
          </a:xfrm>
        </p:grpSpPr>
        <p:sp>
          <p:nvSpPr>
            <p:cNvPr id="227" name="Google Shape;227;p28"/>
            <p:cNvSpPr/>
            <p:nvPr/>
          </p:nvSpPr>
          <p:spPr>
            <a:xfrm>
              <a:off x="0" y="0"/>
              <a:ext cx="24765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8"/>
            <p:cNvSpPr txBox="1"/>
            <p:nvPr/>
          </p:nvSpPr>
          <p:spPr>
            <a:xfrm>
              <a:off x="171450" y="171450"/>
              <a:ext cx="2133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01 . COGNITIVE LIMITS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Imperfect Minds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We must overcome human biases, logical fallacies, and cognitive limitations.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9" name="Google Shape;229;p28"/>
          <p:cNvGrpSpPr/>
          <p:nvPr/>
        </p:nvGrpSpPr>
        <p:grpSpPr>
          <a:xfrm>
            <a:off x="3333750" y="1238250"/>
            <a:ext cx="2476500" cy="1619100"/>
            <a:chOff x="0" y="0"/>
            <a:chExt cx="2476500" cy="1619100"/>
          </a:xfrm>
        </p:grpSpPr>
        <p:sp>
          <p:nvSpPr>
            <p:cNvPr id="230" name="Google Shape;230;p28"/>
            <p:cNvSpPr/>
            <p:nvPr/>
          </p:nvSpPr>
          <p:spPr>
            <a:xfrm>
              <a:off x="0" y="0"/>
              <a:ext cx="24765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8"/>
            <p:cNvSpPr txBox="1"/>
            <p:nvPr/>
          </p:nvSpPr>
          <p:spPr>
            <a:xfrm>
              <a:off x="171450" y="171450"/>
              <a:ext cx="2133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02 . MEASUREMENT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Effect Sizes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Accurately quantifying the strength and magnitude of different relationships.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2" name="Google Shape;232;p28"/>
          <p:cNvGrpSpPr/>
          <p:nvPr/>
        </p:nvGrpSpPr>
        <p:grpSpPr>
          <a:xfrm>
            <a:off x="6191250" y="1238250"/>
            <a:ext cx="2476500" cy="1619100"/>
            <a:chOff x="0" y="0"/>
            <a:chExt cx="2476500" cy="1619100"/>
          </a:xfrm>
        </p:grpSpPr>
        <p:sp>
          <p:nvSpPr>
            <p:cNvPr id="233" name="Google Shape;233;p28"/>
            <p:cNvSpPr/>
            <p:nvPr/>
          </p:nvSpPr>
          <p:spPr>
            <a:xfrm>
              <a:off x="0" y="0"/>
              <a:ext cx="24765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8"/>
            <p:cNvSpPr txBox="1"/>
            <p:nvPr/>
          </p:nvSpPr>
          <p:spPr>
            <a:xfrm>
              <a:off x="171450" y="171450"/>
              <a:ext cx="2133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03 . VALIDATION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Hypothesis Testing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Systematically validating assumptions against empirical data.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5" name="Google Shape;235;p28"/>
          <p:cNvGrpSpPr/>
          <p:nvPr/>
        </p:nvGrpSpPr>
        <p:grpSpPr>
          <a:xfrm>
            <a:off x="476250" y="3048000"/>
            <a:ext cx="2476500" cy="1619100"/>
            <a:chOff x="0" y="0"/>
            <a:chExt cx="2476500" cy="1619100"/>
          </a:xfrm>
        </p:grpSpPr>
        <p:sp>
          <p:nvSpPr>
            <p:cNvPr id="236" name="Google Shape;236;p28"/>
            <p:cNvSpPr/>
            <p:nvPr/>
          </p:nvSpPr>
          <p:spPr>
            <a:xfrm>
              <a:off x="0" y="0"/>
              <a:ext cx="24765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8"/>
            <p:cNvSpPr txBox="1"/>
            <p:nvPr/>
          </p:nvSpPr>
          <p:spPr>
            <a:xfrm>
              <a:off x="171450" y="171450"/>
              <a:ext cx="2133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04 . FORECASTING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Making Predictions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Building robust models to anticipate future outcomes and trends.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8" name="Google Shape;238;p28"/>
          <p:cNvGrpSpPr/>
          <p:nvPr/>
        </p:nvGrpSpPr>
        <p:grpSpPr>
          <a:xfrm>
            <a:off x="3333750" y="3048000"/>
            <a:ext cx="2476500" cy="1619100"/>
            <a:chOff x="0" y="0"/>
            <a:chExt cx="2476500" cy="1619100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0"/>
              <a:ext cx="24765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8"/>
            <p:cNvSpPr txBox="1"/>
            <p:nvPr/>
          </p:nvSpPr>
          <p:spPr>
            <a:xfrm>
              <a:off x="171450" y="171450"/>
              <a:ext cx="2133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05 . CLARITY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Visualizations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Making complex numerical relationships instantly clear and intuitive.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1" name="Google Shape;241;p28"/>
          <p:cNvGrpSpPr/>
          <p:nvPr/>
        </p:nvGrpSpPr>
        <p:grpSpPr>
          <a:xfrm>
            <a:off x="6191250" y="3048000"/>
            <a:ext cx="2476500" cy="1619100"/>
            <a:chOff x="0" y="0"/>
            <a:chExt cx="2476500" cy="1619100"/>
          </a:xfrm>
        </p:grpSpPr>
        <p:sp>
          <p:nvSpPr>
            <p:cNvPr id="242" name="Google Shape;242;p28"/>
            <p:cNvSpPr/>
            <p:nvPr/>
          </p:nvSpPr>
          <p:spPr>
            <a:xfrm>
              <a:off x="0" y="0"/>
              <a:ext cx="24765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8"/>
            <p:cNvSpPr txBox="1"/>
            <p:nvPr/>
          </p:nvSpPr>
          <p:spPr>
            <a:xfrm>
              <a:off x="171450" y="171450"/>
              <a:ext cx="2133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06 . ETC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Lots of Other Stuff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From optimizing systems to driving data-informed strategic decisions.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9"/>
          <p:cNvGrpSpPr/>
          <p:nvPr/>
        </p:nvGrpSpPr>
        <p:grpSpPr>
          <a:xfrm>
            <a:off x="476250" y="428625"/>
            <a:ext cx="8191500" cy="571500"/>
            <a:chOff x="0" y="0"/>
            <a:chExt cx="8191500" cy="571500"/>
          </a:xfrm>
        </p:grpSpPr>
        <p:sp>
          <p:nvSpPr>
            <p:cNvPr id="249" name="Google Shape;249;p29"/>
            <p:cNvSpPr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9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What is R and why is it useful?</a:t>
              </a:r>
              <a:endParaRPr b="0" sz="26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51" name="Google Shape;251;p29"/>
          <p:cNvGrpSpPr/>
          <p:nvPr/>
        </p:nvGrpSpPr>
        <p:grpSpPr>
          <a:xfrm>
            <a:off x="476250" y="1333500"/>
            <a:ext cx="2476500" cy="3143400"/>
            <a:chOff x="0" y="0"/>
            <a:chExt cx="2476500" cy="3143400"/>
          </a:xfrm>
        </p:grpSpPr>
        <p:sp>
          <p:nvSpPr>
            <p:cNvPr id="252" name="Google Shape;252;p29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4615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9"/>
            <p:cNvSpPr txBox="1"/>
            <p:nvPr/>
          </p:nvSpPr>
          <p:spPr>
            <a:xfrm>
              <a:off x="190500" y="228600"/>
              <a:ext cx="20955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0E7FF"/>
                  </a:solidFill>
                  <a:latin typeface="Inter"/>
                  <a:ea typeface="Inter"/>
                  <a:cs typeface="Inter"/>
                  <a:sym typeface="Inter"/>
                </a:rPr>
                <a:t>THE CORE IDEA</a:t>
              </a:r>
              <a:endParaRPr b="1" sz="1000">
                <a:solidFill>
                  <a:srgbClr val="E0E7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Scripted Language</a:t>
              </a:r>
              <a:endParaRPr b="0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Type commands</a:t>
              </a:r>
              <a:r>
                <a:rPr b="0" lang="en" sz="1200">
                  <a:solidFill>
                    <a:srgbClr val="E0E7FF"/>
                  </a:solidFill>
                  <a:latin typeface="Inter"/>
                  <a:ea typeface="Inter"/>
                  <a:cs typeface="Inter"/>
                  <a:sym typeface="Inter"/>
                </a:rPr>
                <a:t> instead of clicking buttons. This fundamental shift unlocks precision and power in data analysis.</a:t>
              </a:r>
              <a:endParaRPr b="0" sz="1200">
                <a:solidFill>
                  <a:srgbClr val="E0E7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4" name="Google Shape;254;p29"/>
          <p:cNvGrpSpPr/>
          <p:nvPr/>
        </p:nvGrpSpPr>
        <p:grpSpPr>
          <a:xfrm>
            <a:off x="3190875" y="1333500"/>
            <a:ext cx="5476800" cy="952500"/>
            <a:chOff x="0" y="0"/>
            <a:chExt cx="5476800" cy="952500"/>
          </a:xfrm>
        </p:grpSpPr>
        <p:sp>
          <p:nvSpPr>
            <p:cNvPr id="255" name="Google Shape;255;p29"/>
            <p:cNvSpPr/>
            <p:nvPr/>
          </p:nvSpPr>
          <p:spPr>
            <a:xfrm>
              <a:off x="0" y="0"/>
              <a:ext cx="54768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9"/>
            <p:cNvSpPr txBox="1"/>
            <p:nvPr/>
          </p:nvSpPr>
          <p:spPr>
            <a:xfrm>
              <a:off x="190500" y="142875"/>
              <a:ext cx="5095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REPRODUCIBILITY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Easily Re-run &amp; Revise Analyses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Modify your inputs or parameters and re-execute entire workflows instantly.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7" name="Google Shape;257;p29"/>
          <p:cNvGrpSpPr/>
          <p:nvPr/>
        </p:nvGrpSpPr>
        <p:grpSpPr>
          <a:xfrm>
            <a:off x="3190875" y="2428875"/>
            <a:ext cx="5476800" cy="952500"/>
            <a:chOff x="0" y="0"/>
            <a:chExt cx="5476800" cy="952500"/>
          </a:xfrm>
        </p:grpSpPr>
        <p:sp>
          <p:nvSpPr>
            <p:cNvPr id="258" name="Google Shape;258;p29"/>
            <p:cNvSpPr/>
            <p:nvPr/>
          </p:nvSpPr>
          <p:spPr>
            <a:xfrm>
              <a:off x="0" y="0"/>
              <a:ext cx="54768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9"/>
            <p:cNvSpPr txBox="1"/>
            <p:nvPr/>
          </p:nvSpPr>
          <p:spPr>
            <a:xfrm>
              <a:off x="190500" y="142875"/>
              <a:ext cx="5095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EFFICIENCY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Re-use Code Across Projects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Build on top of previous work by recycling robust scripts for new datasets.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0" name="Google Shape;260;p29"/>
          <p:cNvGrpSpPr/>
          <p:nvPr/>
        </p:nvGrpSpPr>
        <p:grpSpPr>
          <a:xfrm>
            <a:off x="3190875" y="3524250"/>
            <a:ext cx="5476800" cy="952500"/>
            <a:chOff x="0" y="0"/>
            <a:chExt cx="5476800" cy="952500"/>
          </a:xfrm>
        </p:grpSpPr>
        <p:sp>
          <p:nvSpPr>
            <p:cNvPr id="261" name="Google Shape;261;p29"/>
            <p:cNvSpPr/>
            <p:nvPr/>
          </p:nvSpPr>
          <p:spPr>
            <a:xfrm>
              <a:off x="0" y="0"/>
              <a:ext cx="54768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9"/>
            <p:cNvSpPr txBox="1"/>
            <p:nvPr/>
          </p:nvSpPr>
          <p:spPr>
            <a:xfrm>
              <a:off x="190500" y="142875"/>
              <a:ext cx="5095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DOCUMENTATION</a:t>
              </a:r>
              <a:endParaRPr b="1" sz="925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Code as a Methods Section</a:t>
              </a:r>
              <a:endParaRPr b="1" sz="129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Your codebase serves as a transparent, step-by-step record of your methodology.</a:t>
              </a:r>
              <a:endParaRPr b="0"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0"/>
          <p:cNvGrpSpPr/>
          <p:nvPr/>
        </p:nvGrpSpPr>
        <p:grpSpPr>
          <a:xfrm>
            <a:off x="476250" y="428625"/>
            <a:ext cx="8191500" cy="571500"/>
            <a:chOff x="0" y="0"/>
            <a:chExt cx="8191500" cy="571500"/>
          </a:xfrm>
        </p:grpSpPr>
        <p:sp>
          <p:nvSpPr>
            <p:cNvPr id="268" name="Google Shape;268;p30"/>
            <p:cNvSpPr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0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What is R and why is it useful?</a:t>
              </a:r>
              <a:endParaRPr b="0" sz="26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70" name="Google Shape;270;p30"/>
          <p:cNvGrpSpPr/>
          <p:nvPr/>
        </p:nvGrpSpPr>
        <p:grpSpPr>
          <a:xfrm>
            <a:off x="476250" y="1238250"/>
            <a:ext cx="3905400" cy="1524000"/>
            <a:chOff x="0" y="0"/>
            <a:chExt cx="3905400" cy="1524000"/>
          </a:xfrm>
        </p:grpSpPr>
        <p:sp>
          <p:nvSpPr>
            <p:cNvPr id="271" name="Google Shape;271;p30"/>
            <p:cNvSpPr/>
            <p:nvPr/>
          </p:nvSpPr>
          <p:spPr>
            <a:xfrm>
              <a:off x="0" y="0"/>
              <a:ext cx="39054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0"/>
            <p:cNvSpPr txBox="1"/>
            <p:nvPr/>
          </p:nvSpPr>
          <p:spPr>
            <a:xfrm>
              <a:off x="190500" y="1905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01 . COST-EFFECTIVE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 is Free to Use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Anyone can download and use R without licensing costs, lowering the barrier to entry.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3" name="Google Shape;273;p30"/>
          <p:cNvGrpSpPr/>
          <p:nvPr/>
        </p:nvGrpSpPr>
        <p:grpSpPr>
          <a:xfrm>
            <a:off x="4762500" y="1238250"/>
            <a:ext cx="3905400" cy="1524000"/>
            <a:chOff x="0" y="0"/>
            <a:chExt cx="3905400" cy="1524000"/>
          </a:xfrm>
        </p:grpSpPr>
        <p:sp>
          <p:nvSpPr>
            <p:cNvPr id="274" name="Google Shape;274;p30"/>
            <p:cNvSpPr/>
            <p:nvPr/>
          </p:nvSpPr>
          <p:spPr>
            <a:xfrm>
              <a:off x="0" y="0"/>
              <a:ext cx="39054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0"/>
            <p:cNvSpPr txBox="1"/>
            <p:nvPr/>
          </p:nvSpPr>
          <p:spPr>
            <a:xfrm>
              <a:off x="190500" y="1905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02 . EXTENSIBILITY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User-Contributed Packages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massive ecosystem of user-developed packages is contributed for free, extending its capabilities.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6" name="Google Shape;276;p30"/>
          <p:cNvGrpSpPr/>
          <p:nvPr/>
        </p:nvGrpSpPr>
        <p:grpSpPr>
          <a:xfrm>
            <a:off x="476250" y="2952750"/>
            <a:ext cx="3905400" cy="1524000"/>
            <a:chOff x="0" y="0"/>
            <a:chExt cx="3905400" cy="1524000"/>
          </a:xfrm>
        </p:grpSpPr>
        <p:sp>
          <p:nvSpPr>
            <p:cNvPr id="277" name="Google Shape;277;p30"/>
            <p:cNvSpPr/>
            <p:nvPr/>
          </p:nvSpPr>
          <p:spPr>
            <a:xfrm>
              <a:off x="0" y="0"/>
              <a:ext cx="39054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0"/>
            <p:cNvSpPr txBox="1"/>
            <p:nvPr/>
          </p:nvSpPr>
          <p:spPr>
            <a:xfrm>
              <a:off x="190500" y="1905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03 . VERSATILITY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Incredible Flexibility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vast range of libraries allows researchers to handle virtually any quantitative analysis task.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9" name="Google Shape;279;p30"/>
          <p:cNvGrpSpPr/>
          <p:nvPr/>
        </p:nvGrpSpPr>
        <p:grpSpPr>
          <a:xfrm>
            <a:off x="4762500" y="2952750"/>
            <a:ext cx="3905400" cy="1524000"/>
            <a:chOff x="0" y="0"/>
            <a:chExt cx="3905400" cy="1524000"/>
          </a:xfrm>
        </p:grpSpPr>
        <p:sp>
          <p:nvSpPr>
            <p:cNvPr id="280" name="Google Shape;280;p30"/>
            <p:cNvSpPr/>
            <p:nvPr/>
          </p:nvSpPr>
          <p:spPr>
            <a:xfrm>
              <a:off x="0" y="0"/>
              <a:ext cx="39054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0"/>
            <p:cNvSpPr txBox="1"/>
            <p:nvPr/>
          </p:nvSpPr>
          <p:spPr>
            <a:xfrm>
              <a:off x="190500" y="1905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04 . COMMUNITY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Popular &amp; Supported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 active, global developer and user base provides vast documentation and peer-to-peer help.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R and why is it useful?</a:t>
            </a:r>
            <a:endParaRPr b="1"/>
          </a:p>
        </p:txBody>
      </p:sp>
      <p:pic>
        <p:nvPicPr>
          <p:cNvPr id="287" name="Google Shape;2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570200" cy="33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1"/>
          <p:cNvPicPr preferRelativeResize="0"/>
          <p:nvPr/>
        </p:nvPicPr>
        <p:blipFill rotWithShape="1">
          <a:blip r:embed="rId4">
            <a:alphaModFix/>
          </a:blip>
          <a:srcRect b="46974" l="18855" r="18460" t="28026"/>
          <a:stretch/>
        </p:blipFill>
        <p:spPr>
          <a:xfrm>
            <a:off x="5626850" y="4367075"/>
            <a:ext cx="3460901" cy="776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R and why is it useful?</a:t>
            </a:r>
            <a:endParaRPr b="1"/>
          </a:p>
        </p:txBody>
      </p:sp>
      <p:pic>
        <p:nvPicPr>
          <p:cNvPr id="294" name="Google Shape;29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32025"/>
            <a:ext cx="4699576" cy="373809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2"/>
          <p:cNvSpPr txBox="1"/>
          <p:nvPr/>
        </p:nvSpPr>
        <p:spPr>
          <a:xfrm>
            <a:off x="313475" y="4850087"/>
            <a:ext cx="64521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95959"/>
                </a:solidFill>
              </a:rPr>
              <a:t>Front Ecol Environ 2020; 18(3): 123–124</a:t>
            </a:r>
            <a:endParaRPr sz="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"/>
          <p:cNvSpPr txBox="1"/>
          <p:nvPr/>
        </p:nvSpPr>
        <p:spPr>
          <a:xfrm>
            <a:off x="476250" y="428625"/>
            <a:ext cx="8191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Transparency &amp; Reproducibility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Science needs to be open, clear, and verifiable.</a:t>
            </a:r>
            <a:endParaRPr b="0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1" name="Google Shape;301;p33"/>
          <p:cNvGrpSpPr/>
          <p:nvPr/>
        </p:nvGrpSpPr>
        <p:grpSpPr>
          <a:xfrm>
            <a:off x="476250" y="1571625"/>
            <a:ext cx="3905400" cy="2000100"/>
            <a:chOff x="0" y="0"/>
            <a:chExt cx="3905400" cy="2000100"/>
          </a:xfrm>
        </p:grpSpPr>
        <p:sp>
          <p:nvSpPr>
            <p:cNvPr id="302" name="Google Shape;302;p33"/>
            <p:cNvSpPr/>
            <p:nvPr/>
          </p:nvSpPr>
          <p:spPr>
            <a:xfrm>
              <a:off x="0" y="0"/>
              <a:ext cx="3905400" cy="20001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3"/>
            <p:cNvSpPr/>
            <p:nvPr/>
          </p:nvSpPr>
          <p:spPr>
            <a:xfrm>
              <a:off x="285750" y="285750"/>
              <a:ext cx="476400" cy="4764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3"/>
            <p:cNvSpPr txBox="1"/>
            <p:nvPr/>
          </p:nvSpPr>
          <p:spPr>
            <a:xfrm>
              <a:off x="409575" y="435864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5" name="Google Shape;305;p33"/>
            <p:cNvSpPr txBox="1"/>
            <p:nvPr/>
          </p:nvSpPr>
          <p:spPr>
            <a:xfrm>
              <a:off x="285750" y="904875"/>
              <a:ext cx="3333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Transparency</a:t>
              </a:r>
              <a:endParaRPr b="1" sz="2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What was done is clear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6" name="Google Shape;306;p33"/>
          <p:cNvGrpSpPr/>
          <p:nvPr/>
        </p:nvGrpSpPr>
        <p:grpSpPr>
          <a:xfrm>
            <a:off x="4762500" y="1571625"/>
            <a:ext cx="3905400" cy="2000100"/>
            <a:chOff x="0" y="0"/>
            <a:chExt cx="3905400" cy="2000100"/>
          </a:xfrm>
        </p:grpSpPr>
        <p:sp>
          <p:nvSpPr>
            <p:cNvPr id="307" name="Google Shape;307;p33"/>
            <p:cNvSpPr/>
            <p:nvPr/>
          </p:nvSpPr>
          <p:spPr>
            <a:xfrm>
              <a:off x="0" y="0"/>
              <a:ext cx="3905400" cy="20001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3"/>
            <p:cNvSpPr/>
            <p:nvPr/>
          </p:nvSpPr>
          <p:spPr>
            <a:xfrm>
              <a:off x="285750" y="285750"/>
              <a:ext cx="476400" cy="4764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3"/>
            <p:cNvSpPr txBox="1"/>
            <p:nvPr/>
          </p:nvSpPr>
          <p:spPr>
            <a:xfrm>
              <a:off x="409575" y="435864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autorenew</a:t>
              </a:r>
              <a:endParaRPr sz="1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0" name="Google Shape;310;p33"/>
            <p:cNvSpPr txBox="1"/>
            <p:nvPr/>
          </p:nvSpPr>
          <p:spPr>
            <a:xfrm>
              <a:off x="285750" y="904875"/>
              <a:ext cx="3333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Reproducibility</a:t>
              </a:r>
              <a:endParaRPr b="1" sz="2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Can be re-done with the same results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1" name="Google Shape;311;p33"/>
          <p:cNvGrpSpPr/>
          <p:nvPr/>
        </p:nvGrpSpPr>
        <p:grpSpPr>
          <a:xfrm>
            <a:off x="476250" y="3810000"/>
            <a:ext cx="8191500" cy="762000"/>
            <a:chOff x="0" y="0"/>
            <a:chExt cx="8191500" cy="762000"/>
          </a:xfrm>
        </p:grpSpPr>
        <p:sp>
          <p:nvSpPr>
            <p:cNvPr id="312" name="Google Shape;312;p33"/>
            <p:cNvSpPr/>
            <p:nvPr/>
          </p:nvSpPr>
          <p:spPr>
            <a:xfrm>
              <a:off x="0" y="0"/>
              <a:ext cx="8191500" cy="762000"/>
            </a:xfrm>
            <a:prstGeom prst="roundRect">
              <a:avLst>
                <a:gd fmla="val 20000" name="adj"/>
              </a:avLst>
            </a:prstGeom>
            <a:solidFill>
              <a:srgbClr val="F0F9FF"/>
            </a:solidFill>
            <a:ln cap="flat" cmpd="sng" w="14300">
              <a:solidFill>
                <a:srgbClr val="B9E6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3"/>
            <p:cNvSpPr/>
            <p:nvPr/>
          </p:nvSpPr>
          <p:spPr>
            <a:xfrm>
              <a:off x="285750" y="190500"/>
              <a:ext cx="381000" cy="381000"/>
            </a:xfrm>
            <a:prstGeom prst="ellipse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3"/>
            <p:cNvSpPr txBox="1"/>
            <p:nvPr/>
          </p:nvSpPr>
          <p:spPr>
            <a:xfrm>
              <a:off x="400050" y="304800"/>
              <a:ext cx="1524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3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</a:t>
              </a:r>
              <a:endParaRPr b="0" sz="93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15" name="Google Shape;315;p33"/>
            <p:cNvSpPr txBox="1"/>
            <p:nvPr/>
          </p:nvSpPr>
          <p:spPr>
            <a:xfrm>
              <a:off x="809625" y="0"/>
              <a:ext cx="7096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369A1"/>
                  </a:solidFill>
                  <a:latin typeface="Inter"/>
                  <a:ea typeface="Inter"/>
                  <a:cs typeface="Inter"/>
                  <a:sym typeface="Inter"/>
                </a:rPr>
                <a:t>R helps with both of these!</a:t>
              </a:r>
              <a:endParaRPr b="1" sz="150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Transparency and Reproducibility</a:t>
            </a:r>
            <a:endParaRPr b="1"/>
          </a:p>
        </p:txBody>
      </p:sp>
      <p:pic>
        <p:nvPicPr>
          <p:cNvPr id="321" name="Google Shape;321;p34"/>
          <p:cNvPicPr preferRelativeResize="0"/>
          <p:nvPr/>
        </p:nvPicPr>
        <p:blipFill rotWithShape="1">
          <a:blip r:embed="rId3">
            <a:alphaModFix/>
          </a:blip>
          <a:srcRect b="21190" l="15138" r="14780" t="26542"/>
          <a:stretch/>
        </p:blipFill>
        <p:spPr>
          <a:xfrm>
            <a:off x="5742101" y="17763"/>
            <a:ext cx="3401899" cy="1427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2" name="Google Shape;322;p34"/>
          <p:cNvPicPr preferRelativeResize="0"/>
          <p:nvPr/>
        </p:nvPicPr>
        <p:blipFill rotWithShape="1">
          <a:blip r:embed="rId4">
            <a:alphaModFix/>
          </a:blip>
          <a:srcRect b="17900" l="33827" r="45649" t="26836"/>
          <a:stretch/>
        </p:blipFill>
        <p:spPr>
          <a:xfrm>
            <a:off x="198700" y="1075750"/>
            <a:ext cx="1824101" cy="2762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4"/>
          <p:cNvPicPr preferRelativeResize="0"/>
          <p:nvPr/>
        </p:nvPicPr>
        <p:blipFill rotWithShape="1">
          <a:blip r:embed="rId5">
            <a:alphaModFix/>
          </a:blip>
          <a:srcRect b="1289" l="34980" r="45649" t="15008"/>
          <a:stretch/>
        </p:blipFill>
        <p:spPr>
          <a:xfrm>
            <a:off x="2312125" y="1075750"/>
            <a:ext cx="1534651" cy="373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Transparency and Reproducibility</a:t>
            </a:r>
            <a:endParaRPr b="1"/>
          </a:p>
        </p:txBody>
      </p:sp>
      <p:pic>
        <p:nvPicPr>
          <p:cNvPr id="329" name="Google Shape;329;p35"/>
          <p:cNvPicPr preferRelativeResize="0"/>
          <p:nvPr/>
        </p:nvPicPr>
        <p:blipFill rotWithShape="1">
          <a:blip r:embed="rId3">
            <a:alphaModFix/>
          </a:blip>
          <a:srcRect b="21190" l="15138" r="14780" t="26542"/>
          <a:stretch/>
        </p:blipFill>
        <p:spPr>
          <a:xfrm>
            <a:off x="5742101" y="17763"/>
            <a:ext cx="3401899" cy="1427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0" name="Google Shape;330;p35"/>
          <p:cNvPicPr preferRelativeResize="0"/>
          <p:nvPr/>
        </p:nvPicPr>
        <p:blipFill rotWithShape="1">
          <a:blip r:embed="rId4">
            <a:alphaModFix/>
          </a:blip>
          <a:srcRect b="17900" l="33827" r="45649" t="26836"/>
          <a:stretch/>
        </p:blipFill>
        <p:spPr>
          <a:xfrm>
            <a:off x="198700" y="1075750"/>
            <a:ext cx="1824101" cy="2762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5"/>
          <p:cNvPicPr preferRelativeResize="0"/>
          <p:nvPr/>
        </p:nvPicPr>
        <p:blipFill rotWithShape="1">
          <a:blip r:embed="rId5">
            <a:alphaModFix/>
          </a:blip>
          <a:srcRect b="1289" l="34980" r="45649" t="15008"/>
          <a:stretch/>
        </p:blipFill>
        <p:spPr>
          <a:xfrm>
            <a:off x="2312125" y="1075750"/>
            <a:ext cx="1534651" cy="373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5"/>
          <p:cNvPicPr preferRelativeResize="0"/>
          <p:nvPr/>
        </p:nvPicPr>
        <p:blipFill rotWithShape="1">
          <a:blip r:embed="rId6">
            <a:alphaModFix/>
          </a:blip>
          <a:srcRect b="0" l="0" r="0" t="6314"/>
          <a:stretch/>
        </p:blipFill>
        <p:spPr>
          <a:xfrm>
            <a:off x="4136100" y="1625400"/>
            <a:ext cx="4992427" cy="26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Transparency and Reproducibility</a:t>
            </a:r>
            <a:endParaRPr b="1"/>
          </a:p>
        </p:txBody>
      </p:sp>
      <p:sp>
        <p:nvSpPr>
          <p:cNvPr id="338" name="Google Shape;338;p36"/>
          <p:cNvSpPr txBox="1"/>
          <p:nvPr/>
        </p:nvSpPr>
        <p:spPr>
          <a:xfrm>
            <a:off x="360225" y="1418100"/>
            <a:ext cx="787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Note: many journals and funders are now requiring code to be published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Questions on any of this?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Next time:</a:t>
            </a:r>
            <a:endParaRPr b="1"/>
          </a:p>
        </p:txBody>
      </p:sp>
      <p:sp>
        <p:nvSpPr>
          <p:cNvPr id="349" name="Google Shape;34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class: read 1.1 - 1.3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During class: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Discuss 1.1-1.3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Installing and setting up R, RStudio, and Github (if needed)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