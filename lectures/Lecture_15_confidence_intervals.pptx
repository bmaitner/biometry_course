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c49de6d7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c49de6d7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bc2b2b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bc2b2b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c7799f5b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c7799f5b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c7799f5b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c7799f5b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c7799f5b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c7799f5b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c7799f5b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c7799f5b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c7799f5b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c7799f5b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c7799f5b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c7799f5b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c7799f5b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c7799f5b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c7799f5b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c7799f5b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c7799f5b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c7799f5b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c7799f5b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c7799f5b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c7799f5b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c7799f5b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c7799f5b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c7799f5b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c7799f5b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c7799f5b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c7799f5b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c7799f5b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c7799f5b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c7799f5b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c7799f5b1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c7799f5b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c7799f5b1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c7799f5b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c7799f5b1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c7799f5b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c7799f5b1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c7799f5b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c7799f5b1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c7799f5b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 II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Check-in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Confidence Intervals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Check-in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are things going?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Anything that could be better?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Additional</a:t>
            </a:r>
            <a:r>
              <a:rPr lang="en"/>
              <a:t> resources that could be added?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More </a:t>
            </a:r>
            <a:r>
              <a:rPr lang="en"/>
              <a:t>assignments or examples?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time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Fitting functions </a:t>
            </a:r>
            <a:r>
              <a:rPr lang="en"/>
              <a:t>with</a:t>
            </a:r>
            <a:r>
              <a:rPr lang="en"/>
              <a:t> multiple parameters: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502593" y="1746364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binomNLL2 &lt;- function(params, N, k){</a:t>
            </a:r>
            <a:endParaRPr sz="13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a = params[1]</a:t>
            </a:r>
            <a:endParaRPr sz="13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h = params[2]</a:t>
            </a:r>
            <a:endParaRPr sz="13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pred_prob = a/ (1+a*h*N)</a:t>
            </a:r>
            <a:endParaRPr sz="13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-sum(dbinom(x = k,size = N, prob = pred_prob, log = TRUE))</a:t>
            </a:r>
            <a:endParaRPr sz="13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}  </a:t>
            </a:r>
            <a:endParaRPr sz="13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time before last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Likelihood curves: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Likelihood depends on a parameter value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4250" y="1938736"/>
            <a:ext cx="4213800" cy="291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handle likelihood plots in multiple dimensions?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Likelihood surfaces (instead of curves)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Essentially, you evaluate the likelihood at every combination of parameters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525" y="1945950"/>
            <a:ext cx="4216275" cy="29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options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have more than 2 parameters?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if we want to visualize one parameter at a time? (surfaces hard to visualize)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Try plotting in more than 2 dimensions (not advised)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Take a slice through the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Calculate likelihood profiles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Pick a focal parameter and a range of values to </a:t>
            </a:r>
            <a:r>
              <a:rPr lang="en"/>
              <a:t>evaluate</a:t>
            </a:r>
            <a:r>
              <a:rPr lang="en"/>
              <a:t> it over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Set other parameters to some value (e.g., </a:t>
            </a:r>
            <a:r>
              <a:rPr lang="en"/>
              <a:t>their</a:t>
            </a:r>
            <a:r>
              <a:rPr lang="en"/>
              <a:t> max likelihood estimates)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Calculate likelihood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May be useful, but are misleading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Parameters trade-off, so the parameter combinations you try aren’t always reasonable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Slices: Worked example pt 1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data("ReedfrogFuncresp")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binomNLL2 &lt;- function(params, N, k){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a = params[1]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h = params[2]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pred_prob = a/ (1+a*h*N)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-sum(dbinom(x = k,size = N, prob = pred_prob,log = TRUE))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}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parnames(binomNLL2) &lt;- c("a","h") # quirk of mle2: need to set the parm names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m2 &lt;- mle2(minuslogl = binomNLL2,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start = c(a=.5,h=2),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data = list(k = ReedfrogFuncresp$Killed,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N = ReedfrogFuncresp$Initial))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Slices: Worked example pt 2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opt_a &lt;- opt2$par["a"]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# get the optimal parameter value for a then do a slice for h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h_vec &lt;- seq(from = 0.01,to=0.04,by=0.005)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# pick a sequence to optimize over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# we're going to use mle2 because it makes it easy to fix certain parameters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h_nll &lt;- numeric(length(h_vec)) # this will hold our output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for(i in 1:length(h_vec)){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m2 &lt;- mle2(minuslogl = binomNLL2,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start = c(a=.5,h=2),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data = list(k = ReedfrogFuncresp$Killed,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N = ReedfrogFuncresp$Initial),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fixed = list(a = as.numeric(opt_a),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h = h_vec[i]))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h_nll[i] &lt;- m2@min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Slices: Worked example pt 3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 your slice (x= h_vec, y = h_nll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the minimal value on your slice compare with the the optimization?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Slices: Your turn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You’ve done a slice for h (keeping a fixed at the optimized value)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Now, modify the code to do a slice for a (keeping h fixed)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Profiles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4187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Pick a focal parameter and a range of values to evaluate it over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 other parameters to be optimized (*different from slices)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Calculate likelihood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Still not a complete picture, but represents actual parts of the surface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Profiles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4187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might we modify the slice code to calculate a profile?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Profiles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4187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might we modify the slice code to calculate a profile?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Since we used mle2, we can just remove “a” from the fixed arguments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Profiles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4187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Modify your previous code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Leave out “a” from the fixed terms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 a different object to store the new NLL values (e.g., h_nll2)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Store the “a” values that are being chosen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Plot 1: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Your profile for h (as before, the x-axis is the value of h, and y is the NLL)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Add points for the slice you took over the same values in another color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Plot 2: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For your profile, plot a vs h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Profiles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your plots: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Which has the lower value for NLL?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does the plot of a vs h tell us about why this is?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 confidence limits</a:t>
            </a:r>
            <a:endParaRPr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Parameters close to the best might be feasible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Those farther away are probably not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Commonly use likelihood-ratio tests</a:t>
            </a:r>
            <a:endParaRPr/>
          </a:p>
        </p:txBody>
      </p:sp>
      <p:pic>
        <p:nvPicPr>
          <p:cNvPr id="155" name="Google Shape;15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3525" y="1911400"/>
            <a:ext cx="3841151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 Ratio test: General Idea</a:t>
            </a:r>
            <a:endParaRPr/>
          </a:p>
        </p:txBody>
      </p:sp>
      <p:pic>
        <p:nvPicPr>
          <p:cNvPr id="161" name="Google Shape;16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1650" y="2390400"/>
            <a:ext cx="3979350" cy="275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compare the likelihood of two combinations of parameters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Deviance = -2log(best model likelihood / restricted model likelihood)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Deviance follows a chi</a:t>
            </a:r>
            <a:r>
              <a:rPr baseline="30000" lang="en"/>
              <a:t>2</a:t>
            </a:r>
            <a:r>
              <a:rPr lang="en"/>
              <a:t> distribution with </a:t>
            </a:r>
            <a:r>
              <a:rPr i="1" lang="en"/>
              <a:t>r</a:t>
            </a:r>
            <a:r>
              <a:rPr lang="en"/>
              <a:t> degrees of freedom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i="1" lang="en"/>
              <a:t>r</a:t>
            </a:r>
            <a:r>
              <a:rPr lang="en"/>
              <a:t> = number of fixed factors in the restricted model)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 Ratio Test in practice</a:t>
            </a:r>
            <a:endParaRPr/>
          </a:p>
        </p:txBody>
      </p:sp>
      <p:sp>
        <p:nvSpPr>
          <p:cNvPr id="168" name="Google Shape;16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can do an LRT manually (see pg 193-194 in your books)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R makes it easier: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m5 &lt;- mle2(minuslogl = binomNLL2,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start = c(a=.5,h=2),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data = list(k = ReedfrogFuncresp$Killed,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N = ReedfrogFuncresp$Initial))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	profile(m5)  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 Ratio Test in practice</a:t>
            </a:r>
            <a:endParaRPr/>
          </a:p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Likelihood profile: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$a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z   par.vals.a   par.vals.h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  -4.2049805  0.294888378 -0.002924909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  -3.1540453  0.341234208  0.002591865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  -2.2328584  0.387580038  0.007020138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  -1.4114294  0.433925867  0.010708266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  -0.6687860  0.480271697  0.013875313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6   0.0000000  0.526617527  0.016648015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7   0.6370924  0.572963357  0.019132317</a:t>
            </a:r>
            <a:endParaRPr/>
          </a:p>
        </p:txBody>
      </p:sp>
      <p:sp>
        <p:nvSpPr>
          <p:cNvPr id="175" name="Google Shape;175;p32"/>
          <p:cNvSpPr txBox="1"/>
          <p:nvPr/>
        </p:nvSpPr>
        <p:spPr>
          <a:xfrm>
            <a:off x="4350225" y="3875100"/>
            <a:ext cx="137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Best model</a:t>
            </a:r>
            <a:endParaRPr sz="1800">
              <a:solidFill>
                <a:srgbClr val="980000"/>
              </a:solidFill>
            </a:endParaRPr>
          </a:p>
        </p:txBody>
      </p:sp>
      <p:sp>
        <p:nvSpPr>
          <p:cNvPr id="176" name="Google Shape;176;p32"/>
          <p:cNvSpPr txBox="1"/>
          <p:nvPr/>
        </p:nvSpPr>
        <p:spPr>
          <a:xfrm>
            <a:off x="1692250" y="1450450"/>
            <a:ext cx="353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Difference in NLL from best</a:t>
            </a:r>
            <a:endParaRPr sz="1800">
              <a:solidFill>
                <a:srgbClr val="980000"/>
              </a:solidFill>
            </a:endParaRPr>
          </a:p>
        </p:txBody>
      </p:sp>
      <p:cxnSp>
        <p:nvCxnSpPr>
          <p:cNvPr id="177" name="Google Shape;177;p32"/>
          <p:cNvCxnSpPr>
            <a:stCxn id="176" idx="1"/>
          </p:cNvCxnSpPr>
          <p:nvPr/>
        </p:nvCxnSpPr>
        <p:spPr>
          <a:xfrm flipH="1">
            <a:off x="1412650" y="1681300"/>
            <a:ext cx="279600" cy="4335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32"/>
          <p:cNvCxnSpPr>
            <a:stCxn id="175" idx="1"/>
          </p:cNvCxnSpPr>
          <p:nvPr/>
        </p:nvCxnSpPr>
        <p:spPr>
          <a:xfrm rot="10800000">
            <a:off x="3505725" y="4059450"/>
            <a:ext cx="844500" cy="465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 Ratio Test in practice</a:t>
            </a:r>
            <a:endParaRPr/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the confidence interval: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confint(profile(m5)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level = 0.95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 equivalently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confint(m5, level = 0.95)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Try these and see what you get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 Ratio Test in practice</a:t>
            </a:r>
            <a:endParaRPr/>
          </a:p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Plotting the profile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plot(profile(m5))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 Ratio Test in practice</a:t>
            </a:r>
            <a:endParaRPr/>
          </a:p>
        </p:txBody>
      </p:sp>
      <p:sp>
        <p:nvSpPr>
          <p:cNvPr id="196" name="Google Shape;19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the CI to our profile plot: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ci_m5 &lt;- confint(m5, level = 0.95)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plot(x = h_vec, y = h_nll2, ylab = "NLL", xlab = "h")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abline(v = ci_m5["h",]["2.5 %"])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abline(v = ci_m5["h",]["97.5 %"])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6.6 (6.6.3 optional)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