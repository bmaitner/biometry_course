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5143500" cx="9144000"/>
  <p:notesSz cx="6858000" cy="9144000"/>
  <p:embeddedFontLst>
    <p:embeddedFont>
      <p:font typeface="Lora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Lora-italic.fntdata"/><Relationship Id="rId72" Type="http://schemas.openxmlformats.org/officeDocument/2006/relationships/font" Target="fonts/Lora-bold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74" Type="http://schemas.openxmlformats.org/officeDocument/2006/relationships/font" Target="fonts/Lora-boldItalic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Lora-regular.fnt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43e0b0d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43e0b0d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d14cc222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d14cc222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d14cc222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d14cc222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d14cc222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d14cc222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d14cc222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d14cc222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on these three (more in control, and are free)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d14cc222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d14cc222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on these three (more in control, and are free)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d14cc222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d14cc222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on these three (more in control, and are free)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d14cc222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d14cc222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on these three (more in control, and are free)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d14cc222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d14cc222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d14cc222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d14cc222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d14cc2227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d14cc222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d14cc222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d14cc222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d14cc2227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d14cc2227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d14cc222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d14cc222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d14cc2227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d14cc2227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d14cc222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d14cc222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d14cc2227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d14cc2227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d14cc2227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d14cc222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d14cc2227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d14cc222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repositories have different pros/cons: filesize, number of files, etc. but for most datasets you can find one that works.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d14cc2227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ad14cc2227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Different repositories have different pros/cons: filesize, number of files, etc. but for most datasets you can find one that works.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d14cc2227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d14cc2227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Hopefully I’ve convinced you theres value in data sharing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d14cc2227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d14cc2227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Those data aren’t useful unless we do something with them. That’s where open source comes in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d14cc2227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d14cc2227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d14cc2227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ad14cc2227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d14cc2227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ad14cc2227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d14cc2227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ad14cc2227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Stress that having code is better than nothing, but more reproducibly gives us more confidence in things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d14cc2227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ad14cc2227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d14cc2227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ad14cc2227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ad14cc2227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ad14cc2227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ad14cc2227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ad14cc2227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d14cc2227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ad14cc2227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d14cc2227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ad14cc2227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ad14cc2227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ad14cc2227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ad14cc2227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ad14cc2227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d14cc2227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ad14cc2227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d14cc2227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ad14cc2227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d14cc2227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ad14cc2227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maybe its the other way.  Maybe someone saved ME months of work and all it costs me is a citation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d14cc2227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ad14cc2227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ad14cc2227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ad14cc2227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ad14cc2227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ad14cc2227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d14cc2227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ad14cc2227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Can’t ask global questions without help!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d14cc2227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ad14cc2227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anyone can use these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ad14cc2227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ad14cc2227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open = more citation  = more impact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ad14cc2227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ad14cc2227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on these three (more in control, and are free)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ad14cc2227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ad14cc2227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on these three (more in control, and are free)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ad14cc2227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ad14cc2227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open = more citation  = more impact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ad14cc2227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ad14cc2227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open = more citation  = more impact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ad14cc2227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3ad14cc2227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open = more citation  = more impact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ad14cc2227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ad14cc2227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open = more citation  = more impact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ad14cc2227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ad14cc2227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open = more citation  = more impact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ad14cc2227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ad14cc2227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open = more citation  = more impact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ad14cc2227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3ad14cc2227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open = more citation  = more impact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ad14cc2227_0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3ad14cc2227_0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open = more citation  = more impact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ad14cc2227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3ad14cc2227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open = more citation  = more impact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ad14cc2227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3ad14cc2227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open = more citation  = more impact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ad14cc2227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ad14cc2227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open = more citation  = more impact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ad14cc2227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3ad14cc2227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open = more citation  = more impact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ad14cc2227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ad14cc2227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open = more citation  = more impact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ad14cc2227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ad14cc2227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Arguably, shared workflows and code speeds things up (e.g., australia fires)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ad14cc2227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ad14cc2227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open = more citation  = more impact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ad14cc2227_0_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3ad14cc2227_0_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open = more citation  = more impact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ad14cc2227_0_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3ad14cc2227_0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on these three (more in control, and are free)</a:t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ad14cc2227_0_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3ad14cc2227_0_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10" Type="http://schemas.openxmlformats.org/officeDocument/2006/relationships/image" Target="../media/image19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Relationship Id="rId7" Type="http://schemas.openxmlformats.org/officeDocument/2006/relationships/image" Target="../media/image17.png"/><Relationship Id="rId8" Type="http://schemas.openxmlformats.org/officeDocument/2006/relationships/image" Target="../media/image2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Relationship Id="rId4" Type="http://schemas.openxmlformats.org/officeDocument/2006/relationships/image" Target="../media/image29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2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image29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Science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Final presentation reminder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Code and Data sharing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Coding time in class (optional)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Presentations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12:30-2:30 p.m. on Tuesday, December 9th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Remember to have your slides added to the Google Slides file beforehand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Practice your timing to make sure you’re under the 5 minutes</a:t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Open Science?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Open Science: “transparent and accessible knowledge that is shared and developed through collaborative networks”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What is Open Science?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Open Science: “transparent and accessible knowledge that is shared and developed through collaborative networks”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52" y="1895275"/>
            <a:ext cx="7458496" cy="26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0" y="4824700"/>
            <a:ext cx="55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Gallagher, </a:t>
            </a:r>
            <a:r>
              <a:rPr i="1" lang="en" sz="1100"/>
              <a:t>et al.</a:t>
            </a:r>
            <a:r>
              <a:rPr lang="en" sz="1100"/>
              <a:t> (2020) </a:t>
            </a:r>
            <a:r>
              <a:rPr i="1" lang="en" sz="1100"/>
              <a:t>NEE</a:t>
            </a:r>
            <a:endParaRPr i="1" sz="1100"/>
          </a:p>
        </p:txBody>
      </p:sp>
      <p:sp>
        <p:nvSpPr>
          <p:cNvPr id="77" name="Google Shape;77;p16"/>
          <p:cNvSpPr txBox="1"/>
          <p:nvPr/>
        </p:nvSpPr>
        <p:spPr>
          <a:xfrm>
            <a:off x="1061750" y="2006850"/>
            <a:ext cx="2323800" cy="651300"/>
          </a:xfrm>
          <a:prstGeom prst="rect">
            <a:avLst/>
          </a:prstGeom>
          <a:solidFill>
            <a:srgbClr val="C5E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Data</a:t>
            </a:r>
            <a:endParaRPr b="1"/>
          </a:p>
        </p:txBody>
      </p:sp>
      <p:sp>
        <p:nvSpPr>
          <p:cNvPr id="78" name="Google Shape;78;p16"/>
          <p:cNvSpPr txBox="1"/>
          <p:nvPr/>
        </p:nvSpPr>
        <p:spPr>
          <a:xfrm>
            <a:off x="5328950" y="2006850"/>
            <a:ext cx="2323800" cy="651300"/>
          </a:xfrm>
          <a:prstGeom prst="rect">
            <a:avLst/>
          </a:prstGeom>
          <a:solidFill>
            <a:srgbClr val="D7D7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Access</a:t>
            </a:r>
            <a:endParaRPr b="1"/>
          </a:p>
        </p:txBody>
      </p:sp>
      <p:sp>
        <p:nvSpPr>
          <p:cNvPr id="79" name="Google Shape;79;p16"/>
          <p:cNvSpPr txBox="1"/>
          <p:nvPr/>
        </p:nvSpPr>
        <p:spPr>
          <a:xfrm>
            <a:off x="5813750" y="2906425"/>
            <a:ext cx="2323800" cy="6513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Methods</a:t>
            </a:r>
            <a:endParaRPr b="1"/>
          </a:p>
        </p:txBody>
      </p:sp>
      <p:sp>
        <p:nvSpPr>
          <p:cNvPr id="80" name="Google Shape;80;p16"/>
          <p:cNvSpPr txBox="1"/>
          <p:nvPr/>
        </p:nvSpPr>
        <p:spPr>
          <a:xfrm>
            <a:off x="5328950" y="3759450"/>
            <a:ext cx="2323800" cy="651300"/>
          </a:xfrm>
          <a:prstGeom prst="rect">
            <a:avLst/>
          </a:prstGeom>
          <a:solidFill>
            <a:srgbClr val="FEE8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Peer Review</a:t>
            </a:r>
            <a:endParaRPr b="1"/>
          </a:p>
        </p:txBody>
      </p:sp>
      <p:sp>
        <p:nvSpPr>
          <p:cNvPr id="81" name="Google Shape;81;p16"/>
          <p:cNvSpPr txBox="1"/>
          <p:nvPr/>
        </p:nvSpPr>
        <p:spPr>
          <a:xfrm>
            <a:off x="604550" y="2921250"/>
            <a:ext cx="2323800" cy="651300"/>
          </a:xfrm>
          <a:prstGeom prst="rect">
            <a:avLst/>
          </a:prstGeom>
          <a:solidFill>
            <a:srgbClr val="BBCFD3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Resources</a:t>
            </a:r>
            <a:endParaRPr b="1"/>
          </a:p>
        </p:txBody>
      </p:sp>
      <p:sp>
        <p:nvSpPr>
          <p:cNvPr id="82" name="Google Shape;82;p16"/>
          <p:cNvSpPr txBox="1"/>
          <p:nvPr/>
        </p:nvSpPr>
        <p:spPr>
          <a:xfrm>
            <a:off x="974250" y="3759450"/>
            <a:ext cx="2411400" cy="6513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Source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What is Open Science?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Open Science: “transparent and accessible knowledge that is shared and developed through collaborative networks”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52" y="1895275"/>
            <a:ext cx="7458496" cy="26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0" y="4824700"/>
            <a:ext cx="55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Gallagher, </a:t>
            </a:r>
            <a:r>
              <a:rPr i="1" lang="en" sz="1100"/>
              <a:t>et al.</a:t>
            </a:r>
            <a:r>
              <a:rPr lang="en" sz="1100"/>
              <a:t> (2020) </a:t>
            </a:r>
            <a:r>
              <a:rPr i="1" lang="en" sz="1100"/>
              <a:t>NEE</a:t>
            </a:r>
            <a:endParaRPr i="1" sz="1100"/>
          </a:p>
        </p:txBody>
      </p:sp>
      <p:sp>
        <p:nvSpPr>
          <p:cNvPr id="91" name="Google Shape;91;p17"/>
          <p:cNvSpPr txBox="1"/>
          <p:nvPr/>
        </p:nvSpPr>
        <p:spPr>
          <a:xfrm>
            <a:off x="1061750" y="2006850"/>
            <a:ext cx="2323800" cy="651300"/>
          </a:xfrm>
          <a:prstGeom prst="rect">
            <a:avLst/>
          </a:prstGeom>
          <a:solidFill>
            <a:srgbClr val="C5E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Data</a:t>
            </a:r>
            <a:endParaRPr b="1"/>
          </a:p>
        </p:txBody>
      </p:sp>
      <p:sp>
        <p:nvSpPr>
          <p:cNvPr id="92" name="Google Shape;92;p17"/>
          <p:cNvSpPr txBox="1"/>
          <p:nvPr/>
        </p:nvSpPr>
        <p:spPr>
          <a:xfrm>
            <a:off x="5328950" y="2006850"/>
            <a:ext cx="2323800" cy="651300"/>
          </a:xfrm>
          <a:prstGeom prst="rect">
            <a:avLst/>
          </a:prstGeom>
          <a:solidFill>
            <a:srgbClr val="D7D7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Access</a:t>
            </a:r>
            <a:endParaRPr b="1"/>
          </a:p>
        </p:txBody>
      </p:sp>
      <p:sp>
        <p:nvSpPr>
          <p:cNvPr id="93" name="Google Shape;93;p17"/>
          <p:cNvSpPr txBox="1"/>
          <p:nvPr/>
        </p:nvSpPr>
        <p:spPr>
          <a:xfrm>
            <a:off x="5813750" y="2906425"/>
            <a:ext cx="2323800" cy="6513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Methods</a:t>
            </a:r>
            <a:endParaRPr b="1"/>
          </a:p>
        </p:txBody>
      </p:sp>
      <p:sp>
        <p:nvSpPr>
          <p:cNvPr id="94" name="Google Shape;94;p17"/>
          <p:cNvSpPr txBox="1"/>
          <p:nvPr/>
        </p:nvSpPr>
        <p:spPr>
          <a:xfrm>
            <a:off x="5328950" y="3759450"/>
            <a:ext cx="2323800" cy="651300"/>
          </a:xfrm>
          <a:prstGeom prst="rect">
            <a:avLst/>
          </a:prstGeom>
          <a:solidFill>
            <a:srgbClr val="FEE8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Peer Review</a:t>
            </a:r>
            <a:endParaRPr b="1"/>
          </a:p>
        </p:txBody>
      </p:sp>
      <p:sp>
        <p:nvSpPr>
          <p:cNvPr id="95" name="Google Shape;95;p17"/>
          <p:cNvSpPr txBox="1"/>
          <p:nvPr/>
        </p:nvSpPr>
        <p:spPr>
          <a:xfrm>
            <a:off x="604550" y="2921250"/>
            <a:ext cx="2323800" cy="651300"/>
          </a:xfrm>
          <a:prstGeom prst="rect">
            <a:avLst/>
          </a:prstGeom>
          <a:solidFill>
            <a:srgbClr val="BBCFD3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Resources</a:t>
            </a:r>
            <a:endParaRPr b="1"/>
          </a:p>
        </p:txBody>
      </p:sp>
      <p:sp>
        <p:nvSpPr>
          <p:cNvPr id="96" name="Google Shape;96;p17"/>
          <p:cNvSpPr txBox="1"/>
          <p:nvPr/>
        </p:nvSpPr>
        <p:spPr>
          <a:xfrm>
            <a:off x="974250" y="3759450"/>
            <a:ext cx="2411400" cy="6513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Source</a:t>
            </a:r>
            <a:endParaRPr b="1"/>
          </a:p>
        </p:txBody>
      </p:sp>
      <p:sp>
        <p:nvSpPr>
          <p:cNvPr id="97" name="Google Shape;97;p17"/>
          <p:cNvSpPr/>
          <p:nvPr/>
        </p:nvSpPr>
        <p:spPr>
          <a:xfrm rot="1635982">
            <a:off x="3884841" y="2807539"/>
            <a:ext cx="964578" cy="861667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 rot="3062">
            <a:off x="3949074" y="3006424"/>
            <a:ext cx="101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Collaboration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&amp; Inclusion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What is Open Science?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Open Science: “transparent and accessible knowledge that is shared and developed through collaborative networks”</a:t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52" y="1895275"/>
            <a:ext cx="7458496" cy="26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0" y="4824700"/>
            <a:ext cx="55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Gallagher, </a:t>
            </a:r>
            <a:r>
              <a:rPr i="1" lang="en" sz="1100"/>
              <a:t>et al.</a:t>
            </a:r>
            <a:r>
              <a:rPr lang="en" sz="1100"/>
              <a:t> (2020) </a:t>
            </a:r>
            <a:r>
              <a:rPr i="1" lang="en" sz="1100"/>
              <a:t>NEE</a:t>
            </a:r>
            <a:endParaRPr i="1" sz="1100"/>
          </a:p>
        </p:txBody>
      </p:sp>
      <p:sp>
        <p:nvSpPr>
          <p:cNvPr id="107" name="Google Shape;107;p18"/>
          <p:cNvSpPr txBox="1"/>
          <p:nvPr/>
        </p:nvSpPr>
        <p:spPr>
          <a:xfrm>
            <a:off x="1061750" y="2006850"/>
            <a:ext cx="2323800" cy="651300"/>
          </a:xfrm>
          <a:prstGeom prst="rect">
            <a:avLst/>
          </a:prstGeom>
          <a:solidFill>
            <a:srgbClr val="C5E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Data</a:t>
            </a:r>
            <a:endParaRPr b="1"/>
          </a:p>
        </p:txBody>
      </p:sp>
      <p:sp>
        <p:nvSpPr>
          <p:cNvPr id="108" name="Google Shape;108;p18"/>
          <p:cNvSpPr txBox="1"/>
          <p:nvPr/>
        </p:nvSpPr>
        <p:spPr>
          <a:xfrm>
            <a:off x="5328950" y="2006850"/>
            <a:ext cx="2323800" cy="651300"/>
          </a:xfrm>
          <a:prstGeom prst="rect">
            <a:avLst/>
          </a:prstGeom>
          <a:solidFill>
            <a:srgbClr val="D7D7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Access</a:t>
            </a:r>
            <a:endParaRPr b="1"/>
          </a:p>
        </p:txBody>
      </p:sp>
      <p:sp>
        <p:nvSpPr>
          <p:cNvPr id="109" name="Google Shape;109;p18"/>
          <p:cNvSpPr txBox="1"/>
          <p:nvPr/>
        </p:nvSpPr>
        <p:spPr>
          <a:xfrm>
            <a:off x="5813750" y="2906425"/>
            <a:ext cx="2323800" cy="6513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Methods</a:t>
            </a:r>
            <a:endParaRPr b="1"/>
          </a:p>
        </p:txBody>
      </p:sp>
      <p:sp>
        <p:nvSpPr>
          <p:cNvPr id="110" name="Google Shape;110;p18"/>
          <p:cNvSpPr txBox="1"/>
          <p:nvPr/>
        </p:nvSpPr>
        <p:spPr>
          <a:xfrm>
            <a:off x="5328950" y="3759450"/>
            <a:ext cx="2323800" cy="651300"/>
          </a:xfrm>
          <a:prstGeom prst="rect">
            <a:avLst/>
          </a:prstGeom>
          <a:solidFill>
            <a:srgbClr val="FEE8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Peer Review</a:t>
            </a:r>
            <a:endParaRPr b="1"/>
          </a:p>
        </p:txBody>
      </p:sp>
      <p:sp>
        <p:nvSpPr>
          <p:cNvPr id="111" name="Google Shape;111;p18"/>
          <p:cNvSpPr txBox="1"/>
          <p:nvPr/>
        </p:nvSpPr>
        <p:spPr>
          <a:xfrm>
            <a:off x="604550" y="2921250"/>
            <a:ext cx="2323800" cy="651300"/>
          </a:xfrm>
          <a:prstGeom prst="rect">
            <a:avLst/>
          </a:prstGeom>
          <a:solidFill>
            <a:srgbClr val="BBCFD3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Resources</a:t>
            </a:r>
            <a:endParaRPr b="1"/>
          </a:p>
        </p:txBody>
      </p:sp>
      <p:sp>
        <p:nvSpPr>
          <p:cNvPr id="112" name="Google Shape;112;p18"/>
          <p:cNvSpPr txBox="1"/>
          <p:nvPr/>
        </p:nvSpPr>
        <p:spPr>
          <a:xfrm>
            <a:off x="974250" y="3759450"/>
            <a:ext cx="2411400" cy="6513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Source</a:t>
            </a:r>
            <a:endParaRPr b="1"/>
          </a:p>
        </p:txBody>
      </p:sp>
      <p:sp>
        <p:nvSpPr>
          <p:cNvPr id="113" name="Google Shape;113;p18"/>
          <p:cNvSpPr/>
          <p:nvPr/>
        </p:nvSpPr>
        <p:spPr>
          <a:xfrm rot="1635982">
            <a:off x="3884841" y="2807539"/>
            <a:ext cx="964578" cy="861667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 rot="3062">
            <a:off x="3949074" y="3006424"/>
            <a:ext cx="101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Collaboration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&amp; Inclusion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818675" y="1890175"/>
            <a:ext cx="2644800" cy="84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5695475" y="2804575"/>
            <a:ext cx="2644800" cy="84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818675" y="3642775"/>
            <a:ext cx="2644800" cy="84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What is Open Science?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Open Science: “transparent and accessible knowledge that is shared and developed through collaborative networks”</a:t>
            </a:r>
            <a:endParaRPr/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52" y="1895275"/>
            <a:ext cx="7458496" cy="26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>
            <a:off x="0" y="4824700"/>
            <a:ext cx="55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Gallagher, </a:t>
            </a:r>
            <a:r>
              <a:rPr i="1" lang="en" sz="1100"/>
              <a:t>et al.</a:t>
            </a:r>
            <a:r>
              <a:rPr lang="en" sz="1100"/>
              <a:t> (2020) </a:t>
            </a:r>
            <a:r>
              <a:rPr i="1" lang="en" sz="1100"/>
              <a:t>NEE</a:t>
            </a:r>
            <a:endParaRPr i="1" sz="1100"/>
          </a:p>
        </p:txBody>
      </p:sp>
      <p:sp>
        <p:nvSpPr>
          <p:cNvPr id="126" name="Google Shape;126;p19"/>
          <p:cNvSpPr txBox="1"/>
          <p:nvPr/>
        </p:nvSpPr>
        <p:spPr>
          <a:xfrm>
            <a:off x="1061750" y="2006850"/>
            <a:ext cx="2323800" cy="651300"/>
          </a:xfrm>
          <a:prstGeom prst="rect">
            <a:avLst/>
          </a:prstGeom>
          <a:solidFill>
            <a:srgbClr val="C5E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Data</a:t>
            </a:r>
            <a:endParaRPr b="1"/>
          </a:p>
        </p:txBody>
      </p:sp>
      <p:sp>
        <p:nvSpPr>
          <p:cNvPr id="127" name="Google Shape;127;p19"/>
          <p:cNvSpPr txBox="1"/>
          <p:nvPr/>
        </p:nvSpPr>
        <p:spPr>
          <a:xfrm>
            <a:off x="5328950" y="2006850"/>
            <a:ext cx="2323800" cy="651300"/>
          </a:xfrm>
          <a:prstGeom prst="rect">
            <a:avLst/>
          </a:prstGeom>
          <a:solidFill>
            <a:srgbClr val="D7D7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Access</a:t>
            </a:r>
            <a:endParaRPr b="1"/>
          </a:p>
        </p:txBody>
      </p:sp>
      <p:sp>
        <p:nvSpPr>
          <p:cNvPr id="128" name="Google Shape;128;p19"/>
          <p:cNvSpPr txBox="1"/>
          <p:nvPr/>
        </p:nvSpPr>
        <p:spPr>
          <a:xfrm>
            <a:off x="5813750" y="2906425"/>
            <a:ext cx="2323800" cy="6513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Methods</a:t>
            </a:r>
            <a:endParaRPr b="1"/>
          </a:p>
        </p:txBody>
      </p:sp>
      <p:sp>
        <p:nvSpPr>
          <p:cNvPr id="129" name="Google Shape;129;p19"/>
          <p:cNvSpPr txBox="1"/>
          <p:nvPr/>
        </p:nvSpPr>
        <p:spPr>
          <a:xfrm>
            <a:off x="5328950" y="3759450"/>
            <a:ext cx="2323800" cy="651300"/>
          </a:xfrm>
          <a:prstGeom prst="rect">
            <a:avLst/>
          </a:prstGeom>
          <a:solidFill>
            <a:srgbClr val="FEE8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Peer Review</a:t>
            </a:r>
            <a:endParaRPr b="1"/>
          </a:p>
        </p:txBody>
      </p:sp>
      <p:sp>
        <p:nvSpPr>
          <p:cNvPr id="130" name="Google Shape;130;p19"/>
          <p:cNvSpPr txBox="1"/>
          <p:nvPr/>
        </p:nvSpPr>
        <p:spPr>
          <a:xfrm>
            <a:off x="604550" y="2921250"/>
            <a:ext cx="2323800" cy="651300"/>
          </a:xfrm>
          <a:prstGeom prst="rect">
            <a:avLst/>
          </a:prstGeom>
          <a:solidFill>
            <a:srgbClr val="BBCFD3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Resources</a:t>
            </a:r>
            <a:endParaRPr b="1"/>
          </a:p>
        </p:txBody>
      </p:sp>
      <p:sp>
        <p:nvSpPr>
          <p:cNvPr id="131" name="Google Shape;131;p19"/>
          <p:cNvSpPr txBox="1"/>
          <p:nvPr/>
        </p:nvSpPr>
        <p:spPr>
          <a:xfrm>
            <a:off x="974250" y="3759450"/>
            <a:ext cx="2411400" cy="6513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Source</a:t>
            </a:r>
            <a:endParaRPr b="1"/>
          </a:p>
        </p:txBody>
      </p:sp>
      <p:sp>
        <p:nvSpPr>
          <p:cNvPr id="132" name="Google Shape;132;p19"/>
          <p:cNvSpPr/>
          <p:nvPr/>
        </p:nvSpPr>
        <p:spPr>
          <a:xfrm rot="1635982">
            <a:off x="3884841" y="2807539"/>
            <a:ext cx="964578" cy="861667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 rot="3062">
            <a:off x="3949074" y="3006424"/>
            <a:ext cx="101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Collaboration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&amp; Inclusion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818675" y="1890175"/>
            <a:ext cx="2644800" cy="84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/>
        </p:nvSpPr>
        <p:spPr>
          <a:xfrm>
            <a:off x="0" y="4824700"/>
            <a:ext cx="55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opendatahandbook.org</a:t>
            </a:r>
            <a:endParaRPr i="1" sz="1100"/>
          </a:p>
        </p:txBody>
      </p:sp>
      <p:pic>
        <p:nvPicPr>
          <p:cNvPr id="140" name="Google Shape;140;p20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Open Data?</a:t>
            </a:r>
            <a:endParaRPr/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01625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Lora"/>
              <a:buChar char="●"/>
            </a:pPr>
            <a:r>
              <a:rPr b="1" lang="en" sz="1150">
                <a:solidFill>
                  <a:srgbClr val="333333"/>
                </a:solidFill>
                <a:highlight>
                  <a:srgbClr val="FFFFFF"/>
                </a:highlight>
              </a:rPr>
              <a:t>Available and Accessible: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the data must be </a:t>
            </a:r>
            <a:r>
              <a:rPr b="1" i="1" lang="en" sz="1150">
                <a:solidFill>
                  <a:srgbClr val="333333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available as a whole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and at no more than a reasonable reproduction cost, preferably by downloading over the internet. The data must also be available in a </a:t>
            </a:r>
            <a:r>
              <a:rPr b="1" i="1" lang="en" sz="1150">
                <a:solidFill>
                  <a:srgbClr val="333333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convenient and modifiable form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.</a:t>
            </a:r>
            <a:endParaRPr sz="1150">
              <a:solidFill>
                <a:srgbClr val="333333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33333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1625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Lora"/>
              <a:buChar char="●"/>
            </a:pPr>
            <a:r>
              <a:rPr b="1" lang="en" sz="1150">
                <a:solidFill>
                  <a:srgbClr val="333333"/>
                </a:solidFill>
                <a:highlight>
                  <a:srgbClr val="FFFFFF"/>
                </a:highlight>
              </a:rPr>
              <a:t>Reusable and Redistriable: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the data must be provided under terms that </a:t>
            </a:r>
            <a:r>
              <a:rPr b="1" i="1" lang="en" sz="1150">
                <a:solidFill>
                  <a:srgbClr val="333333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permit re-use and redistribution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including the intermixing with other datasets.</a:t>
            </a:r>
            <a:endParaRPr sz="1150">
              <a:solidFill>
                <a:srgbClr val="333333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33333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1625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Lora"/>
              <a:buChar char="●"/>
            </a:pPr>
            <a:r>
              <a:rPr b="1" lang="en" sz="1150">
                <a:solidFill>
                  <a:srgbClr val="333333"/>
                </a:solidFill>
                <a:highlight>
                  <a:srgbClr val="FFFFFF"/>
                </a:highlight>
              </a:rPr>
              <a:t>Universal Participation: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</a:t>
            </a:r>
            <a:r>
              <a:rPr b="1" i="1" lang="en" sz="1150">
                <a:solidFill>
                  <a:srgbClr val="333333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everyone must be able to use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, re-use and redistribute - there should be no discrimination against fields of endeavour or against persons or groups.</a:t>
            </a:r>
            <a:endParaRPr/>
          </a:p>
        </p:txBody>
      </p:sp>
      <p:sp>
        <p:nvSpPr>
          <p:cNvPr id="148" name="Google Shape;148;p21"/>
          <p:cNvSpPr txBox="1"/>
          <p:nvPr/>
        </p:nvSpPr>
        <p:spPr>
          <a:xfrm>
            <a:off x="0" y="4824700"/>
            <a:ext cx="55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opendatahandbook.org</a:t>
            </a:r>
            <a:endParaRPr i="1" sz="1100"/>
          </a:p>
        </p:txBody>
      </p:sp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Questions Need Global Participation</a:t>
            </a:r>
            <a:endParaRPr/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2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Loiseau, et al. (2020) </a:t>
            </a:r>
            <a:r>
              <a:rPr i="1" lang="en" sz="900"/>
              <a:t>Nature Comm; </a:t>
            </a:r>
            <a:r>
              <a:rPr lang="en" sz="900"/>
              <a:t>Diaz, </a:t>
            </a:r>
            <a:r>
              <a:rPr i="1" lang="en" sz="900"/>
              <a:t>et al.</a:t>
            </a:r>
            <a:r>
              <a:rPr lang="en" sz="900"/>
              <a:t> (2016) Nature.</a:t>
            </a:r>
            <a:endParaRPr sz="900"/>
          </a:p>
        </p:txBody>
      </p:sp>
      <p:pic>
        <p:nvPicPr>
          <p:cNvPr id="158" name="Google Shape;158;p22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2"/>
          <p:cNvPicPr preferRelativeResize="0"/>
          <p:nvPr/>
        </p:nvPicPr>
        <p:blipFill rotWithShape="1">
          <a:blip r:embed="rId4">
            <a:alphaModFix/>
          </a:blip>
          <a:srcRect b="32816" l="49570" r="4492" t="29188"/>
          <a:stretch/>
        </p:blipFill>
        <p:spPr>
          <a:xfrm>
            <a:off x="122525" y="1913600"/>
            <a:ext cx="5174026" cy="240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/>
          <p:cNvPicPr preferRelativeResize="0"/>
          <p:nvPr/>
        </p:nvPicPr>
        <p:blipFill rotWithShape="1">
          <a:blip r:embed="rId5">
            <a:alphaModFix/>
          </a:blip>
          <a:srcRect b="33576" l="0" r="0" t="0"/>
          <a:stretch/>
        </p:blipFill>
        <p:spPr>
          <a:xfrm>
            <a:off x="5296550" y="1226825"/>
            <a:ext cx="3692324" cy="268985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/>
          <p:nvPr/>
        </p:nvSpPr>
        <p:spPr>
          <a:xfrm>
            <a:off x="5296550" y="3916675"/>
            <a:ext cx="331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Global spectrum of plant form and function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Data Enhance Reproducibility</a:t>
            </a:r>
            <a:endParaRPr/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3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Baker</a:t>
            </a:r>
            <a:r>
              <a:rPr i="1" lang="en" sz="900"/>
              <a:t>.</a:t>
            </a:r>
            <a:r>
              <a:rPr lang="en" sz="900"/>
              <a:t> (2016) Nature.</a:t>
            </a:r>
            <a:endParaRPr sz="900"/>
          </a:p>
        </p:txBody>
      </p:sp>
      <p:pic>
        <p:nvPicPr>
          <p:cNvPr id="170" name="Google Shape;170;p23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8100" y="1050925"/>
            <a:ext cx="403511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Ethical Responsibilities</a:t>
            </a:r>
            <a:endParaRPr/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  <a:highlight>
                  <a:srgbClr val="FFFFFF"/>
                </a:highlight>
              </a:rPr>
              <a:t>Publicly funded data are public property</a:t>
            </a:r>
            <a:endParaRPr b="1"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  <a:highlight>
                  <a:srgbClr val="FFFFFF"/>
                </a:highlight>
              </a:rPr>
              <a:t>Transparency is a key part of science</a:t>
            </a:r>
            <a:endParaRPr b="1"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  <a:highlight>
                  <a:srgbClr val="FFFFFF"/>
                </a:highlight>
              </a:rPr>
              <a:t>Open Data increase inclusion</a:t>
            </a:r>
            <a:endParaRPr b="1"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  <a:highlight>
                  <a:srgbClr val="FFFFFF"/>
                </a:highlight>
              </a:rPr>
              <a:t>Open Data save money!</a:t>
            </a:r>
            <a:endParaRPr b="1"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Piwowar, et al. (2011) </a:t>
            </a:r>
            <a:r>
              <a:rPr i="1" lang="en" sz="900"/>
              <a:t>Nature</a:t>
            </a:r>
            <a:endParaRPr i="1" sz="900"/>
          </a:p>
        </p:txBody>
      </p:sp>
      <p:pic>
        <p:nvPicPr>
          <p:cNvPr id="180" name="Google Shape;180;p24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4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Data Improve Citations</a:t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Piwowar, </a:t>
            </a:r>
            <a:r>
              <a:rPr i="1" lang="en" sz="900"/>
              <a:t>et al.</a:t>
            </a:r>
            <a:r>
              <a:rPr lang="en" sz="900"/>
              <a:t> (2007) </a:t>
            </a:r>
            <a:r>
              <a:rPr i="1" lang="en" sz="900"/>
              <a:t>PLOSONE</a:t>
            </a:r>
            <a:endParaRPr sz="900"/>
          </a:p>
        </p:txBody>
      </p:sp>
      <p:pic>
        <p:nvPicPr>
          <p:cNvPr id="188" name="Google Shape;188;p25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6675" y="978825"/>
            <a:ext cx="4055954" cy="3541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Data Improve Citations and Publications</a:t>
            </a:r>
            <a:endParaRPr/>
          </a:p>
        </p:txBody>
      </p:sp>
      <p:sp>
        <p:nvSpPr>
          <p:cNvPr id="196" name="Google Shape;196;p26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Piwowar, </a:t>
            </a:r>
            <a:r>
              <a:rPr i="1" lang="en" sz="900"/>
              <a:t>et al.</a:t>
            </a:r>
            <a:r>
              <a:rPr lang="en" sz="900"/>
              <a:t> (2007) </a:t>
            </a:r>
            <a:r>
              <a:rPr i="1" lang="en" sz="900"/>
              <a:t>PLOSONE</a:t>
            </a:r>
            <a:endParaRPr sz="900"/>
          </a:p>
        </p:txBody>
      </p:sp>
      <p:pic>
        <p:nvPicPr>
          <p:cNvPr id="197" name="Google Shape;197;p26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6675" y="978825"/>
            <a:ext cx="4055954" cy="354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/>
          <p:cNvPicPr preferRelativeResize="0"/>
          <p:nvPr/>
        </p:nvPicPr>
        <p:blipFill rotWithShape="1">
          <a:blip r:embed="rId5">
            <a:alphaModFix/>
          </a:blip>
          <a:srcRect b="32633" l="33207" r="14480" t="7399"/>
          <a:stretch/>
        </p:blipFill>
        <p:spPr>
          <a:xfrm>
            <a:off x="5436801" y="978825"/>
            <a:ext cx="3483173" cy="224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share data</a:t>
            </a:r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Keller, </a:t>
            </a:r>
            <a:r>
              <a:rPr i="1" lang="en" sz="900"/>
              <a:t>et al.</a:t>
            </a:r>
            <a:r>
              <a:rPr lang="en" sz="900"/>
              <a:t> (2022) </a:t>
            </a:r>
            <a:r>
              <a:rPr i="1" lang="en" sz="900"/>
              <a:t>MEE</a:t>
            </a:r>
            <a:endParaRPr sz="900"/>
          </a:p>
        </p:txBody>
      </p:sp>
      <p:pic>
        <p:nvPicPr>
          <p:cNvPr id="207" name="Google Shape;207;p27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333333"/>
                </a:solidFill>
                <a:highlight>
                  <a:srgbClr val="FFFFFF"/>
                </a:highlight>
              </a:rPr>
              <a:t>Range of options</a:t>
            </a:r>
            <a:endParaRPr b="1"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share data</a:t>
            </a:r>
            <a:endParaRPr/>
          </a:p>
        </p:txBody>
      </p:sp>
      <p:sp>
        <p:nvSpPr>
          <p:cNvPr id="215" name="Google Shape;215;p28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Keller, </a:t>
            </a:r>
            <a:r>
              <a:rPr i="1" lang="en" sz="900"/>
              <a:t>et al.</a:t>
            </a:r>
            <a:r>
              <a:rPr lang="en" sz="900"/>
              <a:t> (2022) </a:t>
            </a:r>
            <a:r>
              <a:rPr i="1" lang="en" sz="900"/>
              <a:t>MEE</a:t>
            </a:r>
            <a:endParaRPr sz="900"/>
          </a:p>
        </p:txBody>
      </p:sp>
      <p:pic>
        <p:nvPicPr>
          <p:cNvPr id="216" name="Google Shape;216;p28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333333"/>
                </a:solidFill>
                <a:highlight>
                  <a:srgbClr val="FFFFFF"/>
                </a:highlight>
              </a:rPr>
              <a:t>Range of options</a:t>
            </a:r>
            <a:endParaRPr b="1"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28"/>
          <p:cNvPicPr preferRelativeResize="0"/>
          <p:nvPr/>
        </p:nvPicPr>
        <p:blipFill rotWithShape="1">
          <a:blip r:embed="rId4">
            <a:alphaModFix/>
          </a:blip>
          <a:srcRect b="33579" l="7925" r="9348" t="8264"/>
          <a:stretch/>
        </p:blipFill>
        <p:spPr>
          <a:xfrm>
            <a:off x="122526" y="2191578"/>
            <a:ext cx="5105549" cy="20188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share data</a:t>
            </a:r>
            <a:endParaRPr/>
          </a:p>
        </p:txBody>
      </p:sp>
      <p:sp>
        <p:nvSpPr>
          <p:cNvPr id="225" name="Google Shape;225;p29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Keller, </a:t>
            </a:r>
            <a:r>
              <a:rPr i="1" lang="en" sz="900"/>
              <a:t>et al.</a:t>
            </a:r>
            <a:r>
              <a:rPr lang="en" sz="900"/>
              <a:t> (2022) </a:t>
            </a:r>
            <a:r>
              <a:rPr i="1" lang="en" sz="900"/>
              <a:t>MEE</a:t>
            </a:r>
            <a:endParaRPr sz="900"/>
          </a:p>
        </p:txBody>
      </p:sp>
      <p:pic>
        <p:nvPicPr>
          <p:cNvPr id="226" name="Google Shape;226;p29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9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333333"/>
                </a:solidFill>
                <a:highlight>
                  <a:srgbClr val="FFFFFF"/>
                </a:highlight>
              </a:rPr>
              <a:t>Range of options</a:t>
            </a:r>
            <a:endParaRPr b="1"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29"/>
          <p:cNvPicPr preferRelativeResize="0"/>
          <p:nvPr/>
        </p:nvPicPr>
        <p:blipFill rotWithShape="1">
          <a:blip r:embed="rId4">
            <a:alphaModFix/>
          </a:blip>
          <a:srcRect b="33579" l="7925" r="9348" t="8264"/>
          <a:stretch/>
        </p:blipFill>
        <p:spPr>
          <a:xfrm>
            <a:off x="122526" y="2191578"/>
            <a:ext cx="5105549" cy="20188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0" name="Google Shape;230;p29"/>
          <p:cNvPicPr preferRelativeResize="0"/>
          <p:nvPr/>
        </p:nvPicPr>
        <p:blipFill rotWithShape="1">
          <a:blip r:embed="rId5">
            <a:alphaModFix/>
          </a:blip>
          <a:srcRect b="15376" l="0" r="0" t="0"/>
          <a:stretch/>
        </p:blipFill>
        <p:spPr>
          <a:xfrm>
            <a:off x="2336925" y="1427025"/>
            <a:ext cx="5220322" cy="24848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share data</a:t>
            </a:r>
            <a:endParaRPr/>
          </a:p>
        </p:txBody>
      </p:sp>
      <p:sp>
        <p:nvSpPr>
          <p:cNvPr id="236" name="Google Shape;236;p30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Keller, </a:t>
            </a:r>
            <a:r>
              <a:rPr i="1" lang="en" sz="900"/>
              <a:t>et al.</a:t>
            </a:r>
            <a:r>
              <a:rPr lang="en" sz="900"/>
              <a:t> (2022) </a:t>
            </a:r>
            <a:r>
              <a:rPr i="1" lang="en" sz="900"/>
              <a:t>MEE</a:t>
            </a:r>
            <a:endParaRPr sz="900"/>
          </a:p>
        </p:txBody>
      </p:sp>
      <p:pic>
        <p:nvPicPr>
          <p:cNvPr id="237" name="Google Shape;237;p30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333333"/>
                </a:solidFill>
                <a:highlight>
                  <a:srgbClr val="FFFFFF"/>
                </a:highlight>
              </a:rPr>
              <a:t>Range of options</a:t>
            </a:r>
            <a:endParaRPr b="1"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30"/>
          <p:cNvPicPr preferRelativeResize="0"/>
          <p:nvPr/>
        </p:nvPicPr>
        <p:blipFill rotWithShape="1">
          <a:blip r:embed="rId4">
            <a:alphaModFix/>
          </a:blip>
          <a:srcRect b="33579" l="7925" r="9348" t="8264"/>
          <a:stretch/>
        </p:blipFill>
        <p:spPr>
          <a:xfrm>
            <a:off x="122526" y="2191578"/>
            <a:ext cx="5105549" cy="20188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1" name="Google Shape;241;p30"/>
          <p:cNvPicPr preferRelativeResize="0"/>
          <p:nvPr/>
        </p:nvPicPr>
        <p:blipFill rotWithShape="1">
          <a:blip r:embed="rId5">
            <a:alphaModFix/>
          </a:blip>
          <a:srcRect b="15376" l="0" r="0" t="0"/>
          <a:stretch/>
        </p:blipFill>
        <p:spPr>
          <a:xfrm>
            <a:off x="2336925" y="1427025"/>
            <a:ext cx="5220322" cy="24848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2" name="Google Shape;242;p30"/>
          <p:cNvPicPr preferRelativeResize="0"/>
          <p:nvPr/>
        </p:nvPicPr>
        <p:blipFill rotWithShape="1">
          <a:blip r:embed="rId6">
            <a:alphaModFix/>
          </a:blip>
          <a:srcRect b="37849" l="10013" r="10005" t="0"/>
          <a:stretch/>
        </p:blipFill>
        <p:spPr>
          <a:xfrm>
            <a:off x="1511862" y="1776125"/>
            <a:ext cx="6120288" cy="26751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share data</a:t>
            </a:r>
            <a:endParaRPr/>
          </a:p>
        </p:txBody>
      </p:sp>
      <p:sp>
        <p:nvSpPr>
          <p:cNvPr id="248" name="Google Shape;248;p31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Keller, </a:t>
            </a:r>
            <a:r>
              <a:rPr i="1" lang="en" sz="900"/>
              <a:t>et al.</a:t>
            </a:r>
            <a:r>
              <a:rPr lang="en" sz="900"/>
              <a:t> (2022) </a:t>
            </a:r>
            <a:r>
              <a:rPr i="1" lang="en" sz="900"/>
              <a:t>MEE</a:t>
            </a:r>
            <a:endParaRPr sz="900"/>
          </a:p>
        </p:txBody>
      </p:sp>
      <p:pic>
        <p:nvPicPr>
          <p:cNvPr id="249" name="Google Shape;249;p31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1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333333"/>
                </a:solidFill>
                <a:highlight>
                  <a:srgbClr val="FFFFFF"/>
                </a:highlight>
              </a:rPr>
              <a:t>Range of options</a:t>
            </a:r>
            <a:endParaRPr b="1"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31"/>
          <p:cNvPicPr preferRelativeResize="0"/>
          <p:nvPr/>
        </p:nvPicPr>
        <p:blipFill rotWithShape="1">
          <a:blip r:embed="rId4">
            <a:alphaModFix/>
          </a:blip>
          <a:srcRect b="33579" l="7925" r="9348" t="8264"/>
          <a:stretch/>
        </p:blipFill>
        <p:spPr>
          <a:xfrm>
            <a:off x="122526" y="2191578"/>
            <a:ext cx="5105549" cy="20188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3" name="Google Shape;253;p31"/>
          <p:cNvPicPr preferRelativeResize="0"/>
          <p:nvPr/>
        </p:nvPicPr>
        <p:blipFill rotWithShape="1">
          <a:blip r:embed="rId5">
            <a:alphaModFix/>
          </a:blip>
          <a:srcRect b="15376" l="0" r="0" t="0"/>
          <a:stretch/>
        </p:blipFill>
        <p:spPr>
          <a:xfrm>
            <a:off x="2336925" y="1427025"/>
            <a:ext cx="5220322" cy="24848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4" name="Google Shape;254;p31"/>
          <p:cNvPicPr preferRelativeResize="0"/>
          <p:nvPr/>
        </p:nvPicPr>
        <p:blipFill rotWithShape="1">
          <a:blip r:embed="rId6">
            <a:alphaModFix/>
          </a:blip>
          <a:srcRect b="37849" l="10013" r="10005" t="0"/>
          <a:stretch/>
        </p:blipFill>
        <p:spPr>
          <a:xfrm>
            <a:off x="1511862" y="1776125"/>
            <a:ext cx="6120288" cy="26751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5" name="Google Shape;255;p31"/>
          <p:cNvPicPr preferRelativeResize="0"/>
          <p:nvPr/>
        </p:nvPicPr>
        <p:blipFill rotWithShape="1">
          <a:blip r:embed="rId7">
            <a:alphaModFix/>
          </a:blip>
          <a:srcRect b="45501" l="9870" r="19874" t="0"/>
          <a:stretch/>
        </p:blipFill>
        <p:spPr>
          <a:xfrm>
            <a:off x="3164750" y="1170150"/>
            <a:ext cx="6424123" cy="28031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share data</a:t>
            </a:r>
            <a:endParaRPr/>
          </a:p>
        </p:txBody>
      </p:sp>
      <p:sp>
        <p:nvSpPr>
          <p:cNvPr id="261" name="Google Shape;261;p32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Keller, </a:t>
            </a:r>
            <a:r>
              <a:rPr i="1" lang="en" sz="900"/>
              <a:t>et al.</a:t>
            </a:r>
            <a:r>
              <a:rPr lang="en" sz="900"/>
              <a:t> (2022) </a:t>
            </a:r>
            <a:r>
              <a:rPr i="1" lang="en" sz="900"/>
              <a:t>MEE</a:t>
            </a:r>
            <a:endParaRPr sz="900"/>
          </a:p>
        </p:txBody>
      </p:sp>
      <p:pic>
        <p:nvPicPr>
          <p:cNvPr id="262" name="Google Shape;262;p32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2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333333"/>
                </a:solidFill>
                <a:highlight>
                  <a:srgbClr val="FFFFFF"/>
                </a:highlight>
              </a:rPr>
              <a:t>Range of options</a:t>
            </a:r>
            <a:endParaRPr b="1"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pic>
        <p:nvPicPr>
          <p:cNvPr id="265" name="Google Shape;265;p32"/>
          <p:cNvPicPr preferRelativeResize="0"/>
          <p:nvPr/>
        </p:nvPicPr>
        <p:blipFill rotWithShape="1">
          <a:blip r:embed="rId4">
            <a:alphaModFix/>
          </a:blip>
          <a:srcRect b="33579" l="7925" r="9348" t="8264"/>
          <a:stretch/>
        </p:blipFill>
        <p:spPr>
          <a:xfrm>
            <a:off x="122526" y="2191578"/>
            <a:ext cx="5105549" cy="20188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6" name="Google Shape;266;p32"/>
          <p:cNvPicPr preferRelativeResize="0"/>
          <p:nvPr/>
        </p:nvPicPr>
        <p:blipFill rotWithShape="1">
          <a:blip r:embed="rId5">
            <a:alphaModFix/>
          </a:blip>
          <a:srcRect b="15376" l="0" r="0" t="0"/>
          <a:stretch/>
        </p:blipFill>
        <p:spPr>
          <a:xfrm>
            <a:off x="2336925" y="1427025"/>
            <a:ext cx="5220322" cy="24848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7" name="Google Shape;267;p32"/>
          <p:cNvPicPr preferRelativeResize="0"/>
          <p:nvPr/>
        </p:nvPicPr>
        <p:blipFill rotWithShape="1">
          <a:blip r:embed="rId6">
            <a:alphaModFix/>
          </a:blip>
          <a:srcRect b="37849" l="10013" r="10005" t="0"/>
          <a:stretch/>
        </p:blipFill>
        <p:spPr>
          <a:xfrm>
            <a:off x="1511862" y="1776125"/>
            <a:ext cx="6120288" cy="26751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8" name="Google Shape;268;p32"/>
          <p:cNvPicPr preferRelativeResize="0"/>
          <p:nvPr/>
        </p:nvPicPr>
        <p:blipFill rotWithShape="1">
          <a:blip r:embed="rId7">
            <a:alphaModFix/>
          </a:blip>
          <a:srcRect b="45501" l="9870" r="19874" t="0"/>
          <a:stretch/>
        </p:blipFill>
        <p:spPr>
          <a:xfrm>
            <a:off x="3164750" y="1170150"/>
            <a:ext cx="6424123" cy="28031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9" name="Google Shape;269;p32"/>
          <p:cNvPicPr preferRelativeResize="0"/>
          <p:nvPr/>
        </p:nvPicPr>
        <p:blipFill rotWithShape="1">
          <a:blip r:embed="rId8">
            <a:alphaModFix/>
          </a:blip>
          <a:srcRect b="9755" l="0" r="12357" t="0"/>
          <a:stretch/>
        </p:blipFill>
        <p:spPr>
          <a:xfrm>
            <a:off x="2442450" y="329925"/>
            <a:ext cx="5522702" cy="31989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share data</a:t>
            </a:r>
            <a:endParaRPr/>
          </a:p>
        </p:txBody>
      </p:sp>
      <p:sp>
        <p:nvSpPr>
          <p:cNvPr id="275" name="Google Shape;275;p33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Keller, </a:t>
            </a:r>
            <a:r>
              <a:rPr i="1" lang="en" sz="900"/>
              <a:t>et al.</a:t>
            </a:r>
            <a:r>
              <a:rPr lang="en" sz="900"/>
              <a:t> (2022) </a:t>
            </a:r>
            <a:r>
              <a:rPr i="1" lang="en" sz="900"/>
              <a:t>MEE</a:t>
            </a:r>
            <a:endParaRPr sz="900"/>
          </a:p>
        </p:txBody>
      </p:sp>
      <p:pic>
        <p:nvPicPr>
          <p:cNvPr id="276" name="Google Shape;276;p33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3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333333"/>
                </a:solidFill>
                <a:highlight>
                  <a:srgbClr val="FFFFFF"/>
                </a:highlight>
              </a:rPr>
              <a:t>Range of options</a:t>
            </a:r>
            <a:endParaRPr b="1"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33"/>
          <p:cNvPicPr preferRelativeResize="0"/>
          <p:nvPr/>
        </p:nvPicPr>
        <p:blipFill rotWithShape="1">
          <a:blip r:embed="rId4">
            <a:alphaModFix/>
          </a:blip>
          <a:srcRect b="33579" l="7925" r="9348" t="8264"/>
          <a:stretch/>
        </p:blipFill>
        <p:spPr>
          <a:xfrm>
            <a:off x="122526" y="2191578"/>
            <a:ext cx="5105549" cy="20188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0" name="Google Shape;280;p33"/>
          <p:cNvPicPr preferRelativeResize="0"/>
          <p:nvPr/>
        </p:nvPicPr>
        <p:blipFill rotWithShape="1">
          <a:blip r:embed="rId5">
            <a:alphaModFix/>
          </a:blip>
          <a:srcRect b="15376" l="0" r="0" t="0"/>
          <a:stretch/>
        </p:blipFill>
        <p:spPr>
          <a:xfrm>
            <a:off x="2336925" y="1427025"/>
            <a:ext cx="5220322" cy="24848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1" name="Google Shape;281;p33"/>
          <p:cNvPicPr preferRelativeResize="0"/>
          <p:nvPr/>
        </p:nvPicPr>
        <p:blipFill rotWithShape="1">
          <a:blip r:embed="rId6">
            <a:alphaModFix/>
          </a:blip>
          <a:srcRect b="37849" l="10013" r="10005" t="0"/>
          <a:stretch/>
        </p:blipFill>
        <p:spPr>
          <a:xfrm>
            <a:off x="1511862" y="1776125"/>
            <a:ext cx="6120288" cy="26751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2" name="Google Shape;282;p33"/>
          <p:cNvPicPr preferRelativeResize="0"/>
          <p:nvPr/>
        </p:nvPicPr>
        <p:blipFill rotWithShape="1">
          <a:blip r:embed="rId7">
            <a:alphaModFix/>
          </a:blip>
          <a:srcRect b="45501" l="9870" r="19874" t="0"/>
          <a:stretch/>
        </p:blipFill>
        <p:spPr>
          <a:xfrm>
            <a:off x="3164750" y="1170150"/>
            <a:ext cx="6424123" cy="28031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3" name="Google Shape;283;p33"/>
          <p:cNvPicPr preferRelativeResize="0"/>
          <p:nvPr/>
        </p:nvPicPr>
        <p:blipFill rotWithShape="1">
          <a:blip r:embed="rId8">
            <a:alphaModFix/>
          </a:blip>
          <a:srcRect b="9755" l="0" r="12357" t="0"/>
          <a:stretch/>
        </p:blipFill>
        <p:spPr>
          <a:xfrm>
            <a:off x="2442450" y="329925"/>
            <a:ext cx="5522702" cy="31989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4" name="Google Shape;284;p33"/>
          <p:cNvSpPr/>
          <p:nvPr/>
        </p:nvSpPr>
        <p:spPr>
          <a:xfrm rot="-605781">
            <a:off x="2274054" y="1527238"/>
            <a:ext cx="5036392" cy="1342858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Best Option</a:t>
            </a:r>
            <a:r>
              <a:rPr lang="en" sz="1700"/>
              <a:t>:  </a:t>
            </a:r>
            <a:r>
              <a:rPr b="1" lang="en" sz="1700"/>
              <a:t>L</a:t>
            </a:r>
            <a:r>
              <a:rPr lang="en" sz="1700"/>
              <a:t>ots </a:t>
            </a:r>
            <a:r>
              <a:rPr b="1" lang="en" sz="1700"/>
              <a:t>O</a:t>
            </a:r>
            <a:r>
              <a:rPr lang="en" sz="1700"/>
              <a:t>f </a:t>
            </a:r>
            <a:r>
              <a:rPr b="1" lang="en" sz="1700"/>
              <a:t>C</a:t>
            </a:r>
            <a:r>
              <a:rPr lang="en" sz="1700"/>
              <a:t>opies </a:t>
            </a:r>
            <a:r>
              <a:rPr b="1" lang="en" sz="1700"/>
              <a:t>K</a:t>
            </a:r>
            <a:r>
              <a:rPr lang="en" sz="1700"/>
              <a:t>ept </a:t>
            </a:r>
            <a:r>
              <a:rPr b="1" lang="en" sz="1700"/>
              <a:t>S</a:t>
            </a:r>
            <a:r>
              <a:rPr lang="en" sz="1700"/>
              <a:t>ecurely (</a:t>
            </a:r>
            <a:r>
              <a:rPr b="1" lang="en" sz="1700"/>
              <a:t>LOCKS</a:t>
            </a:r>
            <a:r>
              <a:rPr lang="en" sz="1700"/>
              <a:t>)</a:t>
            </a:r>
            <a:endParaRPr sz="1700"/>
          </a:p>
          <a:p>
            <a:pPr indent="-336550" lvl="0" marL="457200" rtl="0" algn="ctr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Reduces risk of loss</a:t>
            </a:r>
            <a:endParaRPr sz="1700"/>
          </a:p>
          <a:p>
            <a:pPr indent="-336550" lvl="0" marL="457200" rtl="0" algn="ctr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Increases likelihood people find it (and cite it)</a:t>
            </a:r>
            <a:endParaRPr sz="1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What is Open Science?</a:t>
            </a:r>
            <a:endParaRPr/>
          </a:p>
        </p:txBody>
      </p:sp>
      <p:sp>
        <p:nvSpPr>
          <p:cNvPr id="290" name="Google Shape;29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Open Science: “transparent and accessible knowledge that is shared and developed through collaborative networks”</a:t>
            </a:r>
            <a:endParaRPr/>
          </a:p>
        </p:txBody>
      </p:sp>
      <p:pic>
        <p:nvPicPr>
          <p:cNvPr id="291" name="Google Shape;29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52" y="1895275"/>
            <a:ext cx="7458496" cy="26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4"/>
          <p:cNvSpPr txBox="1"/>
          <p:nvPr/>
        </p:nvSpPr>
        <p:spPr>
          <a:xfrm>
            <a:off x="0" y="4824700"/>
            <a:ext cx="55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Gallagher, </a:t>
            </a:r>
            <a:r>
              <a:rPr i="1" lang="en" sz="1100"/>
              <a:t>et al.</a:t>
            </a:r>
            <a:r>
              <a:rPr lang="en" sz="1100"/>
              <a:t> (2020) </a:t>
            </a:r>
            <a:r>
              <a:rPr i="1" lang="en" sz="1100"/>
              <a:t>NEE</a:t>
            </a:r>
            <a:endParaRPr i="1" sz="1100"/>
          </a:p>
        </p:txBody>
      </p:sp>
      <p:sp>
        <p:nvSpPr>
          <p:cNvPr id="293" name="Google Shape;293;p34"/>
          <p:cNvSpPr txBox="1"/>
          <p:nvPr/>
        </p:nvSpPr>
        <p:spPr>
          <a:xfrm>
            <a:off x="1061750" y="2006850"/>
            <a:ext cx="2323800" cy="651300"/>
          </a:xfrm>
          <a:prstGeom prst="rect">
            <a:avLst/>
          </a:prstGeom>
          <a:solidFill>
            <a:srgbClr val="C5E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Data</a:t>
            </a:r>
            <a:endParaRPr b="1"/>
          </a:p>
        </p:txBody>
      </p:sp>
      <p:sp>
        <p:nvSpPr>
          <p:cNvPr id="294" name="Google Shape;294;p34"/>
          <p:cNvSpPr txBox="1"/>
          <p:nvPr/>
        </p:nvSpPr>
        <p:spPr>
          <a:xfrm>
            <a:off x="5328950" y="2006850"/>
            <a:ext cx="2323800" cy="651300"/>
          </a:xfrm>
          <a:prstGeom prst="rect">
            <a:avLst/>
          </a:prstGeom>
          <a:solidFill>
            <a:srgbClr val="D7D7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Access</a:t>
            </a:r>
            <a:endParaRPr b="1"/>
          </a:p>
        </p:txBody>
      </p:sp>
      <p:sp>
        <p:nvSpPr>
          <p:cNvPr id="295" name="Google Shape;295;p34"/>
          <p:cNvSpPr txBox="1"/>
          <p:nvPr/>
        </p:nvSpPr>
        <p:spPr>
          <a:xfrm>
            <a:off x="5813750" y="2906425"/>
            <a:ext cx="2323800" cy="6513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Methods</a:t>
            </a:r>
            <a:endParaRPr b="1"/>
          </a:p>
        </p:txBody>
      </p:sp>
      <p:sp>
        <p:nvSpPr>
          <p:cNvPr id="296" name="Google Shape;296;p34"/>
          <p:cNvSpPr txBox="1"/>
          <p:nvPr/>
        </p:nvSpPr>
        <p:spPr>
          <a:xfrm>
            <a:off x="5328950" y="3759450"/>
            <a:ext cx="2323800" cy="651300"/>
          </a:xfrm>
          <a:prstGeom prst="rect">
            <a:avLst/>
          </a:prstGeom>
          <a:solidFill>
            <a:srgbClr val="FEE8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Peer Review</a:t>
            </a:r>
            <a:endParaRPr b="1"/>
          </a:p>
        </p:txBody>
      </p:sp>
      <p:sp>
        <p:nvSpPr>
          <p:cNvPr id="297" name="Google Shape;297;p34"/>
          <p:cNvSpPr txBox="1"/>
          <p:nvPr/>
        </p:nvSpPr>
        <p:spPr>
          <a:xfrm>
            <a:off x="604550" y="2921250"/>
            <a:ext cx="2323800" cy="651300"/>
          </a:xfrm>
          <a:prstGeom prst="rect">
            <a:avLst/>
          </a:prstGeom>
          <a:solidFill>
            <a:srgbClr val="BBCFD3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Resources</a:t>
            </a:r>
            <a:endParaRPr b="1"/>
          </a:p>
        </p:txBody>
      </p:sp>
      <p:sp>
        <p:nvSpPr>
          <p:cNvPr id="298" name="Google Shape;298;p34"/>
          <p:cNvSpPr txBox="1"/>
          <p:nvPr/>
        </p:nvSpPr>
        <p:spPr>
          <a:xfrm>
            <a:off x="974250" y="3759450"/>
            <a:ext cx="2411400" cy="6513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Source</a:t>
            </a:r>
            <a:endParaRPr b="1"/>
          </a:p>
        </p:txBody>
      </p:sp>
      <p:sp>
        <p:nvSpPr>
          <p:cNvPr id="299" name="Google Shape;299;p34"/>
          <p:cNvSpPr/>
          <p:nvPr/>
        </p:nvSpPr>
        <p:spPr>
          <a:xfrm rot="1635982">
            <a:off x="3884841" y="2807539"/>
            <a:ext cx="964578" cy="861667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4"/>
          <p:cNvSpPr txBox="1"/>
          <p:nvPr/>
        </p:nvSpPr>
        <p:spPr>
          <a:xfrm rot="3062">
            <a:off x="3949074" y="3006424"/>
            <a:ext cx="101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Collaboration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&amp; Inclusion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01" name="Google Shape;301;p34"/>
          <p:cNvSpPr/>
          <p:nvPr/>
        </p:nvSpPr>
        <p:spPr>
          <a:xfrm>
            <a:off x="818675" y="1890175"/>
            <a:ext cx="2644800" cy="84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What is Open Science?</a:t>
            </a:r>
            <a:endParaRPr/>
          </a:p>
        </p:txBody>
      </p:sp>
      <p:sp>
        <p:nvSpPr>
          <p:cNvPr id="307" name="Google Shape;30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Open Science: “transparent and accessible knowledge that is shared and developed through collaborative networks”</a:t>
            </a:r>
            <a:endParaRPr/>
          </a:p>
        </p:txBody>
      </p:sp>
      <p:pic>
        <p:nvPicPr>
          <p:cNvPr id="308" name="Google Shape;3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52" y="1895275"/>
            <a:ext cx="7458496" cy="26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5"/>
          <p:cNvSpPr txBox="1"/>
          <p:nvPr/>
        </p:nvSpPr>
        <p:spPr>
          <a:xfrm>
            <a:off x="0" y="4824700"/>
            <a:ext cx="55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Gallagher, </a:t>
            </a:r>
            <a:r>
              <a:rPr i="1" lang="en" sz="1100"/>
              <a:t>et al.</a:t>
            </a:r>
            <a:r>
              <a:rPr lang="en" sz="1100"/>
              <a:t> (2020) </a:t>
            </a:r>
            <a:r>
              <a:rPr i="1" lang="en" sz="1100"/>
              <a:t>NEE</a:t>
            </a:r>
            <a:endParaRPr i="1" sz="1100"/>
          </a:p>
        </p:txBody>
      </p:sp>
      <p:sp>
        <p:nvSpPr>
          <p:cNvPr id="310" name="Google Shape;310;p35"/>
          <p:cNvSpPr txBox="1"/>
          <p:nvPr/>
        </p:nvSpPr>
        <p:spPr>
          <a:xfrm>
            <a:off x="1061750" y="2006850"/>
            <a:ext cx="2323800" cy="651300"/>
          </a:xfrm>
          <a:prstGeom prst="rect">
            <a:avLst/>
          </a:prstGeom>
          <a:solidFill>
            <a:srgbClr val="C5E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Data</a:t>
            </a:r>
            <a:endParaRPr b="1"/>
          </a:p>
        </p:txBody>
      </p:sp>
      <p:sp>
        <p:nvSpPr>
          <p:cNvPr id="311" name="Google Shape;311;p35"/>
          <p:cNvSpPr txBox="1"/>
          <p:nvPr/>
        </p:nvSpPr>
        <p:spPr>
          <a:xfrm>
            <a:off x="5328950" y="2006850"/>
            <a:ext cx="2323800" cy="651300"/>
          </a:xfrm>
          <a:prstGeom prst="rect">
            <a:avLst/>
          </a:prstGeom>
          <a:solidFill>
            <a:srgbClr val="D7D7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Access</a:t>
            </a:r>
            <a:endParaRPr b="1"/>
          </a:p>
        </p:txBody>
      </p:sp>
      <p:sp>
        <p:nvSpPr>
          <p:cNvPr id="312" name="Google Shape;312;p35"/>
          <p:cNvSpPr txBox="1"/>
          <p:nvPr/>
        </p:nvSpPr>
        <p:spPr>
          <a:xfrm>
            <a:off x="5813750" y="2906425"/>
            <a:ext cx="2323800" cy="6513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Methods</a:t>
            </a:r>
            <a:endParaRPr b="1"/>
          </a:p>
        </p:txBody>
      </p:sp>
      <p:sp>
        <p:nvSpPr>
          <p:cNvPr id="313" name="Google Shape;313;p35"/>
          <p:cNvSpPr txBox="1"/>
          <p:nvPr/>
        </p:nvSpPr>
        <p:spPr>
          <a:xfrm>
            <a:off x="5328950" y="3759450"/>
            <a:ext cx="2323800" cy="651300"/>
          </a:xfrm>
          <a:prstGeom prst="rect">
            <a:avLst/>
          </a:prstGeom>
          <a:solidFill>
            <a:srgbClr val="FEE8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Peer Review</a:t>
            </a:r>
            <a:endParaRPr b="1"/>
          </a:p>
        </p:txBody>
      </p:sp>
      <p:sp>
        <p:nvSpPr>
          <p:cNvPr id="314" name="Google Shape;314;p35"/>
          <p:cNvSpPr txBox="1"/>
          <p:nvPr/>
        </p:nvSpPr>
        <p:spPr>
          <a:xfrm>
            <a:off x="604550" y="2921250"/>
            <a:ext cx="2323800" cy="651300"/>
          </a:xfrm>
          <a:prstGeom prst="rect">
            <a:avLst/>
          </a:prstGeom>
          <a:solidFill>
            <a:srgbClr val="BBCFD3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Resources</a:t>
            </a:r>
            <a:endParaRPr b="1"/>
          </a:p>
        </p:txBody>
      </p:sp>
      <p:sp>
        <p:nvSpPr>
          <p:cNvPr id="315" name="Google Shape;315;p35"/>
          <p:cNvSpPr txBox="1"/>
          <p:nvPr/>
        </p:nvSpPr>
        <p:spPr>
          <a:xfrm>
            <a:off x="974250" y="3759450"/>
            <a:ext cx="2411400" cy="6513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Source</a:t>
            </a:r>
            <a:endParaRPr b="1"/>
          </a:p>
        </p:txBody>
      </p:sp>
      <p:sp>
        <p:nvSpPr>
          <p:cNvPr id="316" name="Google Shape;316;p35"/>
          <p:cNvSpPr/>
          <p:nvPr/>
        </p:nvSpPr>
        <p:spPr>
          <a:xfrm rot="1635982">
            <a:off x="3884841" y="2807539"/>
            <a:ext cx="964578" cy="861667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5"/>
          <p:cNvSpPr txBox="1"/>
          <p:nvPr/>
        </p:nvSpPr>
        <p:spPr>
          <a:xfrm rot="3062">
            <a:off x="3949074" y="3006424"/>
            <a:ext cx="101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Collaboration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&amp; Inclusion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18" name="Google Shape;318;p35"/>
          <p:cNvSpPr/>
          <p:nvPr/>
        </p:nvSpPr>
        <p:spPr>
          <a:xfrm>
            <a:off x="818675" y="3642775"/>
            <a:ext cx="2644800" cy="84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6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https://opensource.org/osd/</a:t>
            </a:r>
            <a:endParaRPr sz="900"/>
          </a:p>
        </p:txBody>
      </p:sp>
      <p:pic>
        <p:nvPicPr>
          <p:cNvPr id="324" name="Google Shape;324;p36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6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6" name="Google Shape;326;p36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6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7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Open Source?</a:t>
            </a:r>
            <a:endParaRPr/>
          </a:p>
        </p:txBody>
      </p:sp>
      <p:sp>
        <p:nvSpPr>
          <p:cNvPr id="333" name="Google Shape;333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Lora"/>
              <a:buChar char="●"/>
            </a:pPr>
            <a:r>
              <a:rPr b="1" lang="en" sz="1300">
                <a:solidFill>
                  <a:srgbClr val="414042"/>
                </a:solidFill>
                <a:highlight>
                  <a:srgbClr val="FFFFFF"/>
                </a:highlight>
              </a:rPr>
              <a:t>Free Redistribution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The license shall not restrict any party from selling or giving away the software as a component of an aggregate software distribution containing programs from several different sources. The license </a:t>
            </a:r>
            <a:r>
              <a:rPr b="1" i="1" lang="en" sz="1200">
                <a:solidFill>
                  <a:schemeClr val="dk1"/>
                </a:solidFill>
                <a:highlight>
                  <a:srgbClr val="FFFFFF"/>
                </a:highlight>
              </a:rPr>
              <a:t>shall not require a royalty or other fee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for such sale.</a:t>
            </a:r>
            <a:endParaRPr b="1" sz="1300">
              <a:solidFill>
                <a:srgbClr val="414042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414042"/>
              </a:solidFill>
              <a:highlight>
                <a:srgbClr val="FFFFFF"/>
              </a:highlight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Lora"/>
              <a:buChar char="●"/>
            </a:pPr>
            <a:r>
              <a:rPr b="1" lang="en" sz="1300">
                <a:solidFill>
                  <a:srgbClr val="414042"/>
                </a:solidFill>
                <a:highlight>
                  <a:srgbClr val="FFFFFF"/>
                </a:highlight>
              </a:rPr>
              <a:t>No Discrimination Against Persons or Groups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The license must not discriminate against any person or group of persons.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Lora"/>
              <a:buChar char="●"/>
            </a:pPr>
            <a:r>
              <a:rPr b="1" lang="en" sz="1300">
                <a:solidFill>
                  <a:srgbClr val="414042"/>
                </a:solidFill>
                <a:highlight>
                  <a:srgbClr val="FFFFFF"/>
                </a:highlight>
              </a:rPr>
              <a:t>No Discrimination Against Fields of Endeavor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The license must not restrict anyone from making use of the program in a specific field of endeavor. For example, it may not restrict the program from being used in a business, or from being used for genetic research.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endParaRPr/>
          </a:p>
        </p:txBody>
      </p:sp>
      <p:sp>
        <p:nvSpPr>
          <p:cNvPr id="334" name="Google Shape;334;p37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https://opensource.org/osd/</a:t>
            </a:r>
            <a:endParaRPr sz="900"/>
          </a:p>
        </p:txBody>
      </p:sp>
      <p:pic>
        <p:nvPicPr>
          <p:cNvPr id="335" name="Google Shape;335;p37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7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37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7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Open Source?</a:t>
            </a:r>
            <a:endParaRPr/>
          </a:p>
        </p:txBody>
      </p:sp>
      <p:sp>
        <p:nvSpPr>
          <p:cNvPr id="344" name="Google Shape;34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Lora"/>
              <a:buChar char="●"/>
            </a:pPr>
            <a:r>
              <a:rPr b="1" lang="en" sz="1300">
                <a:solidFill>
                  <a:srgbClr val="414042"/>
                </a:solidFill>
                <a:highlight>
                  <a:srgbClr val="FFFFFF"/>
                </a:highlight>
              </a:rPr>
              <a:t>Free Redistribution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The license shall not restrict any party from selling or giving away the software as a component of an aggregate software distribution containing programs from several different sources. The license </a:t>
            </a:r>
            <a:r>
              <a:rPr b="1" i="1" lang="en" sz="1200">
                <a:solidFill>
                  <a:schemeClr val="dk1"/>
                </a:solidFill>
                <a:highlight>
                  <a:srgbClr val="FFFFFF"/>
                </a:highlight>
              </a:rPr>
              <a:t>shall not require a royalty or other fee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for such sale.</a:t>
            </a:r>
            <a:endParaRPr b="1" sz="1300">
              <a:solidFill>
                <a:srgbClr val="414042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414042"/>
              </a:solidFill>
              <a:highlight>
                <a:srgbClr val="FFFFFF"/>
              </a:highlight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Lora"/>
              <a:buChar char="●"/>
            </a:pPr>
            <a:r>
              <a:rPr b="1" lang="en" sz="1300">
                <a:solidFill>
                  <a:srgbClr val="414042"/>
                </a:solidFill>
                <a:highlight>
                  <a:srgbClr val="FFFFFF"/>
                </a:highlight>
              </a:rPr>
              <a:t>No Discrimination Against Persons or Groups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The license must not discriminate against any person or group of persons.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Lora"/>
              <a:buChar char="●"/>
            </a:pPr>
            <a:r>
              <a:rPr b="1" lang="en" sz="1300">
                <a:solidFill>
                  <a:srgbClr val="414042"/>
                </a:solidFill>
                <a:highlight>
                  <a:srgbClr val="FFFFFF"/>
                </a:highlight>
              </a:rPr>
              <a:t>No Discrimination Against Fields of Endeavor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The license must not restrict anyone from making use of the program in a specific field of endeavor. For example, it may not restrict the program from being used in a business, or from being used for genetic research.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Code that is free to use, both in terms of costs and restrictions</a:t>
            </a:r>
            <a:endParaRPr b="1"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endParaRPr/>
          </a:p>
        </p:txBody>
      </p:sp>
      <p:sp>
        <p:nvSpPr>
          <p:cNvPr id="345" name="Google Shape;345;p38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https://opensource.org/osd/</a:t>
            </a:r>
            <a:endParaRPr sz="900"/>
          </a:p>
        </p:txBody>
      </p:sp>
      <p:pic>
        <p:nvPicPr>
          <p:cNvPr id="346" name="Google Shape;346;p38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8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p38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8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9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Reproducibility and Transparency</a:t>
            </a:r>
            <a:endParaRPr/>
          </a:p>
        </p:txBody>
      </p:sp>
      <p:sp>
        <p:nvSpPr>
          <p:cNvPr id="355" name="Google Shape;355;p39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Peng. (2011) </a:t>
            </a:r>
            <a:r>
              <a:rPr i="1" lang="en" sz="900"/>
              <a:t>Science</a:t>
            </a:r>
            <a:endParaRPr sz="900"/>
          </a:p>
        </p:txBody>
      </p:sp>
      <p:pic>
        <p:nvPicPr>
          <p:cNvPr id="356" name="Google Shape;356;p39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9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8" name="Google Shape;358;p39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9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0" name="Google Shape;36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63825"/>
            <a:ext cx="8733251" cy="269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0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Reduces Wasted Efforts</a:t>
            </a:r>
            <a:endParaRPr/>
          </a:p>
        </p:txBody>
      </p:sp>
      <p:sp>
        <p:nvSpPr>
          <p:cNvPr id="366" name="Google Shape;366;p40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367" name="Google Shape;367;p40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0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9" name="Google Shape;369;p40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0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1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Reduces Wasted Efforts</a:t>
            </a:r>
            <a:endParaRPr/>
          </a:p>
        </p:txBody>
      </p:sp>
      <p:sp>
        <p:nvSpPr>
          <p:cNvPr id="376" name="Google Shape;376;p41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377" name="Google Shape;377;p41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1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p41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1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250" y="1247400"/>
            <a:ext cx="1966100" cy="120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7875" y="1034000"/>
            <a:ext cx="1284443" cy="10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2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Reduces Wasted Efforts</a:t>
            </a:r>
            <a:endParaRPr/>
          </a:p>
        </p:txBody>
      </p:sp>
      <p:sp>
        <p:nvSpPr>
          <p:cNvPr id="388" name="Google Shape;388;p42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389" name="Google Shape;389;p42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2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1" name="Google Shape;391;p42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2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250" y="1247400"/>
            <a:ext cx="1966100" cy="120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7875" y="1034000"/>
            <a:ext cx="1284443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2"/>
          <p:cNvSpPr/>
          <p:nvPr/>
        </p:nvSpPr>
        <p:spPr>
          <a:xfrm>
            <a:off x="313075" y="2813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396" name="Google Shape;396;p42"/>
          <p:cNvSpPr/>
          <p:nvPr/>
        </p:nvSpPr>
        <p:spPr>
          <a:xfrm>
            <a:off x="313075" y="3575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3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Reduces Wasted Efforts</a:t>
            </a:r>
            <a:endParaRPr/>
          </a:p>
        </p:txBody>
      </p:sp>
      <p:sp>
        <p:nvSpPr>
          <p:cNvPr id="402" name="Google Shape;402;p43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403" name="Google Shape;403;p43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3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5" name="Google Shape;405;p43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3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7" name="Google Shape;40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250" y="1247400"/>
            <a:ext cx="1966100" cy="120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7875" y="1034000"/>
            <a:ext cx="1284443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3"/>
          <p:cNvSpPr/>
          <p:nvPr/>
        </p:nvSpPr>
        <p:spPr>
          <a:xfrm>
            <a:off x="313075" y="2813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410" name="Google Shape;410;p43"/>
          <p:cNvSpPr/>
          <p:nvPr/>
        </p:nvSpPr>
        <p:spPr>
          <a:xfrm>
            <a:off x="313075" y="3575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411" name="Google Shape;411;p43"/>
          <p:cNvSpPr/>
          <p:nvPr/>
        </p:nvSpPr>
        <p:spPr>
          <a:xfrm>
            <a:off x="1450675" y="30277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3"/>
          <p:cNvSpPr/>
          <p:nvPr/>
        </p:nvSpPr>
        <p:spPr>
          <a:xfrm>
            <a:off x="1925300" y="2843025"/>
            <a:ext cx="1351500" cy="12774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</a:t>
            </a:r>
            <a:endParaRPr/>
          </a:p>
        </p:txBody>
      </p:sp>
      <p:sp>
        <p:nvSpPr>
          <p:cNvPr id="413" name="Google Shape;413;p43"/>
          <p:cNvSpPr/>
          <p:nvPr/>
        </p:nvSpPr>
        <p:spPr>
          <a:xfrm>
            <a:off x="1450675" y="37135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3"/>
          <p:cNvSpPr txBox="1"/>
          <p:nvPr/>
        </p:nvSpPr>
        <p:spPr>
          <a:xfrm>
            <a:off x="20274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1 week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4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Reduces Wasted Efforts</a:t>
            </a:r>
            <a:endParaRPr/>
          </a:p>
        </p:txBody>
      </p:sp>
      <p:sp>
        <p:nvSpPr>
          <p:cNvPr id="420" name="Google Shape;420;p44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421" name="Google Shape;421;p44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4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4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4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5" name="Google Shape;42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250" y="1247400"/>
            <a:ext cx="1966100" cy="120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7875" y="1034000"/>
            <a:ext cx="1284443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4"/>
          <p:cNvSpPr/>
          <p:nvPr/>
        </p:nvSpPr>
        <p:spPr>
          <a:xfrm>
            <a:off x="313075" y="2813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428" name="Google Shape;428;p44"/>
          <p:cNvSpPr/>
          <p:nvPr/>
        </p:nvSpPr>
        <p:spPr>
          <a:xfrm>
            <a:off x="313075" y="3575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429" name="Google Shape;429;p44"/>
          <p:cNvSpPr/>
          <p:nvPr/>
        </p:nvSpPr>
        <p:spPr>
          <a:xfrm>
            <a:off x="1450675" y="30277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4"/>
          <p:cNvSpPr/>
          <p:nvPr/>
        </p:nvSpPr>
        <p:spPr>
          <a:xfrm>
            <a:off x="1925300" y="2843025"/>
            <a:ext cx="1351500" cy="12774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</a:t>
            </a:r>
            <a:endParaRPr/>
          </a:p>
        </p:txBody>
      </p:sp>
      <p:sp>
        <p:nvSpPr>
          <p:cNvPr id="431" name="Google Shape;431;p44"/>
          <p:cNvSpPr/>
          <p:nvPr/>
        </p:nvSpPr>
        <p:spPr>
          <a:xfrm>
            <a:off x="1450675" y="37135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4"/>
          <p:cNvSpPr/>
          <p:nvPr/>
        </p:nvSpPr>
        <p:spPr>
          <a:xfrm>
            <a:off x="3355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4"/>
          <p:cNvSpPr/>
          <p:nvPr/>
        </p:nvSpPr>
        <p:spPr>
          <a:xfrm>
            <a:off x="3830300" y="2843025"/>
            <a:ext cx="1351500" cy="12774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</a:t>
            </a:r>
            <a:endParaRPr/>
          </a:p>
        </p:txBody>
      </p:sp>
      <p:sp>
        <p:nvSpPr>
          <p:cNvPr id="434" name="Google Shape;434;p44"/>
          <p:cNvSpPr txBox="1"/>
          <p:nvPr/>
        </p:nvSpPr>
        <p:spPr>
          <a:xfrm>
            <a:off x="20274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1 week</a:t>
            </a:r>
            <a:endParaRPr/>
          </a:p>
        </p:txBody>
      </p:sp>
      <p:sp>
        <p:nvSpPr>
          <p:cNvPr id="435" name="Google Shape;435;p44"/>
          <p:cNvSpPr txBox="1"/>
          <p:nvPr/>
        </p:nvSpPr>
        <p:spPr>
          <a:xfrm>
            <a:off x="4008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2 weeks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5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Reduces Wasted Efforts</a:t>
            </a:r>
            <a:endParaRPr/>
          </a:p>
        </p:txBody>
      </p:sp>
      <p:sp>
        <p:nvSpPr>
          <p:cNvPr id="441" name="Google Shape;441;p45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442" name="Google Shape;442;p45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5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4" name="Google Shape;444;p45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5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6" name="Google Shape;44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250" y="1247400"/>
            <a:ext cx="1966100" cy="120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7875" y="1034000"/>
            <a:ext cx="1284443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5"/>
          <p:cNvSpPr/>
          <p:nvPr/>
        </p:nvSpPr>
        <p:spPr>
          <a:xfrm>
            <a:off x="313075" y="2813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449" name="Google Shape;449;p45"/>
          <p:cNvSpPr/>
          <p:nvPr/>
        </p:nvSpPr>
        <p:spPr>
          <a:xfrm>
            <a:off x="313075" y="3575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450" name="Google Shape;450;p45"/>
          <p:cNvSpPr/>
          <p:nvPr/>
        </p:nvSpPr>
        <p:spPr>
          <a:xfrm>
            <a:off x="1450675" y="30277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5"/>
          <p:cNvSpPr/>
          <p:nvPr/>
        </p:nvSpPr>
        <p:spPr>
          <a:xfrm>
            <a:off x="1925300" y="2843025"/>
            <a:ext cx="1351500" cy="12774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</a:t>
            </a:r>
            <a:endParaRPr/>
          </a:p>
        </p:txBody>
      </p:sp>
      <p:sp>
        <p:nvSpPr>
          <p:cNvPr id="452" name="Google Shape;452;p45"/>
          <p:cNvSpPr/>
          <p:nvPr/>
        </p:nvSpPr>
        <p:spPr>
          <a:xfrm>
            <a:off x="1450675" y="37135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5"/>
          <p:cNvSpPr/>
          <p:nvPr/>
        </p:nvSpPr>
        <p:spPr>
          <a:xfrm>
            <a:off x="3355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5"/>
          <p:cNvSpPr/>
          <p:nvPr/>
        </p:nvSpPr>
        <p:spPr>
          <a:xfrm>
            <a:off x="3830300" y="2843025"/>
            <a:ext cx="1351500" cy="12774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</a:t>
            </a:r>
            <a:endParaRPr/>
          </a:p>
        </p:txBody>
      </p:sp>
      <p:sp>
        <p:nvSpPr>
          <p:cNvPr id="455" name="Google Shape;455;p45"/>
          <p:cNvSpPr/>
          <p:nvPr/>
        </p:nvSpPr>
        <p:spPr>
          <a:xfrm>
            <a:off x="5260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5"/>
          <p:cNvSpPr/>
          <p:nvPr/>
        </p:nvSpPr>
        <p:spPr>
          <a:xfrm>
            <a:off x="5735300" y="2843025"/>
            <a:ext cx="1351500" cy="1277400"/>
          </a:xfrm>
          <a:prstGeom prst="rect">
            <a:avLst/>
          </a:prstGeom>
          <a:solidFill>
            <a:srgbClr val="C5E2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Analyses</a:t>
            </a:r>
            <a:endParaRPr/>
          </a:p>
        </p:txBody>
      </p:sp>
      <p:sp>
        <p:nvSpPr>
          <p:cNvPr id="457" name="Google Shape;457;p45"/>
          <p:cNvSpPr txBox="1"/>
          <p:nvPr/>
        </p:nvSpPr>
        <p:spPr>
          <a:xfrm>
            <a:off x="20274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1 week</a:t>
            </a:r>
            <a:endParaRPr/>
          </a:p>
        </p:txBody>
      </p:sp>
      <p:sp>
        <p:nvSpPr>
          <p:cNvPr id="458" name="Google Shape;458;p45"/>
          <p:cNvSpPr txBox="1"/>
          <p:nvPr/>
        </p:nvSpPr>
        <p:spPr>
          <a:xfrm>
            <a:off x="4008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2 weeks</a:t>
            </a:r>
            <a:endParaRPr/>
          </a:p>
        </p:txBody>
      </p:sp>
      <p:sp>
        <p:nvSpPr>
          <p:cNvPr id="459" name="Google Shape;459;p45"/>
          <p:cNvSpPr txBox="1"/>
          <p:nvPr/>
        </p:nvSpPr>
        <p:spPr>
          <a:xfrm>
            <a:off x="5913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4 weeks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6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Reduces Wasted Efforts</a:t>
            </a:r>
            <a:endParaRPr/>
          </a:p>
        </p:txBody>
      </p:sp>
      <p:sp>
        <p:nvSpPr>
          <p:cNvPr id="465" name="Google Shape;465;p46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466" name="Google Shape;466;p46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6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8" name="Google Shape;468;p46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6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250" y="1247400"/>
            <a:ext cx="1966100" cy="120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7875" y="1034000"/>
            <a:ext cx="1284443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6"/>
          <p:cNvSpPr/>
          <p:nvPr/>
        </p:nvSpPr>
        <p:spPr>
          <a:xfrm>
            <a:off x="313075" y="2813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473" name="Google Shape;473;p46"/>
          <p:cNvSpPr/>
          <p:nvPr/>
        </p:nvSpPr>
        <p:spPr>
          <a:xfrm>
            <a:off x="313075" y="3575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474" name="Google Shape;474;p46"/>
          <p:cNvSpPr/>
          <p:nvPr/>
        </p:nvSpPr>
        <p:spPr>
          <a:xfrm>
            <a:off x="1450675" y="30277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6"/>
          <p:cNvSpPr/>
          <p:nvPr/>
        </p:nvSpPr>
        <p:spPr>
          <a:xfrm>
            <a:off x="1925300" y="2843025"/>
            <a:ext cx="1351500" cy="12774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</a:t>
            </a:r>
            <a:endParaRPr/>
          </a:p>
        </p:txBody>
      </p:sp>
      <p:sp>
        <p:nvSpPr>
          <p:cNvPr id="476" name="Google Shape;476;p46"/>
          <p:cNvSpPr/>
          <p:nvPr/>
        </p:nvSpPr>
        <p:spPr>
          <a:xfrm>
            <a:off x="1450675" y="37135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6"/>
          <p:cNvSpPr/>
          <p:nvPr/>
        </p:nvSpPr>
        <p:spPr>
          <a:xfrm>
            <a:off x="3355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6"/>
          <p:cNvSpPr/>
          <p:nvPr/>
        </p:nvSpPr>
        <p:spPr>
          <a:xfrm>
            <a:off x="3830300" y="2843025"/>
            <a:ext cx="1351500" cy="12774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</a:t>
            </a:r>
            <a:endParaRPr/>
          </a:p>
        </p:txBody>
      </p:sp>
      <p:sp>
        <p:nvSpPr>
          <p:cNvPr id="479" name="Google Shape;479;p46"/>
          <p:cNvSpPr/>
          <p:nvPr/>
        </p:nvSpPr>
        <p:spPr>
          <a:xfrm>
            <a:off x="5260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6"/>
          <p:cNvSpPr/>
          <p:nvPr/>
        </p:nvSpPr>
        <p:spPr>
          <a:xfrm>
            <a:off x="5735300" y="2843025"/>
            <a:ext cx="1351500" cy="1277400"/>
          </a:xfrm>
          <a:prstGeom prst="rect">
            <a:avLst/>
          </a:prstGeom>
          <a:solidFill>
            <a:srgbClr val="C5E2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Analyses</a:t>
            </a:r>
            <a:endParaRPr/>
          </a:p>
        </p:txBody>
      </p:sp>
      <p:sp>
        <p:nvSpPr>
          <p:cNvPr id="481" name="Google Shape;481;p46"/>
          <p:cNvSpPr/>
          <p:nvPr/>
        </p:nvSpPr>
        <p:spPr>
          <a:xfrm>
            <a:off x="7165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6"/>
          <p:cNvSpPr/>
          <p:nvPr/>
        </p:nvSpPr>
        <p:spPr>
          <a:xfrm>
            <a:off x="7640300" y="2843025"/>
            <a:ext cx="1351500" cy="1277400"/>
          </a:xfrm>
          <a:prstGeom prst="rect">
            <a:avLst/>
          </a:prstGeom>
          <a:solidFill>
            <a:srgbClr val="BBCF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Figures</a:t>
            </a:r>
            <a:endParaRPr/>
          </a:p>
        </p:txBody>
      </p:sp>
      <p:sp>
        <p:nvSpPr>
          <p:cNvPr id="483" name="Google Shape;483;p46"/>
          <p:cNvSpPr txBox="1"/>
          <p:nvPr/>
        </p:nvSpPr>
        <p:spPr>
          <a:xfrm>
            <a:off x="20274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1 week</a:t>
            </a:r>
            <a:endParaRPr/>
          </a:p>
        </p:txBody>
      </p:sp>
      <p:sp>
        <p:nvSpPr>
          <p:cNvPr id="484" name="Google Shape;484;p46"/>
          <p:cNvSpPr txBox="1"/>
          <p:nvPr/>
        </p:nvSpPr>
        <p:spPr>
          <a:xfrm>
            <a:off x="4008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2 weeks</a:t>
            </a:r>
            <a:endParaRPr/>
          </a:p>
        </p:txBody>
      </p:sp>
      <p:sp>
        <p:nvSpPr>
          <p:cNvPr id="485" name="Google Shape;485;p46"/>
          <p:cNvSpPr txBox="1"/>
          <p:nvPr/>
        </p:nvSpPr>
        <p:spPr>
          <a:xfrm>
            <a:off x="5913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4 weeks</a:t>
            </a:r>
            <a:endParaRPr/>
          </a:p>
        </p:txBody>
      </p:sp>
      <p:sp>
        <p:nvSpPr>
          <p:cNvPr id="486" name="Google Shape;486;p46"/>
          <p:cNvSpPr txBox="1"/>
          <p:nvPr/>
        </p:nvSpPr>
        <p:spPr>
          <a:xfrm>
            <a:off x="7818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2 weeks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7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Reduces Wasted Efforts</a:t>
            </a:r>
            <a:endParaRPr/>
          </a:p>
        </p:txBody>
      </p:sp>
      <p:sp>
        <p:nvSpPr>
          <p:cNvPr id="492" name="Google Shape;492;p47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493" name="Google Shape;493;p47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7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5" name="Google Shape;495;p47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7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7" name="Google Shape;49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250" y="1247400"/>
            <a:ext cx="1966100" cy="120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7875" y="1034000"/>
            <a:ext cx="1284443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/>
          <p:nvPr/>
        </p:nvSpPr>
        <p:spPr>
          <a:xfrm>
            <a:off x="313075" y="2813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313075" y="3575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501" name="Google Shape;501;p47"/>
          <p:cNvSpPr/>
          <p:nvPr/>
        </p:nvSpPr>
        <p:spPr>
          <a:xfrm>
            <a:off x="1450675" y="30277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7"/>
          <p:cNvSpPr/>
          <p:nvPr/>
        </p:nvSpPr>
        <p:spPr>
          <a:xfrm>
            <a:off x="1925300" y="2843025"/>
            <a:ext cx="1351500" cy="12774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</a:t>
            </a:r>
            <a:endParaRPr/>
          </a:p>
        </p:txBody>
      </p:sp>
      <p:sp>
        <p:nvSpPr>
          <p:cNvPr id="503" name="Google Shape;503;p47"/>
          <p:cNvSpPr/>
          <p:nvPr/>
        </p:nvSpPr>
        <p:spPr>
          <a:xfrm>
            <a:off x="1450675" y="37135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7"/>
          <p:cNvSpPr/>
          <p:nvPr/>
        </p:nvSpPr>
        <p:spPr>
          <a:xfrm>
            <a:off x="3355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7"/>
          <p:cNvSpPr/>
          <p:nvPr/>
        </p:nvSpPr>
        <p:spPr>
          <a:xfrm>
            <a:off x="3830300" y="2843025"/>
            <a:ext cx="1351500" cy="12774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</a:t>
            </a:r>
            <a:endParaRPr/>
          </a:p>
        </p:txBody>
      </p:sp>
      <p:sp>
        <p:nvSpPr>
          <p:cNvPr id="506" name="Google Shape;506;p47"/>
          <p:cNvSpPr/>
          <p:nvPr/>
        </p:nvSpPr>
        <p:spPr>
          <a:xfrm>
            <a:off x="5260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7"/>
          <p:cNvSpPr/>
          <p:nvPr/>
        </p:nvSpPr>
        <p:spPr>
          <a:xfrm>
            <a:off x="5735300" y="2843025"/>
            <a:ext cx="1351500" cy="1277400"/>
          </a:xfrm>
          <a:prstGeom prst="rect">
            <a:avLst/>
          </a:prstGeom>
          <a:solidFill>
            <a:srgbClr val="C5E2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Analyses</a:t>
            </a:r>
            <a:endParaRPr/>
          </a:p>
        </p:txBody>
      </p:sp>
      <p:sp>
        <p:nvSpPr>
          <p:cNvPr id="508" name="Google Shape;508;p47"/>
          <p:cNvSpPr/>
          <p:nvPr/>
        </p:nvSpPr>
        <p:spPr>
          <a:xfrm>
            <a:off x="7165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7"/>
          <p:cNvSpPr/>
          <p:nvPr/>
        </p:nvSpPr>
        <p:spPr>
          <a:xfrm>
            <a:off x="7640300" y="2843025"/>
            <a:ext cx="1351500" cy="1277400"/>
          </a:xfrm>
          <a:prstGeom prst="rect">
            <a:avLst/>
          </a:prstGeom>
          <a:solidFill>
            <a:srgbClr val="BBCF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Figures</a:t>
            </a:r>
            <a:endParaRPr/>
          </a:p>
        </p:txBody>
      </p:sp>
      <p:sp>
        <p:nvSpPr>
          <p:cNvPr id="510" name="Google Shape;510;p47"/>
          <p:cNvSpPr txBox="1"/>
          <p:nvPr/>
        </p:nvSpPr>
        <p:spPr>
          <a:xfrm>
            <a:off x="20274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1 week</a:t>
            </a:r>
            <a:endParaRPr/>
          </a:p>
        </p:txBody>
      </p:sp>
      <p:sp>
        <p:nvSpPr>
          <p:cNvPr id="511" name="Google Shape;511;p47"/>
          <p:cNvSpPr txBox="1"/>
          <p:nvPr/>
        </p:nvSpPr>
        <p:spPr>
          <a:xfrm>
            <a:off x="4008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2 weeks</a:t>
            </a:r>
            <a:endParaRPr/>
          </a:p>
        </p:txBody>
      </p:sp>
      <p:sp>
        <p:nvSpPr>
          <p:cNvPr id="512" name="Google Shape;512;p47"/>
          <p:cNvSpPr txBox="1"/>
          <p:nvPr/>
        </p:nvSpPr>
        <p:spPr>
          <a:xfrm>
            <a:off x="5913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4 weeks</a:t>
            </a:r>
            <a:endParaRPr/>
          </a:p>
        </p:txBody>
      </p:sp>
      <p:sp>
        <p:nvSpPr>
          <p:cNvPr id="513" name="Google Shape;513;p47"/>
          <p:cNvSpPr txBox="1"/>
          <p:nvPr/>
        </p:nvSpPr>
        <p:spPr>
          <a:xfrm>
            <a:off x="7818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2 weeks</a:t>
            </a:r>
            <a:endParaRPr/>
          </a:p>
        </p:txBody>
      </p:sp>
      <p:sp>
        <p:nvSpPr>
          <p:cNvPr id="514" name="Google Shape;514;p47"/>
          <p:cNvSpPr/>
          <p:nvPr/>
        </p:nvSpPr>
        <p:spPr>
          <a:xfrm rot="-5400000">
            <a:off x="5286375" y="-655700"/>
            <a:ext cx="603000" cy="6349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14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47"/>
          <p:cNvSpPr/>
          <p:nvPr/>
        </p:nvSpPr>
        <p:spPr>
          <a:xfrm>
            <a:off x="4973300" y="938025"/>
            <a:ext cx="1351500" cy="127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Publish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sp>
        <p:nvSpPr>
          <p:cNvPr id="516" name="Google Shape;516;p47"/>
          <p:cNvSpPr txBox="1"/>
          <p:nvPr/>
        </p:nvSpPr>
        <p:spPr>
          <a:xfrm rot="-3581381">
            <a:off x="3997666" y="1311602"/>
            <a:ext cx="1263169" cy="4002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10 minutes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8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Reduces Wasted Efforts</a:t>
            </a:r>
            <a:endParaRPr/>
          </a:p>
        </p:txBody>
      </p:sp>
      <p:sp>
        <p:nvSpPr>
          <p:cNvPr id="522" name="Google Shape;522;p48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523" name="Google Shape;523;p48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8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5" name="Google Shape;525;p48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8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7" name="Google Shape;52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250" y="1247400"/>
            <a:ext cx="1966100" cy="120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7875" y="1034000"/>
            <a:ext cx="1284443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8"/>
          <p:cNvSpPr/>
          <p:nvPr/>
        </p:nvSpPr>
        <p:spPr>
          <a:xfrm>
            <a:off x="313075" y="2813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530" name="Google Shape;530;p48"/>
          <p:cNvSpPr/>
          <p:nvPr/>
        </p:nvSpPr>
        <p:spPr>
          <a:xfrm>
            <a:off x="313075" y="3575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531" name="Google Shape;531;p48"/>
          <p:cNvSpPr/>
          <p:nvPr/>
        </p:nvSpPr>
        <p:spPr>
          <a:xfrm>
            <a:off x="1450675" y="30277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8"/>
          <p:cNvSpPr/>
          <p:nvPr/>
        </p:nvSpPr>
        <p:spPr>
          <a:xfrm>
            <a:off x="1925300" y="2843025"/>
            <a:ext cx="1351500" cy="12774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</a:t>
            </a:r>
            <a:endParaRPr/>
          </a:p>
        </p:txBody>
      </p:sp>
      <p:sp>
        <p:nvSpPr>
          <p:cNvPr id="533" name="Google Shape;533;p48"/>
          <p:cNvSpPr/>
          <p:nvPr/>
        </p:nvSpPr>
        <p:spPr>
          <a:xfrm>
            <a:off x="1450675" y="37135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8"/>
          <p:cNvSpPr/>
          <p:nvPr/>
        </p:nvSpPr>
        <p:spPr>
          <a:xfrm>
            <a:off x="3355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8"/>
          <p:cNvSpPr/>
          <p:nvPr/>
        </p:nvSpPr>
        <p:spPr>
          <a:xfrm>
            <a:off x="3830300" y="2843025"/>
            <a:ext cx="1351500" cy="12774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</a:t>
            </a:r>
            <a:endParaRPr/>
          </a:p>
        </p:txBody>
      </p:sp>
      <p:sp>
        <p:nvSpPr>
          <p:cNvPr id="536" name="Google Shape;536;p48"/>
          <p:cNvSpPr/>
          <p:nvPr/>
        </p:nvSpPr>
        <p:spPr>
          <a:xfrm>
            <a:off x="5260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8"/>
          <p:cNvSpPr/>
          <p:nvPr/>
        </p:nvSpPr>
        <p:spPr>
          <a:xfrm>
            <a:off x="5735300" y="2843025"/>
            <a:ext cx="1351500" cy="1277400"/>
          </a:xfrm>
          <a:prstGeom prst="rect">
            <a:avLst/>
          </a:prstGeom>
          <a:solidFill>
            <a:srgbClr val="C5E2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Analyses</a:t>
            </a:r>
            <a:endParaRPr/>
          </a:p>
        </p:txBody>
      </p:sp>
      <p:sp>
        <p:nvSpPr>
          <p:cNvPr id="538" name="Google Shape;538;p48"/>
          <p:cNvSpPr/>
          <p:nvPr/>
        </p:nvSpPr>
        <p:spPr>
          <a:xfrm>
            <a:off x="7165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8"/>
          <p:cNvSpPr/>
          <p:nvPr/>
        </p:nvSpPr>
        <p:spPr>
          <a:xfrm>
            <a:off x="7640300" y="2843025"/>
            <a:ext cx="1351500" cy="1277400"/>
          </a:xfrm>
          <a:prstGeom prst="rect">
            <a:avLst/>
          </a:prstGeom>
          <a:solidFill>
            <a:srgbClr val="BBCF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Figures</a:t>
            </a:r>
            <a:endParaRPr/>
          </a:p>
        </p:txBody>
      </p:sp>
      <p:sp>
        <p:nvSpPr>
          <p:cNvPr id="540" name="Google Shape;540;p48"/>
          <p:cNvSpPr txBox="1"/>
          <p:nvPr/>
        </p:nvSpPr>
        <p:spPr>
          <a:xfrm>
            <a:off x="20274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1 week</a:t>
            </a:r>
            <a:endParaRPr/>
          </a:p>
        </p:txBody>
      </p:sp>
      <p:sp>
        <p:nvSpPr>
          <p:cNvPr id="541" name="Google Shape;541;p48"/>
          <p:cNvSpPr txBox="1"/>
          <p:nvPr/>
        </p:nvSpPr>
        <p:spPr>
          <a:xfrm>
            <a:off x="4008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2 weeks</a:t>
            </a:r>
            <a:endParaRPr/>
          </a:p>
        </p:txBody>
      </p:sp>
      <p:sp>
        <p:nvSpPr>
          <p:cNvPr id="542" name="Google Shape;542;p48"/>
          <p:cNvSpPr txBox="1"/>
          <p:nvPr/>
        </p:nvSpPr>
        <p:spPr>
          <a:xfrm>
            <a:off x="5913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4 weeks</a:t>
            </a:r>
            <a:endParaRPr/>
          </a:p>
        </p:txBody>
      </p:sp>
      <p:sp>
        <p:nvSpPr>
          <p:cNvPr id="543" name="Google Shape;543;p48"/>
          <p:cNvSpPr txBox="1"/>
          <p:nvPr/>
        </p:nvSpPr>
        <p:spPr>
          <a:xfrm>
            <a:off x="7818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2 weeks</a:t>
            </a:r>
            <a:endParaRPr/>
          </a:p>
        </p:txBody>
      </p:sp>
      <p:sp>
        <p:nvSpPr>
          <p:cNvPr id="544" name="Google Shape;544;p48"/>
          <p:cNvSpPr/>
          <p:nvPr/>
        </p:nvSpPr>
        <p:spPr>
          <a:xfrm rot="-5400000">
            <a:off x="5286375" y="-655700"/>
            <a:ext cx="603000" cy="6349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14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8"/>
          <p:cNvSpPr/>
          <p:nvPr/>
        </p:nvSpPr>
        <p:spPr>
          <a:xfrm>
            <a:off x="4973300" y="938025"/>
            <a:ext cx="1351500" cy="127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Publish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pic>
        <p:nvPicPr>
          <p:cNvPr id="546" name="Google Shape;546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7950" y="869257"/>
            <a:ext cx="1001402" cy="150249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8"/>
          <p:cNvSpPr txBox="1"/>
          <p:nvPr/>
        </p:nvSpPr>
        <p:spPr>
          <a:xfrm rot="-3581381">
            <a:off x="3997666" y="1311602"/>
            <a:ext cx="1263169" cy="4002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10 minutes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9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Reduces Wasted Efforts</a:t>
            </a:r>
            <a:endParaRPr/>
          </a:p>
        </p:txBody>
      </p:sp>
      <p:sp>
        <p:nvSpPr>
          <p:cNvPr id="553" name="Google Shape;553;p49"/>
          <p:cNvSpPr txBox="1"/>
          <p:nvPr/>
        </p:nvSpPr>
        <p:spPr>
          <a:xfrm>
            <a:off x="0" y="4824700"/>
            <a:ext cx="5598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Macaw: Andrew Pons, Ctenosaur: Dario </a:t>
            </a:r>
            <a:endParaRPr sz="600"/>
          </a:p>
        </p:txBody>
      </p:sp>
      <p:pic>
        <p:nvPicPr>
          <p:cNvPr id="554" name="Google Shape;554;p49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49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6" name="Google Shape;556;p49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49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8" name="Google Shape;55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250" y="1247400"/>
            <a:ext cx="1966100" cy="120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7875" y="1034000"/>
            <a:ext cx="1284443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9"/>
          <p:cNvSpPr/>
          <p:nvPr/>
        </p:nvSpPr>
        <p:spPr>
          <a:xfrm>
            <a:off x="313075" y="2813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561" name="Google Shape;561;p49"/>
          <p:cNvSpPr/>
          <p:nvPr/>
        </p:nvSpPr>
        <p:spPr>
          <a:xfrm>
            <a:off x="313075" y="3575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562" name="Google Shape;562;p49"/>
          <p:cNvSpPr/>
          <p:nvPr/>
        </p:nvSpPr>
        <p:spPr>
          <a:xfrm>
            <a:off x="1450675" y="30277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9"/>
          <p:cNvSpPr/>
          <p:nvPr/>
        </p:nvSpPr>
        <p:spPr>
          <a:xfrm>
            <a:off x="1925300" y="2843025"/>
            <a:ext cx="1351500" cy="12774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</a:t>
            </a:r>
            <a:endParaRPr/>
          </a:p>
        </p:txBody>
      </p:sp>
      <p:sp>
        <p:nvSpPr>
          <p:cNvPr id="564" name="Google Shape;564;p49"/>
          <p:cNvSpPr/>
          <p:nvPr/>
        </p:nvSpPr>
        <p:spPr>
          <a:xfrm>
            <a:off x="1450675" y="37135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9"/>
          <p:cNvSpPr/>
          <p:nvPr/>
        </p:nvSpPr>
        <p:spPr>
          <a:xfrm>
            <a:off x="3355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9"/>
          <p:cNvSpPr/>
          <p:nvPr/>
        </p:nvSpPr>
        <p:spPr>
          <a:xfrm>
            <a:off x="3830300" y="2843025"/>
            <a:ext cx="1351500" cy="12774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</a:t>
            </a:r>
            <a:endParaRPr/>
          </a:p>
        </p:txBody>
      </p:sp>
      <p:sp>
        <p:nvSpPr>
          <p:cNvPr id="567" name="Google Shape;567;p49"/>
          <p:cNvSpPr/>
          <p:nvPr/>
        </p:nvSpPr>
        <p:spPr>
          <a:xfrm>
            <a:off x="5260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9"/>
          <p:cNvSpPr/>
          <p:nvPr/>
        </p:nvSpPr>
        <p:spPr>
          <a:xfrm>
            <a:off x="5735300" y="2843025"/>
            <a:ext cx="1351500" cy="1277400"/>
          </a:xfrm>
          <a:prstGeom prst="rect">
            <a:avLst/>
          </a:prstGeom>
          <a:solidFill>
            <a:srgbClr val="C5E2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Analyses</a:t>
            </a:r>
            <a:endParaRPr/>
          </a:p>
        </p:txBody>
      </p:sp>
      <p:sp>
        <p:nvSpPr>
          <p:cNvPr id="569" name="Google Shape;569;p49"/>
          <p:cNvSpPr/>
          <p:nvPr/>
        </p:nvSpPr>
        <p:spPr>
          <a:xfrm>
            <a:off x="7165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9"/>
          <p:cNvSpPr/>
          <p:nvPr/>
        </p:nvSpPr>
        <p:spPr>
          <a:xfrm>
            <a:off x="7640300" y="2843025"/>
            <a:ext cx="1351500" cy="1277400"/>
          </a:xfrm>
          <a:prstGeom prst="rect">
            <a:avLst/>
          </a:prstGeom>
          <a:solidFill>
            <a:srgbClr val="BBCF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Figures</a:t>
            </a:r>
            <a:endParaRPr/>
          </a:p>
        </p:txBody>
      </p:sp>
      <p:sp>
        <p:nvSpPr>
          <p:cNvPr id="571" name="Google Shape;571;p49"/>
          <p:cNvSpPr txBox="1"/>
          <p:nvPr/>
        </p:nvSpPr>
        <p:spPr>
          <a:xfrm>
            <a:off x="20274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1 week</a:t>
            </a:r>
            <a:endParaRPr/>
          </a:p>
        </p:txBody>
      </p:sp>
      <p:sp>
        <p:nvSpPr>
          <p:cNvPr id="572" name="Google Shape;572;p49"/>
          <p:cNvSpPr txBox="1"/>
          <p:nvPr/>
        </p:nvSpPr>
        <p:spPr>
          <a:xfrm>
            <a:off x="4008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2 weeks</a:t>
            </a:r>
            <a:endParaRPr/>
          </a:p>
        </p:txBody>
      </p:sp>
      <p:sp>
        <p:nvSpPr>
          <p:cNvPr id="573" name="Google Shape;573;p49"/>
          <p:cNvSpPr txBox="1"/>
          <p:nvPr/>
        </p:nvSpPr>
        <p:spPr>
          <a:xfrm>
            <a:off x="5913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4 weeks</a:t>
            </a:r>
            <a:endParaRPr/>
          </a:p>
        </p:txBody>
      </p:sp>
      <p:sp>
        <p:nvSpPr>
          <p:cNvPr id="574" name="Google Shape;574;p49"/>
          <p:cNvSpPr txBox="1"/>
          <p:nvPr/>
        </p:nvSpPr>
        <p:spPr>
          <a:xfrm>
            <a:off x="7818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2 weeks</a:t>
            </a:r>
            <a:endParaRPr/>
          </a:p>
        </p:txBody>
      </p:sp>
      <p:sp>
        <p:nvSpPr>
          <p:cNvPr id="575" name="Google Shape;575;p49"/>
          <p:cNvSpPr/>
          <p:nvPr/>
        </p:nvSpPr>
        <p:spPr>
          <a:xfrm rot="-5400000">
            <a:off x="5286375" y="-655700"/>
            <a:ext cx="603000" cy="6349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14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9"/>
          <p:cNvSpPr/>
          <p:nvPr/>
        </p:nvSpPr>
        <p:spPr>
          <a:xfrm>
            <a:off x="4973300" y="938025"/>
            <a:ext cx="1351500" cy="127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Publish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pic>
        <p:nvPicPr>
          <p:cNvPr id="577" name="Google Shape;577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7950" y="869257"/>
            <a:ext cx="1001402" cy="1502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29027" y="983099"/>
            <a:ext cx="1704226" cy="1137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9"/>
          <p:cNvSpPr txBox="1"/>
          <p:nvPr/>
        </p:nvSpPr>
        <p:spPr>
          <a:xfrm rot="-3581381">
            <a:off x="3997666" y="1311602"/>
            <a:ext cx="1263169" cy="4002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10 minutes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0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Reduces Wasted Efforts</a:t>
            </a:r>
            <a:endParaRPr/>
          </a:p>
        </p:txBody>
      </p:sp>
      <p:sp>
        <p:nvSpPr>
          <p:cNvPr id="585" name="Google Shape;585;p50"/>
          <p:cNvSpPr txBox="1"/>
          <p:nvPr/>
        </p:nvSpPr>
        <p:spPr>
          <a:xfrm>
            <a:off x="0" y="4824700"/>
            <a:ext cx="5598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Macaw: Andrew Pons, Ctenosaur: Dario </a:t>
            </a:r>
            <a:endParaRPr sz="600"/>
          </a:p>
        </p:txBody>
      </p:sp>
      <p:pic>
        <p:nvPicPr>
          <p:cNvPr id="586" name="Google Shape;586;p50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50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8" name="Google Shape;588;p50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50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0" name="Google Shape;59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250" y="1247400"/>
            <a:ext cx="1966100" cy="120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7875" y="1034000"/>
            <a:ext cx="1284443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0"/>
          <p:cNvSpPr/>
          <p:nvPr/>
        </p:nvSpPr>
        <p:spPr>
          <a:xfrm>
            <a:off x="313075" y="2813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593" name="Google Shape;593;p50"/>
          <p:cNvSpPr/>
          <p:nvPr/>
        </p:nvSpPr>
        <p:spPr>
          <a:xfrm>
            <a:off x="313075" y="3575850"/>
            <a:ext cx="1001400" cy="54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594" name="Google Shape;594;p50"/>
          <p:cNvSpPr/>
          <p:nvPr/>
        </p:nvSpPr>
        <p:spPr>
          <a:xfrm>
            <a:off x="1450675" y="30277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50"/>
          <p:cNvSpPr/>
          <p:nvPr/>
        </p:nvSpPr>
        <p:spPr>
          <a:xfrm>
            <a:off x="1925300" y="2843025"/>
            <a:ext cx="1351500" cy="12774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</a:t>
            </a:r>
            <a:endParaRPr/>
          </a:p>
        </p:txBody>
      </p:sp>
      <p:sp>
        <p:nvSpPr>
          <p:cNvPr id="596" name="Google Shape;596;p50"/>
          <p:cNvSpPr/>
          <p:nvPr/>
        </p:nvSpPr>
        <p:spPr>
          <a:xfrm>
            <a:off x="1450675" y="37135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50"/>
          <p:cNvSpPr/>
          <p:nvPr/>
        </p:nvSpPr>
        <p:spPr>
          <a:xfrm>
            <a:off x="3355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50"/>
          <p:cNvSpPr/>
          <p:nvPr/>
        </p:nvSpPr>
        <p:spPr>
          <a:xfrm>
            <a:off x="3830300" y="2843025"/>
            <a:ext cx="1351500" cy="12774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</a:t>
            </a:r>
            <a:endParaRPr/>
          </a:p>
        </p:txBody>
      </p:sp>
      <p:sp>
        <p:nvSpPr>
          <p:cNvPr id="599" name="Google Shape;599;p50"/>
          <p:cNvSpPr/>
          <p:nvPr/>
        </p:nvSpPr>
        <p:spPr>
          <a:xfrm>
            <a:off x="5260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50"/>
          <p:cNvSpPr/>
          <p:nvPr/>
        </p:nvSpPr>
        <p:spPr>
          <a:xfrm>
            <a:off x="5735300" y="2843025"/>
            <a:ext cx="1351500" cy="1277400"/>
          </a:xfrm>
          <a:prstGeom prst="rect">
            <a:avLst/>
          </a:prstGeom>
          <a:solidFill>
            <a:srgbClr val="C5E2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Analyses</a:t>
            </a:r>
            <a:endParaRPr/>
          </a:p>
        </p:txBody>
      </p:sp>
      <p:sp>
        <p:nvSpPr>
          <p:cNvPr id="601" name="Google Shape;601;p50"/>
          <p:cNvSpPr/>
          <p:nvPr/>
        </p:nvSpPr>
        <p:spPr>
          <a:xfrm>
            <a:off x="7165675" y="3256350"/>
            <a:ext cx="4182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50"/>
          <p:cNvSpPr/>
          <p:nvPr/>
        </p:nvSpPr>
        <p:spPr>
          <a:xfrm>
            <a:off x="7640300" y="2843025"/>
            <a:ext cx="1351500" cy="1277400"/>
          </a:xfrm>
          <a:prstGeom prst="rect">
            <a:avLst/>
          </a:prstGeom>
          <a:solidFill>
            <a:srgbClr val="BBCF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Figures</a:t>
            </a:r>
            <a:endParaRPr/>
          </a:p>
        </p:txBody>
      </p:sp>
      <p:sp>
        <p:nvSpPr>
          <p:cNvPr id="603" name="Google Shape;603;p50"/>
          <p:cNvSpPr txBox="1"/>
          <p:nvPr/>
        </p:nvSpPr>
        <p:spPr>
          <a:xfrm>
            <a:off x="20274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1 week</a:t>
            </a:r>
            <a:endParaRPr/>
          </a:p>
        </p:txBody>
      </p:sp>
      <p:sp>
        <p:nvSpPr>
          <p:cNvPr id="604" name="Google Shape;604;p50"/>
          <p:cNvSpPr txBox="1"/>
          <p:nvPr/>
        </p:nvSpPr>
        <p:spPr>
          <a:xfrm>
            <a:off x="4008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2 weeks</a:t>
            </a:r>
            <a:endParaRPr/>
          </a:p>
        </p:txBody>
      </p:sp>
      <p:sp>
        <p:nvSpPr>
          <p:cNvPr id="605" name="Google Shape;605;p50"/>
          <p:cNvSpPr txBox="1"/>
          <p:nvPr/>
        </p:nvSpPr>
        <p:spPr>
          <a:xfrm>
            <a:off x="5913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4 weeks</a:t>
            </a:r>
            <a:endParaRPr/>
          </a:p>
        </p:txBody>
      </p:sp>
      <p:sp>
        <p:nvSpPr>
          <p:cNvPr id="606" name="Google Shape;606;p50"/>
          <p:cNvSpPr txBox="1"/>
          <p:nvPr/>
        </p:nvSpPr>
        <p:spPr>
          <a:xfrm>
            <a:off x="7818650" y="4233425"/>
            <a:ext cx="1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2 weeks</a:t>
            </a:r>
            <a:endParaRPr/>
          </a:p>
        </p:txBody>
      </p:sp>
      <p:sp>
        <p:nvSpPr>
          <p:cNvPr id="607" name="Google Shape;607;p50"/>
          <p:cNvSpPr/>
          <p:nvPr/>
        </p:nvSpPr>
        <p:spPr>
          <a:xfrm rot="-5400000">
            <a:off x="5286375" y="-655700"/>
            <a:ext cx="603000" cy="6349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14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0"/>
          <p:cNvSpPr/>
          <p:nvPr/>
        </p:nvSpPr>
        <p:spPr>
          <a:xfrm>
            <a:off x="4973300" y="938025"/>
            <a:ext cx="1351500" cy="127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Publish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pic>
        <p:nvPicPr>
          <p:cNvPr id="609" name="Google Shape;609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7950" y="869257"/>
            <a:ext cx="1001402" cy="1502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29027" y="983099"/>
            <a:ext cx="1704226" cy="113705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50"/>
          <p:cNvSpPr txBox="1"/>
          <p:nvPr/>
        </p:nvSpPr>
        <p:spPr>
          <a:xfrm rot="-3581381">
            <a:off x="3997666" y="1311602"/>
            <a:ext cx="1263169" cy="4002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 10 minutes</a:t>
            </a:r>
            <a:endParaRPr/>
          </a:p>
        </p:txBody>
      </p:sp>
      <p:sp>
        <p:nvSpPr>
          <p:cNvPr id="612" name="Google Shape;612;p50"/>
          <p:cNvSpPr/>
          <p:nvPr/>
        </p:nvSpPr>
        <p:spPr>
          <a:xfrm rot="-538890">
            <a:off x="2607377" y="2211038"/>
            <a:ext cx="5036655" cy="1536263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I saved people months of work!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(and got a few good citations)</a:t>
            </a:r>
            <a:endParaRPr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1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Reduces Barriers</a:t>
            </a:r>
            <a:endParaRPr/>
          </a:p>
        </p:txBody>
      </p:sp>
      <p:pic>
        <p:nvPicPr>
          <p:cNvPr id="618" name="Google Shape;618;p51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51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0" name="Google Shape;620;p51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51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2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Reduces Barriers</a:t>
            </a:r>
            <a:endParaRPr/>
          </a:p>
        </p:txBody>
      </p:sp>
      <p:sp>
        <p:nvSpPr>
          <p:cNvPr id="627" name="Google Shape;627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52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629" name="Google Shape;629;p52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52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1" name="Google Shape;631;p52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2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3" name="Google Shape;633;p52"/>
          <p:cNvPicPr preferRelativeResize="0"/>
          <p:nvPr/>
        </p:nvPicPr>
        <p:blipFill rotWithShape="1">
          <a:blip r:embed="rId4">
            <a:alphaModFix/>
          </a:blip>
          <a:srcRect b="25630" l="7299" r="9276" t="16145"/>
          <a:stretch/>
        </p:blipFill>
        <p:spPr>
          <a:xfrm>
            <a:off x="180825" y="1417575"/>
            <a:ext cx="5936798" cy="23305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3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Reduces Barriers</a:t>
            </a:r>
            <a:endParaRPr/>
          </a:p>
        </p:txBody>
      </p:sp>
      <p:sp>
        <p:nvSpPr>
          <p:cNvPr id="639" name="Google Shape;639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53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641" name="Google Shape;641;p53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53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3" name="Google Shape;643;p53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53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5" name="Google Shape;645;p53"/>
          <p:cNvPicPr preferRelativeResize="0"/>
          <p:nvPr/>
        </p:nvPicPr>
        <p:blipFill rotWithShape="1">
          <a:blip r:embed="rId4">
            <a:alphaModFix/>
          </a:blip>
          <a:srcRect b="25630" l="7299" r="9276" t="16145"/>
          <a:stretch/>
        </p:blipFill>
        <p:spPr>
          <a:xfrm>
            <a:off x="180825" y="1417575"/>
            <a:ext cx="5936798" cy="23305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6" name="Google Shape;646;p53"/>
          <p:cNvPicPr preferRelativeResize="0"/>
          <p:nvPr/>
        </p:nvPicPr>
        <p:blipFill rotWithShape="1">
          <a:blip r:embed="rId5">
            <a:alphaModFix/>
          </a:blip>
          <a:srcRect b="27703" l="9451" r="11328" t="0"/>
          <a:stretch/>
        </p:blipFill>
        <p:spPr>
          <a:xfrm>
            <a:off x="3829550" y="2265475"/>
            <a:ext cx="4825925" cy="24774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4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Reduces Barriers</a:t>
            </a:r>
            <a:endParaRPr/>
          </a:p>
        </p:txBody>
      </p:sp>
      <p:sp>
        <p:nvSpPr>
          <p:cNvPr id="652" name="Google Shape;652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54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654" name="Google Shape;654;p54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54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6" name="Google Shape;656;p54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4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8" name="Google Shape;658;p54"/>
          <p:cNvPicPr preferRelativeResize="0"/>
          <p:nvPr/>
        </p:nvPicPr>
        <p:blipFill rotWithShape="1">
          <a:blip r:embed="rId4">
            <a:alphaModFix/>
          </a:blip>
          <a:srcRect b="25630" l="7299" r="9276" t="16145"/>
          <a:stretch/>
        </p:blipFill>
        <p:spPr>
          <a:xfrm>
            <a:off x="180825" y="1417575"/>
            <a:ext cx="5936798" cy="23305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9" name="Google Shape;659;p54"/>
          <p:cNvPicPr preferRelativeResize="0"/>
          <p:nvPr/>
        </p:nvPicPr>
        <p:blipFill rotWithShape="1">
          <a:blip r:embed="rId5">
            <a:alphaModFix/>
          </a:blip>
          <a:srcRect b="27703" l="9451" r="11328" t="0"/>
          <a:stretch/>
        </p:blipFill>
        <p:spPr>
          <a:xfrm>
            <a:off x="3829550" y="2265475"/>
            <a:ext cx="4825925" cy="24774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660" name="Google Shape;660;p54"/>
          <p:cNvGrpSpPr/>
          <p:nvPr/>
        </p:nvGrpSpPr>
        <p:grpSpPr>
          <a:xfrm>
            <a:off x="843213" y="2223475"/>
            <a:ext cx="7224226" cy="1952474"/>
            <a:chOff x="1479850" y="1143000"/>
            <a:chExt cx="7224226" cy="1952474"/>
          </a:xfrm>
        </p:grpSpPr>
        <p:pic>
          <p:nvPicPr>
            <p:cNvPr id="661" name="Google Shape;661;p54"/>
            <p:cNvPicPr preferRelativeResize="0"/>
            <p:nvPr/>
          </p:nvPicPr>
          <p:blipFill rotWithShape="1">
            <a:blip r:embed="rId6">
              <a:alphaModFix/>
            </a:blip>
            <a:srcRect b="7224" l="11179" r="9812" t="67557"/>
            <a:stretch/>
          </p:blipFill>
          <p:spPr>
            <a:xfrm>
              <a:off x="1479850" y="1798400"/>
              <a:ext cx="7224226" cy="129707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662" name="Google Shape;662;p54"/>
            <p:cNvPicPr preferRelativeResize="0"/>
            <p:nvPr/>
          </p:nvPicPr>
          <p:blipFill rotWithShape="1">
            <a:blip r:embed="rId6">
              <a:alphaModFix/>
            </a:blip>
            <a:srcRect b="87105" l="11179" r="9812" t="0"/>
            <a:stretch/>
          </p:blipFill>
          <p:spPr>
            <a:xfrm>
              <a:off x="1479850" y="1143000"/>
              <a:ext cx="7224226" cy="66325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5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Reduces Barriers</a:t>
            </a:r>
            <a:endParaRPr/>
          </a:p>
        </p:txBody>
      </p:sp>
      <p:sp>
        <p:nvSpPr>
          <p:cNvPr id="668" name="Google Shape;668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55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670" name="Google Shape;670;p55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5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2" name="Google Shape;672;p55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5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4" name="Google Shape;674;p55"/>
          <p:cNvPicPr preferRelativeResize="0"/>
          <p:nvPr/>
        </p:nvPicPr>
        <p:blipFill rotWithShape="1">
          <a:blip r:embed="rId4">
            <a:alphaModFix/>
          </a:blip>
          <a:srcRect b="25630" l="7299" r="9276" t="16145"/>
          <a:stretch/>
        </p:blipFill>
        <p:spPr>
          <a:xfrm>
            <a:off x="180825" y="1417575"/>
            <a:ext cx="5936798" cy="23305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5" name="Google Shape;675;p55"/>
          <p:cNvPicPr preferRelativeResize="0"/>
          <p:nvPr/>
        </p:nvPicPr>
        <p:blipFill rotWithShape="1">
          <a:blip r:embed="rId5">
            <a:alphaModFix/>
          </a:blip>
          <a:srcRect b="27703" l="9451" r="11328" t="0"/>
          <a:stretch/>
        </p:blipFill>
        <p:spPr>
          <a:xfrm>
            <a:off x="3829550" y="2265475"/>
            <a:ext cx="4825925" cy="24774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676" name="Google Shape;676;p55"/>
          <p:cNvGrpSpPr/>
          <p:nvPr/>
        </p:nvGrpSpPr>
        <p:grpSpPr>
          <a:xfrm>
            <a:off x="843213" y="2223475"/>
            <a:ext cx="7224226" cy="1952474"/>
            <a:chOff x="1479850" y="1143000"/>
            <a:chExt cx="7224226" cy="1952474"/>
          </a:xfrm>
        </p:grpSpPr>
        <p:pic>
          <p:nvPicPr>
            <p:cNvPr id="677" name="Google Shape;677;p55"/>
            <p:cNvPicPr preferRelativeResize="0"/>
            <p:nvPr/>
          </p:nvPicPr>
          <p:blipFill rotWithShape="1">
            <a:blip r:embed="rId6">
              <a:alphaModFix/>
            </a:blip>
            <a:srcRect b="7224" l="11179" r="9812" t="67557"/>
            <a:stretch/>
          </p:blipFill>
          <p:spPr>
            <a:xfrm>
              <a:off x="1479850" y="1798400"/>
              <a:ext cx="7224226" cy="129707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678" name="Google Shape;678;p55"/>
            <p:cNvPicPr preferRelativeResize="0"/>
            <p:nvPr/>
          </p:nvPicPr>
          <p:blipFill rotWithShape="1">
            <a:blip r:embed="rId6">
              <a:alphaModFix/>
            </a:blip>
            <a:srcRect b="87105" l="11179" r="9812" t="0"/>
            <a:stretch/>
          </p:blipFill>
          <p:spPr>
            <a:xfrm>
              <a:off x="1479850" y="1143000"/>
              <a:ext cx="7224226" cy="66325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679" name="Google Shape;679;p55"/>
          <p:cNvSpPr/>
          <p:nvPr/>
        </p:nvSpPr>
        <p:spPr>
          <a:xfrm>
            <a:off x="1596525" y="1598500"/>
            <a:ext cx="5182500" cy="222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$0</a:t>
            </a:r>
            <a:endParaRPr b="1" sz="3200"/>
          </a:p>
        </p:txBody>
      </p:sp>
      <p:pic>
        <p:nvPicPr>
          <p:cNvPr id="680" name="Google Shape;680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71327" y="2376320"/>
            <a:ext cx="1145574" cy="8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37725" y="1840469"/>
            <a:ext cx="952849" cy="1044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5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58982" y="2529399"/>
            <a:ext cx="1600394" cy="103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5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33354" y="1664650"/>
            <a:ext cx="2163421" cy="10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6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Sharing Increases Citations</a:t>
            </a:r>
            <a:endParaRPr/>
          </a:p>
        </p:txBody>
      </p:sp>
      <p:sp>
        <p:nvSpPr>
          <p:cNvPr id="689" name="Google Shape;689;p56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Maitner, et al. (</a:t>
            </a:r>
            <a:r>
              <a:rPr i="1" lang="en" sz="900"/>
              <a:t>in revision</a:t>
            </a:r>
            <a:r>
              <a:rPr lang="en" sz="900"/>
              <a:t>) </a:t>
            </a:r>
            <a:endParaRPr sz="900"/>
          </a:p>
        </p:txBody>
      </p:sp>
      <p:pic>
        <p:nvPicPr>
          <p:cNvPr id="690" name="Google Shape;690;p56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6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2" name="Google Shape;692;p56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56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4" name="Google Shape;694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8725" y="1026075"/>
            <a:ext cx="6732850" cy="336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What is Open Science?</a:t>
            </a:r>
            <a:endParaRPr/>
          </a:p>
        </p:txBody>
      </p:sp>
      <p:sp>
        <p:nvSpPr>
          <p:cNvPr id="700" name="Google Shape;700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Open Science: “transparent and accessible knowledge that is shared and developed through collaborative networks”</a:t>
            </a:r>
            <a:endParaRPr/>
          </a:p>
        </p:txBody>
      </p:sp>
      <p:pic>
        <p:nvPicPr>
          <p:cNvPr id="701" name="Google Shape;70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52" y="1895275"/>
            <a:ext cx="7458496" cy="26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7"/>
          <p:cNvSpPr txBox="1"/>
          <p:nvPr/>
        </p:nvSpPr>
        <p:spPr>
          <a:xfrm>
            <a:off x="0" y="4824700"/>
            <a:ext cx="55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Gallagher, </a:t>
            </a:r>
            <a:r>
              <a:rPr i="1" lang="en" sz="1100"/>
              <a:t>et al.</a:t>
            </a:r>
            <a:r>
              <a:rPr lang="en" sz="1100"/>
              <a:t> (2020) </a:t>
            </a:r>
            <a:r>
              <a:rPr i="1" lang="en" sz="1100"/>
              <a:t>NEE</a:t>
            </a:r>
            <a:endParaRPr i="1" sz="1100"/>
          </a:p>
        </p:txBody>
      </p:sp>
      <p:sp>
        <p:nvSpPr>
          <p:cNvPr id="703" name="Google Shape;703;p57"/>
          <p:cNvSpPr txBox="1"/>
          <p:nvPr/>
        </p:nvSpPr>
        <p:spPr>
          <a:xfrm>
            <a:off x="1061750" y="2006850"/>
            <a:ext cx="2323800" cy="651300"/>
          </a:xfrm>
          <a:prstGeom prst="rect">
            <a:avLst/>
          </a:prstGeom>
          <a:solidFill>
            <a:srgbClr val="C5E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Data</a:t>
            </a:r>
            <a:endParaRPr b="1"/>
          </a:p>
        </p:txBody>
      </p:sp>
      <p:sp>
        <p:nvSpPr>
          <p:cNvPr id="704" name="Google Shape;704;p57"/>
          <p:cNvSpPr txBox="1"/>
          <p:nvPr/>
        </p:nvSpPr>
        <p:spPr>
          <a:xfrm>
            <a:off x="5328950" y="2006850"/>
            <a:ext cx="2323800" cy="651300"/>
          </a:xfrm>
          <a:prstGeom prst="rect">
            <a:avLst/>
          </a:prstGeom>
          <a:solidFill>
            <a:srgbClr val="D7D7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Access</a:t>
            </a:r>
            <a:endParaRPr b="1"/>
          </a:p>
        </p:txBody>
      </p:sp>
      <p:sp>
        <p:nvSpPr>
          <p:cNvPr id="705" name="Google Shape;705;p57"/>
          <p:cNvSpPr txBox="1"/>
          <p:nvPr/>
        </p:nvSpPr>
        <p:spPr>
          <a:xfrm>
            <a:off x="5813750" y="2906425"/>
            <a:ext cx="2323800" cy="6513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Methods</a:t>
            </a:r>
            <a:endParaRPr b="1"/>
          </a:p>
        </p:txBody>
      </p:sp>
      <p:sp>
        <p:nvSpPr>
          <p:cNvPr id="706" name="Google Shape;706;p57"/>
          <p:cNvSpPr txBox="1"/>
          <p:nvPr/>
        </p:nvSpPr>
        <p:spPr>
          <a:xfrm>
            <a:off x="5328950" y="3759450"/>
            <a:ext cx="2323800" cy="651300"/>
          </a:xfrm>
          <a:prstGeom prst="rect">
            <a:avLst/>
          </a:prstGeom>
          <a:solidFill>
            <a:srgbClr val="FEE8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Peer Review</a:t>
            </a:r>
            <a:endParaRPr b="1"/>
          </a:p>
        </p:txBody>
      </p:sp>
      <p:sp>
        <p:nvSpPr>
          <p:cNvPr id="707" name="Google Shape;707;p57"/>
          <p:cNvSpPr txBox="1"/>
          <p:nvPr/>
        </p:nvSpPr>
        <p:spPr>
          <a:xfrm>
            <a:off x="604550" y="2921250"/>
            <a:ext cx="2323800" cy="651300"/>
          </a:xfrm>
          <a:prstGeom prst="rect">
            <a:avLst/>
          </a:prstGeom>
          <a:solidFill>
            <a:srgbClr val="BBCFD3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Resources</a:t>
            </a:r>
            <a:endParaRPr b="1"/>
          </a:p>
        </p:txBody>
      </p:sp>
      <p:sp>
        <p:nvSpPr>
          <p:cNvPr id="708" name="Google Shape;708;p57"/>
          <p:cNvSpPr txBox="1"/>
          <p:nvPr/>
        </p:nvSpPr>
        <p:spPr>
          <a:xfrm>
            <a:off x="974250" y="3759450"/>
            <a:ext cx="2411400" cy="6513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Source</a:t>
            </a:r>
            <a:endParaRPr b="1"/>
          </a:p>
        </p:txBody>
      </p:sp>
      <p:sp>
        <p:nvSpPr>
          <p:cNvPr id="709" name="Google Shape;709;p57"/>
          <p:cNvSpPr/>
          <p:nvPr/>
        </p:nvSpPr>
        <p:spPr>
          <a:xfrm rot="1635982">
            <a:off x="3884841" y="2807539"/>
            <a:ext cx="964578" cy="861667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57"/>
          <p:cNvSpPr txBox="1"/>
          <p:nvPr/>
        </p:nvSpPr>
        <p:spPr>
          <a:xfrm rot="3062">
            <a:off x="3949074" y="3006424"/>
            <a:ext cx="101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Collaboration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&amp; Inclusion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11" name="Google Shape;711;p57"/>
          <p:cNvSpPr/>
          <p:nvPr/>
        </p:nvSpPr>
        <p:spPr>
          <a:xfrm>
            <a:off x="818675" y="3642775"/>
            <a:ext cx="2644800" cy="84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What is Open Science?</a:t>
            </a:r>
            <a:endParaRPr/>
          </a:p>
        </p:txBody>
      </p:sp>
      <p:sp>
        <p:nvSpPr>
          <p:cNvPr id="717" name="Google Shape;717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Open Science: “transparent and accessible knowledge that is shared and developed through collaborative networks”</a:t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52" y="1895275"/>
            <a:ext cx="7458496" cy="26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/>
        </p:nvSpPr>
        <p:spPr>
          <a:xfrm>
            <a:off x="0" y="4824700"/>
            <a:ext cx="55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Gallagher, </a:t>
            </a:r>
            <a:r>
              <a:rPr i="1" lang="en" sz="1100"/>
              <a:t>et al.</a:t>
            </a:r>
            <a:r>
              <a:rPr lang="en" sz="1100"/>
              <a:t> (2020) </a:t>
            </a:r>
            <a:r>
              <a:rPr i="1" lang="en" sz="1100"/>
              <a:t>NEE</a:t>
            </a:r>
            <a:endParaRPr i="1" sz="1100"/>
          </a:p>
        </p:txBody>
      </p:sp>
      <p:sp>
        <p:nvSpPr>
          <p:cNvPr id="720" name="Google Shape;720;p58"/>
          <p:cNvSpPr txBox="1"/>
          <p:nvPr/>
        </p:nvSpPr>
        <p:spPr>
          <a:xfrm>
            <a:off x="1061750" y="2006850"/>
            <a:ext cx="2323800" cy="651300"/>
          </a:xfrm>
          <a:prstGeom prst="rect">
            <a:avLst/>
          </a:prstGeom>
          <a:solidFill>
            <a:srgbClr val="C5E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Data</a:t>
            </a:r>
            <a:endParaRPr b="1"/>
          </a:p>
        </p:txBody>
      </p:sp>
      <p:sp>
        <p:nvSpPr>
          <p:cNvPr id="721" name="Google Shape;721;p58"/>
          <p:cNvSpPr txBox="1"/>
          <p:nvPr/>
        </p:nvSpPr>
        <p:spPr>
          <a:xfrm>
            <a:off x="5328950" y="2006850"/>
            <a:ext cx="2323800" cy="651300"/>
          </a:xfrm>
          <a:prstGeom prst="rect">
            <a:avLst/>
          </a:prstGeom>
          <a:solidFill>
            <a:srgbClr val="D7D7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Access</a:t>
            </a:r>
            <a:endParaRPr b="1"/>
          </a:p>
        </p:txBody>
      </p:sp>
      <p:sp>
        <p:nvSpPr>
          <p:cNvPr id="722" name="Google Shape;722;p58"/>
          <p:cNvSpPr txBox="1"/>
          <p:nvPr/>
        </p:nvSpPr>
        <p:spPr>
          <a:xfrm>
            <a:off x="5813750" y="2906425"/>
            <a:ext cx="2323800" cy="6513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Methods</a:t>
            </a:r>
            <a:endParaRPr b="1"/>
          </a:p>
        </p:txBody>
      </p:sp>
      <p:sp>
        <p:nvSpPr>
          <p:cNvPr id="723" name="Google Shape;723;p58"/>
          <p:cNvSpPr txBox="1"/>
          <p:nvPr/>
        </p:nvSpPr>
        <p:spPr>
          <a:xfrm>
            <a:off x="5328950" y="3759450"/>
            <a:ext cx="2323800" cy="651300"/>
          </a:xfrm>
          <a:prstGeom prst="rect">
            <a:avLst/>
          </a:prstGeom>
          <a:solidFill>
            <a:srgbClr val="FEE8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Peer Review</a:t>
            </a:r>
            <a:endParaRPr b="1"/>
          </a:p>
        </p:txBody>
      </p:sp>
      <p:sp>
        <p:nvSpPr>
          <p:cNvPr id="724" name="Google Shape;724;p58"/>
          <p:cNvSpPr txBox="1"/>
          <p:nvPr/>
        </p:nvSpPr>
        <p:spPr>
          <a:xfrm>
            <a:off x="604550" y="2921250"/>
            <a:ext cx="2323800" cy="651300"/>
          </a:xfrm>
          <a:prstGeom prst="rect">
            <a:avLst/>
          </a:prstGeom>
          <a:solidFill>
            <a:srgbClr val="BBCFD3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Resources</a:t>
            </a:r>
            <a:endParaRPr b="1"/>
          </a:p>
        </p:txBody>
      </p:sp>
      <p:sp>
        <p:nvSpPr>
          <p:cNvPr id="725" name="Google Shape;725;p58"/>
          <p:cNvSpPr txBox="1"/>
          <p:nvPr/>
        </p:nvSpPr>
        <p:spPr>
          <a:xfrm>
            <a:off x="974250" y="3759450"/>
            <a:ext cx="2411400" cy="6513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Source</a:t>
            </a:r>
            <a:endParaRPr b="1"/>
          </a:p>
        </p:txBody>
      </p:sp>
      <p:sp>
        <p:nvSpPr>
          <p:cNvPr id="726" name="Google Shape;726;p58"/>
          <p:cNvSpPr/>
          <p:nvPr/>
        </p:nvSpPr>
        <p:spPr>
          <a:xfrm rot="1635982">
            <a:off x="3884841" y="2807539"/>
            <a:ext cx="964578" cy="861667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58"/>
          <p:cNvSpPr txBox="1"/>
          <p:nvPr/>
        </p:nvSpPr>
        <p:spPr>
          <a:xfrm rot="3062">
            <a:off x="3949074" y="3006424"/>
            <a:ext cx="101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Collaboration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&amp; Inclusion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28" name="Google Shape;728;p58"/>
          <p:cNvSpPr/>
          <p:nvPr/>
        </p:nvSpPr>
        <p:spPr>
          <a:xfrm>
            <a:off x="5695475" y="2804575"/>
            <a:ext cx="2644800" cy="84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9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734" name="Google Shape;734;p59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9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6" name="Google Shape;736;p59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59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8" name="Google Shape;738;p59"/>
          <p:cNvPicPr preferRelativeResize="0"/>
          <p:nvPr/>
        </p:nvPicPr>
        <p:blipFill rotWithShape="1">
          <a:blip r:embed="rId3">
            <a:alphaModFix/>
          </a:blip>
          <a:srcRect b="29638" l="56420" r="30803" t="29264"/>
          <a:stretch/>
        </p:blipFill>
        <p:spPr>
          <a:xfrm>
            <a:off x="122525" y="85500"/>
            <a:ext cx="952850" cy="10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0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Open Methods?</a:t>
            </a:r>
            <a:endParaRPr/>
          </a:p>
        </p:txBody>
      </p:sp>
      <p:sp>
        <p:nvSpPr>
          <p:cNvPr id="746" name="Google Shape;746;p60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747" name="Google Shape;747;p60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0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9" name="Google Shape;749;p60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60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1" name="Google Shape;751;p60"/>
          <p:cNvPicPr preferRelativeResize="0"/>
          <p:nvPr/>
        </p:nvPicPr>
        <p:blipFill rotWithShape="1">
          <a:blip r:embed="rId3">
            <a:alphaModFix/>
          </a:blip>
          <a:srcRect b="29638" l="56420" r="30803" t="29264"/>
          <a:stretch/>
        </p:blipFill>
        <p:spPr>
          <a:xfrm>
            <a:off x="122525" y="85500"/>
            <a:ext cx="952850" cy="10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0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60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-"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</a:rPr>
              <a:t>Making methods underlying research open and freely accessible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1" marL="13716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Char char="-"/>
            </a:pPr>
            <a:r>
              <a:rPr b="1" lang="en">
                <a:solidFill>
                  <a:srgbClr val="333333"/>
                </a:solidFill>
                <a:highlight>
                  <a:srgbClr val="FFFFFF"/>
                </a:highlight>
              </a:rPr>
              <a:t>Examples:</a:t>
            </a:r>
            <a:endParaRPr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2" marL="18288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-"/>
            </a:pPr>
            <a:r>
              <a:rPr lang="en">
                <a:solidFill>
                  <a:srgbClr val="333333"/>
                </a:solidFill>
                <a:highlight>
                  <a:schemeClr val="lt1"/>
                </a:highlight>
              </a:rPr>
              <a:t>Laboratory protocols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2" marL="18288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-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Data collection protocols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2" marL="18288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-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Metadata standards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2" marL="18288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-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Materials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2" marL="18288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-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Reagents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2" marL="18288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-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Code (Overlap with Open Source)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18288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1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Methods Increase Transparency</a:t>
            </a:r>
            <a:endParaRPr/>
          </a:p>
        </p:txBody>
      </p:sp>
      <p:sp>
        <p:nvSpPr>
          <p:cNvPr id="760" name="Google Shape;760;p61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761" name="Google Shape;761;p61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61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3" name="Google Shape;763;p61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1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5" name="Google Shape;765;p61"/>
          <p:cNvPicPr preferRelativeResize="0"/>
          <p:nvPr/>
        </p:nvPicPr>
        <p:blipFill rotWithShape="1">
          <a:blip r:embed="rId3">
            <a:alphaModFix/>
          </a:blip>
          <a:srcRect b="29638" l="56420" r="30803" t="29264"/>
          <a:stretch/>
        </p:blipFill>
        <p:spPr>
          <a:xfrm>
            <a:off x="122525" y="85500"/>
            <a:ext cx="952850" cy="10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1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61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8" name="Google Shape;768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8100" y="1050925"/>
            <a:ext cx="403511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2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Shared Methods Increase Confidence</a:t>
            </a:r>
            <a:endParaRPr/>
          </a:p>
        </p:txBody>
      </p:sp>
      <p:sp>
        <p:nvSpPr>
          <p:cNvPr id="774" name="Google Shape;774;p62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775" name="Google Shape;775;p62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2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7" name="Google Shape;777;p62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62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9" name="Google Shape;779;p62"/>
          <p:cNvPicPr preferRelativeResize="0"/>
          <p:nvPr/>
        </p:nvPicPr>
        <p:blipFill rotWithShape="1">
          <a:blip r:embed="rId3">
            <a:alphaModFix/>
          </a:blip>
          <a:srcRect b="29638" l="56420" r="30803" t="29264"/>
          <a:stretch/>
        </p:blipFill>
        <p:spPr>
          <a:xfrm>
            <a:off x="122525" y="85500"/>
            <a:ext cx="952850" cy="10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2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62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2" name="Google Shape;782;p62"/>
          <p:cNvPicPr preferRelativeResize="0"/>
          <p:nvPr/>
        </p:nvPicPr>
        <p:blipFill rotWithShape="1">
          <a:blip r:embed="rId4">
            <a:alphaModFix/>
          </a:blip>
          <a:srcRect b="30767" l="12062" r="11932" t="13332"/>
          <a:stretch/>
        </p:blipFill>
        <p:spPr>
          <a:xfrm>
            <a:off x="206538" y="1269525"/>
            <a:ext cx="4306910" cy="178167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83" name="Google Shape;783;p62"/>
          <p:cNvPicPr preferRelativeResize="0"/>
          <p:nvPr/>
        </p:nvPicPr>
        <p:blipFill rotWithShape="1">
          <a:blip r:embed="rId5">
            <a:alphaModFix/>
          </a:blip>
          <a:srcRect b="46167" l="40764" r="12593" t="8526"/>
          <a:stretch/>
        </p:blipFill>
        <p:spPr>
          <a:xfrm>
            <a:off x="4406725" y="1590375"/>
            <a:ext cx="4306901" cy="23531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3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Shared Methods Increase Compatibility</a:t>
            </a:r>
            <a:endParaRPr/>
          </a:p>
        </p:txBody>
      </p:sp>
      <p:sp>
        <p:nvSpPr>
          <p:cNvPr id="789" name="Google Shape;789;p63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790" name="Google Shape;790;p63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3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2" name="Google Shape;792;p63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63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4" name="Google Shape;794;p63"/>
          <p:cNvPicPr preferRelativeResize="0"/>
          <p:nvPr/>
        </p:nvPicPr>
        <p:blipFill rotWithShape="1">
          <a:blip r:embed="rId3">
            <a:alphaModFix/>
          </a:blip>
          <a:srcRect b="29638" l="56420" r="30803" t="29264"/>
          <a:stretch/>
        </p:blipFill>
        <p:spPr>
          <a:xfrm>
            <a:off x="122525" y="85500"/>
            <a:ext cx="952850" cy="10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3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63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-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Data Integration is a major time sink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-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Using shared metadata standards and methods increases interoperability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pic>
        <p:nvPicPr>
          <p:cNvPr id="798" name="Google Shape;798;p63"/>
          <p:cNvPicPr preferRelativeResize="0"/>
          <p:nvPr/>
        </p:nvPicPr>
        <p:blipFill rotWithShape="1">
          <a:blip r:embed="rId4">
            <a:alphaModFix/>
          </a:blip>
          <a:srcRect b="42772" l="16852" r="19457" t="19446"/>
          <a:stretch/>
        </p:blipFill>
        <p:spPr>
          <a:xfrm>
            <a:off x="311700" y="1983088"/>
            <a:ext cx="5260176" cy="175517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4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Methods Increase Data Value</a:t>
            </a:r>
            <a:endParaRPr/>
          </a:p>
        </p:txBody>
      </p:sp>
      <p:sp>
        <p:nvSpPr>
          <p:cNvPr id="804" name="Google Shape;804;p64"/>
          <p:cNvSpPr txBox="1"/>
          <p:nvPr/>
        </p:nvSpPr>
        <p:spPr>
          <a:xfrm>
            <a:off x="-304800" y="4771398"/>
            <a:ext cx="602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805" name="Google Shape;805;p64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64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7" name="Google Shape;807;p64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4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9" name="Google Shape;809;p64"/>
          <p:cNvPicPr preferRelativeResize="0"/>
          <p:nvPr/>
        </p:nvPicPr>
        <p:blipFill rotWithShape="1">
          <a:blip r:embed="rId3">
            <a:alphaModFix/>
          </a:blip>
          <a:srcRect b="29638" l="56420" r="30803" t="29264"/>
          <a:stretch/>
        </p:blipFill>
        <p:spPr>
          <a:xfrm>
            <a:off x="122525" y="85500"/>
            <a:ext cx="952850" cy="10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64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64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2" name="Google Shape;812;p64"/>
          <p:cNvPicPr preferRelativeResize="0"/>
          <p:nvPr/>
        </p:nvPicPr>
        <p:blipFill rotWithShape="1">
          <a:blip r:embed="rId4">
            <a:alphaModFix/>
          </a:blip>
          <a:srcRect b="32441" l="35513" r="38580" t="19780"/>
          <a:stretch/>
        </p:blipFill>
        <p:spPr>
          <a:xfrm>
            <a:off x="2493842" y="994650"/>
            <a:ext cx="3287122" cy="3321416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64"/>
          <p:cNvSpPr/>
          <p:nvPr/>
        </p:nvSpPr>
        <p:spPr>
          <a:xfrm>
            <a:off x="2227363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64"/>
          <p:cNvSpPr/>
          <p:nvPr/>
        </p:nvSpPr>
        <p:spPr>
          <a:xfrm>
            <a:off x="2227363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64"/>
          <p:cNvSpPr/>
          <p:nvPr/>
        </p:nvSpPr>
        <p:spPr>
          <a:xfrm>
            <a:off x="5274606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64"/>
          <p:cNvSpPr/>
          <p:nvPr/>
        </p:nvSpPr>
        <p:spPr>
          <a:xfrm>
            <a:off x="5274606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64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https://www.pwc.co.uk/data-analytics/documents/putting-value-on-data.pdf</a:t>
            </a:r>
            <a:endParaRPr sz="9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65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Methods Increase Data Value</a:t>
            </a:r>
            <a:endParaRPr/>
          </a:p>
        </p:txBody>
      </p:sp>
      <p:sp>
        <p:nvSpPr>
          <p:cNvPr id="823" name="Google Shape;823;p65"/>
          <p:cNvSpPr txBox="1"/>
          <p:nvPr/>
        </p:nvSpPr>
        <p:spPr>
          <a:xfrm>
            <a:off x="-304800" y="4771398"/>
            <a:ext cx="602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824" name="Google Shape;824;p65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65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6" name="Google Shape;826;p65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65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8" name="Google Shape;828;p65"/>
          <p:cNvPicPr preferRelativeResize="0"/>
          <p:nvPr/>
        </p:nvPicPr>
        <p:blipFill rotWithShape="1">
          <a:blip r:embed="rId3">
            <a:alphaModFix/>
          </a:blip>
          <a:srcRect b="29638" l="56420" r="30803" t="29264"/>
          <a:stretch/>
        </p:blipFill>
        <p:spPr>
          <a:xfrm>
            <a:off x="122525" y="85500"/>
            <a:ext cx="952850" cy="10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65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65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1" name="Google Shape;831;p65"/>
          <p:cNvPicPr preferRelativeResize="0"/>
          <p:nvPr/>
        </p:nvPicPr>
        <p:blipFill rotWithShape="1">
          <a:blip r:embed="rId4">
            <a:alphaModFix/>
          </a:blip>
          <a:srcRect b="32441" l="35513" r="38580" t="19780"/>
          <a:stretch/>
        </p:blipFill>
        <p:spPr>
          <a:xfrm>
            <a:off x="2493842" y="994650"/>
            <a:ext cx="3287122" cy="3321416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65"/>
          <p:cNvSpPr/>
          <p:nvPr/>
        </p:nvSpPr>
        <p:spPr>
          <a:xfrm>
            <a:off x="2227363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65"/>
          <p:cNvSpPr/>
          <p:nvPr/>
        </p:nvSpPr>
        <p:spPr>
          <a:xfrm>
            <a:off x="2227363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65"/>
          <p:cNvSpPr/>
          <p:nvPr/>
        </p:nvSpPr>
        <p:spPr>
          <a:xfrm>
            <a:off x="5274606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65"/>
          <p:cNvSpPr/>
          <p:nvPr/>
        </p:nvSpPr>
        <p:spPr>
          <a:xfrm>
            <a:off x="5274606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65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https://www.pwc.co.uk/data-analytics/documents/putting-value-on-data.pdf</a:t>
            </a:r>
            <a:endParaRPr sz="900"/>
          </a:p>
        </p:txBody>
      </p:sp>
      <p:sp>
        <p:nvSpPr>
          <p:cNvPr id="837" name="Google Shape;837;p65"/>
          <p:cNvSpPr/>
          <p:nvPr/>
        </p:nvSpPr>
        <p:spPr>
          <a:xfrm>
            <a:off x="3221875" y="1073425"/>
            <a:ext cx="825000" cy="847500"/>
          </a:xfrm>
          <a:prstGeom prst="noSmoking">
            <a:avLst>
              <a:gd fmla="val 4013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66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Methods Increase Data Value</a:t>
            </a:r>
            <a:endParaRPr/>
          </a:p>
        </p:txBody>
      </p:sp>
      <p:sp>
        <p:nvSpPr>
          <p:cNvPr id="843" name="Google Shape;843;p66"/>
          <p:cNvSpPr txBox="1"/>
          <p:nvPr/>
        </p:nvSpPr>
        <p:spPr>
          <a:xfrm>
            <a:off x="-304800" y="4771398"/>
            <a:ext cx="602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844" name="Google Shape;844;p66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66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6" name="Google Shape;846;p66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66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8" name="Google Shape;848;p66"/>
          <p:cNvPicPr preferRelativeResize="0"/>
          <p:nvPr/>
        </p:nvPicPr>
        <p:blipFill rotWithShape="1">
          <a:blip r:embed="rId3">
            <a:alphaModFix/>
          </a:blip>
          <a:srcRect b="29638" l="56420" r="30803" t="29264"/>
          <a:stretch/>
        </p:blipFill>
        <p:spPr>
          <a:xfrm>
            <a:off x="122525" y="85500"/>
            <a:ext cx="952850" cy="10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66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66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1" name="Google Shape;851;p66"/>
          <p:cNvPicPr preferRelativeResize="0"/>
          <p:nvPr/>
        </p:nvPicPr>
        <p:blipFill rotWithShape="1">
          <a:blip r:embed="rId4">
            <a:alphaModFix/>
          </a:blip>
          <a:srcRect b="32441" l="35513" r="38580" t="19780"/>
          <a:stretch/>
        </p:blipFill>
        <p:spPr>
          <a:xfrm>
            <a:off x="2493842" y="994650"/>
            <a:ext cx="3287122" cy="3321416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66"/>
          <p:cNvSpPr/>
          <p:nvPr/>
        </p:nvSpPr>
        <p:spPr>
          <a:xfrm>
            <a:off x="2227363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66"/>
          <p:cNvSpPr/>
          <p:nvPr/>
        </p:nvSpPr>
        <p:spPr>
          <a:xfrm>
            <a:off x="2227363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66"/>
          <p:cNvSpPr/>
          <p:nvPr/>
        </p:nvSpPr>
        <p:spPr>
          <a:xfrm>
            <a:off x="5274606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66"/>
          <p:cNvSpPr/>
          <p:nvPr/>
        </p:nvSpPr>
        <p:spPr>
          <a:xfrm>
            <a:off x="5274606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66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https://www.pwc.co.uk/data-analytics/documents/putting-value-on-data.pdf</a:t>
            </a:r>
            <a:endParaRPr sz="900"/>
          </a:p>
        </p:txBody>
      </p:sp>
      <p:sp>
        <p:nvSpPr>
          <p:cNvPr id="857" name="Google Shape;857;p66"/>
          <p:cNvSpPr/>
          <p:nvPr/>
        </p:nvSpPr>
        <p:spPr>
          <a:xfrm>
            <a:off x="3221875" y="1073425"/>
            <a:ext cx="825000" cy="847500"/>
          </a:xfrm>
          <a:prstGeom prst="noSmoking">
            <a:avLst>
              <a:gd fmla="val 4013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66"/>
          <p:cNvSpPr/>
          <p:nvPr/>
        </p:nvSpPr>
        <p:spPr>
          <a:xfrm>
            <a:off x="4800600" y="17232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67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Methods Increase Data Value</a:t>
            </a:r>
            <a:endParaRPr/>
          </a:p>
        </p:txBody>
      </p:sp>
      <p:sp>
        <p:nvSpPr>
          <p:cNvPr id="864" name="Google Shape;864;p67"/>
          <p:cNvSpPr txBox="1"/>
          <p:nvPr/>
        </p:nvSpPr>
        <p:spPr>
          <a:xfrm>
            <a:off x="-304800" y="4771398"/>
            <a:ext cx="602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865" name="Google Shape;865;p67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67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7" name="Google Shape;867;p67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67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9" name="Google Shape;869;p67"/>
          <p:cNvPicPr preferRelativeResize="0"/>
          <p:nvPr/>
        </p:nvPicPr>
        <p:blipFill rotWithShape="1">
          <a:blip r:embed="rId3">
            <a:alphaModFix/>
          </a:blip>
          <a:srcRect b="29638" l="56420" r="30803" t="29264"/>
          <a:stretch/>
        </p:blipFill>
        <p:spPr>
          <a:xfrm>
            <a:off x="122525" y="85500"/>
            <a:ext cx="952850" cy="10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67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67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2" name="Google Shape;872;p67"/>
          <p:cNvPicPr preferRelativeResize="0"/>
          <p:nvPr/>
        </p:nvPicPr>
        <p:blipFill rotWithShape="1">
          <a:blip r:embed="rId4">
            <a:alphaModFix/>
          </a:blip>
          <a:srcRect b="32441" l="35513" r="38580" t="19780"/>
          <a:stretch/>
        </p:blipFill>
        <p:spPr>
          <a:xfrm>
            <a:off x="2493842" y="994650"/>
            <a:ext cx="3287122" cy="3321416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67"/>
          <p:cNvSpPr/>
          <p:nvPr/>
        </p:nvSpPr>
        <p:spPr>
          <a:xfrm>
            <a:off x="2227363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67"/>
          <p:cNvSpPr/>
          <p:nvPr/>
        </p:nvSpPr>
        <p:spPr>
          <a:xfrm>
            <a:off x="2227363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67"/>
          <p:cNvSpPr/>
          <p:nvPr/>
        </p:nvSpPr>
        <p:spPr>
          <a:xfrm>
            <a:off x="5274606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67"/>
          <p:cNvSpPr/>
          <p:nvPr/>
        </p:nvSpPr>
        <p:spPr>
          <a:xfrm>
            <a:off x="5274606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67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https://www.pwc.co.uk/data-analytics/documents/putting-value-on-data.pdf</a:t>
            </a:r>
            <a:endParaRPr sz="900"/>
          </a:p>
        </p:txBody>
      </p:sp>
      <p:sp>
        <p:nvSpPr>
          <p:cNvPr id="878" name="Google Shape;878;p67"/>
          <p:cNvSpPr/>
          <p:nvPr/>
        </p:nvSpPr>
        <p:spPr>
          <a:xfrm>
            <a:off x="3221875" y="1073425"/>
            <a:ext cx="825000" cy="847500"/>
          </a:xfrm>
          <a:prstGeom prst="noSmoking">
            <a:avLst>
              <a:gd fmla="val 4013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7"/>
          <p:cNvSpPr/>
          <p:nvPr/>
        </p:nvSpPr>
        <p:spPr>
          <a:xfrm>
            <a:off x="4800600" y="17232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67"/>
          <p:cNvSpPr/>
          <p:nvPr/>
        </p:nvSpPr>
        <p:spPr>
          <a:xfrm>
            <a:off x="4800600" y="27138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68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Methods Increase Data Value</a:t>
            </a:r>
            <a:endParaRPr/>
          </a:p>
        </p:txBody>
      </p:sp>
      <p:sp>
        <p:nvSpPr>
          <p:cNvPr id="886" name="Google Shape;886;p68"/>
          <p:cNvSpPr txBox="1"/>
          <p:nvPr/>
        </p:nvSpPr>
        <p:spPr>
          <a:xfrm>
            <a:off x="-304800" y="4771398"/>
            <a:ext cx="602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887" name="Google Shape;887;p68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68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68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68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1" name="Google Shape;891;p68"/>
          <p:cNvPicPr preferRelativeResize="0"/>
          <p:nvPr/>
        </p:nvPicPr>
        <p:blipFill rotWithShape="1">
          <a:blip r:embed="rId3">
            <a:alphaModFix/>
          </a:blip>
          <a:srcRect b="29638" l="56420" r="30803" t="29264"/>
          <a:stretch/>
        </p:blipFill>
        <p:spPr>
          <a:xfrm>
            <a:off x="122525" y="85500"/>
            <a:ext cx="952850" cy="10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68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68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68"/>
          <p:cNvPicPr preferRelativeResize="0"/>
          <p:nvPr/>
        </p:nvPicPr>
        <p:blipFill rotWithShape="1">
          <a:blip r:embed="rId4">
            <a:alphaModFix/>
          </a:blip>
          <a:srcRect b="32441" l="35513" r="38580" t="19780"/>
          <a:stretch/>
        </p:blipFill>
        <p:spPr>
          <a:xfrm>
            <a:off x="2493842" y="994650"/>
            <a:ext cx="3287122" cy="3321416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68"/>
          <p:cNvSpPr/>
          <p:nvPr/>
        </p:nvSpPr>
        <p:spPr>
          <a:xfrm>
            <a:off x="2227363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68"/>
          <p:cNvSpPr/>
          <p:nvPr/>
        </p:nvSpPr>
        <p:spPr>
          <a:xfrm>
            <a:off x="2227363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68"/>
          <p:cNvSpPr/>
          <p:nvPr/>
        </p:nvSpPr>
        <p:spPr>
          <a:xfrm>
            <a:off x="5274606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68"/>
          <p:cNvSpPr/>
          <p:nvPr/>
        </p:nvSpPr>
        <p:spPr>
          <a:xfrm>
            <a:off x="5274606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68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https://www.pwc.co.uk/data-analytics/documents/putting-value-on-data.pdf</a:t>
            </a:r>
            <a:endParaRPr sz="900"/>
          </a:p>
        </p:txBody>
      </p:sp>
      <p:sp>
        <p:nvSpPr>
          <p:cNvPr id="900" name="Google Shape;900;p68"/>
          <p:cNvSpPr/>
          <p:nvPr/>
        </p:nvSpPr>
        <p:spPr>
          <a:xfrm>
            <a:off x="3221875" y="1073425"/>
            <a:ext cx="825000" cy="847500"/>
          </a:xfrm>
          <a:prstGeom prst="noSmoking">
            <a:avLst>
              <a:gd fmla="val 4013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68"/>
          <p:cNvSpPr/>
          <p:nvPr/>
        </p:nvSpPr>
        <p:spPr>
          <a:xfrm>
            <a:off x="4800600" y="17232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68"/>
          <p:cNvSpPr/>
          <p:nvPr/>
        </p:nvSpPr>
        <p:spPr>
          <a:xfrm>
            <a:off x="4800600" y="27138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68"/>
          <p:cNvSpPr/>
          <p:nvPr/>
        </p:nvSpPr>
        <p:spPr>
          <a:xfrm>
            <a:off x="4114800" y="33996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69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Methods Increase Data Value</a:t>
            </a:r>
            <a:endParaRPr/>
          </a:p>
        </p:txBody>
      </p:sp>
      <p:sp>
        <p:nvSpPr>
          <p:cNvPr id="909" name="Google Shape;909;p69"/>
          <p:cNvSpPr txBox="1"/>
          <p:nvPr/>
        </p:nvSpPr>
        <p:spPr>
          <a:xfrm>
            <a:off x="-304800" y="4771398"/>
            <a:ext cx="602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910" name="Google Shape;910;p69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69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2" name="Google Shape;912;p69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69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4" name="Google Shape;914;p69"/>
          <p:cNvPicPr preferRelativeResize="0"/>
          <p:nvPr/>
        </p:nvPicPr>
        <p:blipFill rotWithShape="1">
          <a:blip r:embed="rId3">
            <a:alphaModFix/>
          </a:blip>
          <a:srcRect b="29638" l="56420" r="30803" t="29264"/>
          <a:stretch/>
        </p:blipFill>
        <p:spPr>
          <a:xfrm>
            <a:off x="122525" y="85500"/>
            <a:ext cx="952850" cy="10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69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69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7" name="Google Shape;917;p69"/>
          <p:cNvPicPr preferRelativeResize="0"/>
          <p:nvPr/>
        </p:nvPicPr>
        <p:blipFill rotWithShape="1">
          <a:blip r:embed="rId4">
            <a:alphaModFix/>
          </a:blip>
          <a:srcRect b="32441" l="35513" r="38580" t="19780"/>
          <a:stretch/>
        </p:blipFill>
        <p:spPr>
          <a:xfrm>
            <a:off x="2493842" y="994650"/>
            <a:ext cx="3287122" cy="3321416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69"/>
          <p:cNvSpPr/>
          <p:nvPr/>
        </p:nvSpPr>
        <p:spPr>
          <a:xfrm>
            <a:off x="2227363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69"/>
          <p:cNvSpPr/>
          <p:nvPr/>
        </p:nvSpPr>
        <p:spPr>
          <a:xfrm>
            <a:off x="2227363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69"/>
          <p:cNvSpPr/>
          <p:nvPr/>
        </p:nvSpPr>
        <p:spPr>
          <a:xfrm>
            <a:off x="5274606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69"/>
          <p:cNvSpPr/>
          <p:nvPr/>
        </p:nvSpPr>
        <p:spPr>
          <a:xfrm>
            <a:off x="5274606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69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https://www.pwc.co.uk/data-analytics/documents/putting-value-on-data.pdf</a:t>
            </a:r>
            <a:endParaRPr sz="900"/>
          </a:p>
        </p:txBody>
      </p:sp>
      <p:sp>
        <p:nvSpPr>
          <p:cNvPr id="923" name="Google Shape;923;p69"/>
          <p:cNvSpPr/>
          <p:nvPr/>
        </p:nvSpPr>
        <p:spPr>
          <a:xfrm>
            <a:off x="3221875" y="1073425"/>
            <a:ext cx="825000" cy="847500"/>
          </a:xfrm>
          <a:prstGeom prst="noSmoking">
            <a:avLst>
              <a:gd fmla="val 4013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69"/>
          <p:cNvSpPr/>
          <p:nvPr/>
        </p:nvSpPr>
        <p:spPr>
          <a:xfrm>
            <a:off x="4800600" y="17232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69"/>
          <p:cNvSpPr/>
          <p:nvPr/>
        </p:nvSpPr>
        <p:spPr>
          <a:xfrm>
            <a:off x="4800600" y="27138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69"/>
          <p:cNvSpPr/>
          <p:nvPr/>
        </p:nvSpPr>
        <p:spPr>
          <a:xfrm>
            <a:off x="4114800" y="33996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69"/>
          <p:cNvSpPr/>
          <p:nvPr/>
        </p:nvSpPr>
        <p:spPr>
          <a:xfrm>
            <a:off x="3124200" y="33996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70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Methods Increase Data Value</a:t>
            </a:r>
            <a:endParaRPr/>
          </a:p>
        </p:txBody>
      </p:sp>
      <p:sp>
        <p:nvSpPr>
          <p:cNvPr id="933" name="Google Shape;933;p70"/>
          <p:cNvSpPr txBox="1"/>
          <p:nvPr/>
        </p:nvSpPr>
        <p:spPr>
          <a:xfrm>
            <a:off x="-304800" y="4771398"/>
            <a:ext cx="602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934" name="Google Shape;934;p70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70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6" name="Google Shape;936;p70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70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8" name="Google Shape;938;p70"/>
          <p:cNvPicPr preferRelativeResize="0"/>
          <p:nvPr/>
        </p:nvPicPr>
        <p:blipFill rotWithShape="1">
          <a:blip r:embed="rId3">
            <a:alphaModFix/>
          </a:blip>
          <a:srcRect b="29638" l="56420" r="30803" t="29264"/>
          <a:stretch/>
        </p:blipFill>
        <p:spPr>
          <a:xfrm>
            <a:off x="122525" y="85500"/>
            <a:ext cx="952850" cy="10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70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70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1" name="Google Shape;941;p70"/>
          <p:cNvPicPr preferRelativeResize="0"/>
          <p:nvPr/>
        </p:nvPicPr>
        <p:blipFill rotWithShape="1">
          <a:blip r:embed="rId4">
            <a:alphaModFix/>
          </a:blip>
          <a:srcRect b="32441" l="35513" r="38580" t="19780"/>
          <a:stretch/>
        </p:blipFill>
        <p:spPr>
          <a:xfrm>
            <a:off x="2493842" y="994650"/>
            <a:ext cx="3287122" cy="3321416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70"/>
          <p:cNvSpPr/>
          <p:nvPr/>
        </p:nvSpPr>
        <p:spPr>
          <a:xfrm>
            <a:off x="2227363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70"/>
          <p:cNvSpPr/>
          <p:nvPr/>
        </p:nvSpPr>
        <p:spPr>
          <a:xfrm>
            <a:off x="2227363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70"/>
          <p:cNvSpPr/>
          <p:nvPr/>
        </p:nvSpPr>
        <p:spPr>
          <a:xfrm>
            <a:off x="5274606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70"/>
          <p:cNvSpPr/>
          <p:nvPr/>
        </p:nvSpPr>
        <p:spPr>
          <a:xfrm>
            <a:off x="5274606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70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https://www.pwc.co.uk/data-analytics/documents/putting-value-on-data.pdf</a:t>
            </a:r>
            <a:endParaRPr sz="900"/>
          </a:p>
        </p:txBody>
      </p:sp>
      <p:sp>
        <p:nvSpPr>
          <p:cNvPr id="947" name="Google Shape;947;p70"/>
          <p:cNvSpPr/>
          <p:nvPr/>
        </p:nvSpPr>
        <p:spPr>
          <a:xfrm>
            <a:off x="3221875" y="1073425"/>
            <a:ext cx="825000" cy="847500"/>
          </a:xfrm>
          <a:prstGeom prst="noSmoking">
            <a:avLst>
              <a:gd fmla="val 4013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70"/>
          <p:cNvSpPr/>
          <p:nvPr/>
        </p:nvSpPr>
        <p:spPr>
          <a:xfrm>
            <a:off x="4800600" y="17232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70"/>
          <p:cNvSpPr/>
          <p:nvPr/>
        </p:nvSpPr>
        <p:spPr>
          <a:xfrm>
            <a:off x="4800600" y="27138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70"/>
          <p:cNvSpPr/>
          <p:nvPr/>
        </p:nvSpPr>
        <p:spPr>
          <a:xfrm>
            <a:off x="4114800" y="33996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70"/>
          <p:cNvSpPr/>
          <p:nvPr/>
        </p:nvSpPr>
        <p:spPr>
          <a:xfrm>
            <a:off x="3124200" y="33996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70"/>
          <p:cNvSpPr/>
          <p:nvPr/>
        </p:nvSpPr>
        <p:spPr>
          <a:xfrm>
            <a:off x="2438400" y="27138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71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Methods Increase Data Value</a:t>
            </a:r>
            <a:endParaRPr/>
          </a:p>
        </p:txBody>
      </p:sp>
      <p:sp>
        <p:nvSpPr>
          <p:cNvPr id="958" name="Google Shape;958;p71"/>
          <p:cNvSpPr txBox="1"/>
          <p:nvPr/>
        </p:nvSpPr>
        <p:spPr>
          <a:xfrm>
            <a:off x="-304800" y="4771398"/>
            <a:ext cx="602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959" name="Google Shape;959;p71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71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1" name="Google Shape;961;p71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71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3" name="Google Shape;963;p71"/>
          <p:cNvPicPr preferRelativeResize="0"/>
          <p:nvPr/>
        </p:nvPicPr>
        <p:blipFill rotWithShape="1">
          <a:blip r:embed="rId3">
            <a:alphaModFix/>
          </a:blip>
          <a:srcRect b="29638" l="56420" r="30803" t="29264"/>
          <a:stretch/>
        </p:blipFill>
        <p:spPr>
          <a:xfrm>
            <a:off x="122525" y="85500"/>
            <a:ext cx="952850" cy="10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71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71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6" name="Google Shape;966;p71"/>
          <p:cNvPicPr preferRelativeResize="0"/>
          <p:nvPr/>
        </p:nvPicPr>
        <p:blipFill rotWithShape="1">
          <a:blip r:embed="rId4">
            <a:alphaModFix/>
          </a:blip>
          <a:srcRect b="32441" l="35513" r="38580" t="19780"/>
          <a:stretch/>
        </p:blipFill>
        <p:spPr>
          <a:xfrm>
            <a:off x="2493842" y="994650"/>
            <a:ext cx="3287122" cy="3321416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71"/>
          <p:cNvSpPr/>
          <p:nvPr/>
        </p:nvSpPr>
        <p:spPr>
          <a:xfrm>
            <a:off x="2227363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71"/>
          <p:cNvSpPr/>
          <p:nvPr/>
        </p:nvSpPr>
        <p:spPr>
          <a:xfrm>
            <a:off x="2227363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71"/>
          <p:cNvSpPr/>
          <p:nvPr/>
        </p:nvSpPr>
        <p:spPr>
          <a:xfrm>
            <a:off x="5274606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71"/>
          <p:cNvSpPr/>
          <p:nvPr/>
        </p:nvSpPr>
        <p:spPr>
          <a:xfrm>
            <a:off x="5274606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71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https://www.pwc.co.uk/data-analytics/documents/putting-value-on-data.pdf</a:t>
            </a:r>
            <a:endParaRPr sz="900"/>
          </a:p>
        </p:txBody>
      </p:sp>
      <p:sp>
        <p:nvSpPr>
          <p:cNvPr id="972" name="Google Shape;972;p71"/>
          <p:cNvSpPr/>
          <p:nvPr/>
        </p:nvSpPr>
        <p:spPr>
          <a:xfrm>
            <a:off x="3221875" y="1073425"/>
            <a:ext cx="825000" cy="847500"/>
          </a:xfrm>
          <a:prstGeom prst="noSmoking">
            <a:avLst>
              <a:gd fmla="val 4013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71"/>
          <p:cNvSpPr/>
          <p:nvPr/>
        </p:nvSpPr>
        <p:spPr>
          <a:xfrm>
            <a:off x="4800600" y="17232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71"/>
          <p:cNvSpPr/>
          <p:nvPr/>
        </p:nvSpPr>
        <p:spPr>
          <a:xfrm>
            <a:off x="4800600" y="27138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71"/>
          <p:cNvSpPr/>
          <p:nvPr/>
        </p:nvSpPr>
        <p:spPr>
          <a:xfrm>
            <a:off x="4114800" y="33996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71"/>
          <p:cNvSpPr/>
          <p:nvPr/>
        </p:nvSpPr>
        <p:spPr>
          <a:xfrm>
            <a:off x="3124200" y="33996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71"/>
          <p:cNvSpPr/>
          <p:nvPr/>
        </p:nvSpPr>
        <p:spPr>
          <a:xfrm>
            <a:off x="2438400" y="27138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71"/>
          <p:cNvSpPr/>
          <p:nvPr/>
        </p:nvSpPr>
        <p:spPr>
          <a:xfrm>
            <a:off x="2438400" y="17232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72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Methods Increase Data Value</a:t>
            </a:r>
            <a:endParaRPr/>
          </a:p>
        </p:txBody>
      </p:sp>
      <p:sp>
        <p:nvSpPr>
          <p:cNvPr id="984" name="Google Shape;984;p72"/>
          <p:cNvSpPr txBox="1"/>
          <p:nvPr/>
        </p:nvSpPr>
        <p:spPr>
          <a:xfrm>
            <a:off x="-304800" y="4771398"/>
            <a:ext cx="602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985" name="Google Shape;985;p72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72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7" name="Google Shape;987;p72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72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9" name="Google Shape;989;p72"/>
          <p:cNvPicPr preferRelativeResize="0"/>
          <p:nvPr/>
        </p:nvPicPr>
        <p:blipFill rotWithShape="1">
          <a:blip r:embed="rId3">
            <a:alphaModFix/>
          </a:blip>
          <a:srcRect b="29638" l="56420" r="30803" t="29264"/>
          <a:stretch/>
        </p:blipFill>
        <p:spPr>
          <a:xfrm>
            <a:off x="122525" y="85500"/>
            <a:ext cx="952850" cy="10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72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72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2" name="Google Shape;992;p72"/>
          <p:cNvPicPr preferRelativeResize="0"/>
          <p:nvPr/>
        </p:nvPicPr>
        <p:blipFill rotWithShape="1">
          <a:blip r:embed="rId4">
            <a:alphaModFix/>
          </a:blip>
          <a:srcRect b="32441" l="35513" r="38580" t="19780"/>
          <a:stretch/>
        </p:blipFill>
        <p:spPr>
          <a:xfrm>
            <a:off x="2493842" y="994650"/>
            <a:ext cx="3287122" cy="3321416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72"/>
          <p:cNvSpPr/>
          <p:nvPr/>
        </p:nvSpPr>
        <p:spPr>
          <a:xfrm>
            <a:off x="2227363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72"/>
          <p:cNvSpPr/>
          <p:nvPr/>
        </p:nvSpPr>
        <p:spPr>
          <a:xfrm>
            <a:off x="2227363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72"/>
          <p:cNvSpPr/>
          <p:nvPr/>
        </p:nvSpPr>
        <p:spPr>
          <a:xfrm>
            <a:off x="5274606" y="994650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72"/>
          <p:cNvSpPr/>
          <p:nvPr/>
        </p:nvSpPr>
        <p:spPr>
          <a:xfrm>
            <a:off x="5274606" y="3871373"/>
            <a:ext cx="963000" cy="71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72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https://www.pwc.co.uk/data-analytics/documents/putting-value-on-data.pdf</a:t>
            </a:r>
            <a:endParaRPr sz="900"/>
          </a:p>
        </p:txBody>
      </p:sp>
      <p:sp>
        <p:nvSpPr>
          <p:cNvPr id="998" name="Google Shape;998;p72"/>
          <p:cNvSpPr/>
          <p:nvPr/>
        </p:nvSpPr>
        <p:spPr>
          <a:xfrm>
            <a:off x="3221875" y="1073425"/>
            <a:ext cx="825000" cy="847500"/>
          </a:xfrm>
          <a:prstGeom prst="noSmoking">
            <a:avLst>
              <a:gd fmla="val 4013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72"/>
          <p:cNvSpPr/>
          <p:nvPr/>
        </p:nvSpPr>
        <p:spPr>
          <a:xfrm>
            <a:off x="4800600" y="17232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72"/>
          <p:cNvSpPr/>
          <p:nvPr/>
        </p:nvSpPr>
        <p:spPr>
          <a:xfrm>
            <a:off x="4800600" y="27138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72"/>
          <p:cNvSpPr/>
          <p:nvPr/>
        </p:nvSpPr>
        <p:spPr>
          <a:xfrm>
            <a:off x="4114800" y="33996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72"/>
          <p:cNvSpPr/>
          <p:nvPr/>
        </p:nvSpPr>
        <p:spPr>
          <a:xfrm>
            <a:off x="3124200" y="33996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72"/>
          <p:cNvSpPr/>
          <p:nvPr/>
        </p:nvSpPr>
        <p:spPr>
          <a:xfrm>
            <a:off x="2438400" y="27138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72"/>
          <p:cNvSpPr/>
          <p:nvPr/>
        </p:nvSpPr>
        <p:spPr>
          <a:xfrm>
            <a:off x="2438400" y="17232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72"/>
          <p:cNvSpPr/>
          <p:nvPr/>
        </p:nvSpPr>
        <p:spPr>
          <a:xfrm>
            <a:off x="4114800" y="1037475"/>
            <a:ext cx="1059600" cy="924600"/>
          </a:xfrm>
          <a:prstGeom prst="ellipse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73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Papers Are Highly Cited</a:t>
            </a:r>
            <a:endParaRPr/>
          </a:p>
        </p:txBody>
      </p:sp>
      <p:sp>
        <p:nvSpPr>
          <p:cNvPr id="1011" name="Google Shape;1011;p73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Van Noorden, et al. (2014) Nature</a:t>
            </a:r>
            <a:endParaRPr sz="900"/>
          </a:p>
        </p:txBody>
      </p:sp>
      <p:pic>
        <p:nvPicPr>
          <p:cNvPr id="1012" name="Google Shape;1012;p73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73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4" name="Google Shape;1014;p73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73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6" name="Google Shape;1016;p73"/>
          <p:cNvPicPr preferRelativeResize="0"/>
          <p:nvPr/>
        </p:nvPicPr>
        <p:blipFill rotWithShape="1">
          <a:blip r:embed="rId3">
            <a:alphaModFix/>
          </a:blip>
          <a:srcRect b="29638" l="56420" r="30803" t="29264"/>
          <a:stretch/>
        </p:blipFill>
        <p:spPr>
          <a:xfrm>
            <a:off x="122525" y="85500"/>
            <a:ext cx="952850" cy="10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73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73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9" name="Google Shape;1019;p73"/>
          <p:cNvPicPr preferRelativeResize="0"/>
          <p:nvPr/>
        </p:nvPicPr>
        <p:blipFill rotWithShape="1">
          <a:blip r:embed="rId4">
            <a:alphaModFix/>
          </a:blip>
          <a:srcRect b="10746" l="56055" r="8729" t="0"/>
          <a:stretch/>
        </p:blipFill>
        <p:spPr>
          <a:xfrm>
            <a:off x="1120100" y="881575"/>
            <a:ext cx="2761349" cy="39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74"/>
          <p:cNvSpPr txBox="1"/>
          <p:nvPr>
            <p:ph type="title"/>
          </p:nvPr>
        </p:nvSpPr>
        <p:spPr>
          <a:xfrm>
            <a:off x="1168725" y="406125"/>
            <a:ext cx="7313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Papers Are Highly Cited</a:t>
            </a:r>
            <a:endParaRPr/>
          </a:p>
        </p:txBody>
      </p:sp>
      <p:sp>
        <p:nvSpPr>
          <p:cNvPr id="1025" name="Google Shape;1025;p74"/>
          <p:cNvSpPr txBox="1"/>
          <p:nvPr/>
        </p:nvSpPr>
        <p:spPr>
          <a:xfrm>
            <a:off x="0" y="4824700"/>
            <a:ext cx="559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Van Noorden, et al. (2014) Nature</a:t>
            </a:r>
            <a:endParaRPr sz="900"/>
          </a:p>
        </p:txBody>
      </p:sp>
      <p:pic>
        <p:nvPicPr>
          <p:cNvPr id="1026" name="Google Shape;1026;p74"/>
          <p:cNvPicPr preferRelativeResize="0"/>
          <p:nvPr/>
        </p:nvPicPr>
        <p:blipFill rotWithShape="1">
          <a:blip r:embed="rId3">
            <a:alphaModFix/>
          </a:blip>
          <a:srcRect b="61279" l="37256" r="49968" t="0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74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8" name="Google Shape;1028;p74"/>
          <p:cNvPicPr preferRelativeResize="0"/>
          <p:nvPr/>
        </p:nvPicPr>
        <p:blipFill rotWithShape="1">
          <a:blip r:embed="rId3">
            <a:alphaModFix/>
          </a:blip>
          <a:srcRect b="0" l="37256" r="49968" t="61279"/>
          <a:stretch/>
        </p:blipFill>
        <p:spPr>
          <a:xfrm>
            <a:off x="122525" y="117225"/>
            <a:ext cx="952850" cy="1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74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0" name="Google Shape;1030;p74"/>
          <p:cNvPicPr preferRelativeResize="0"/>
          <p:nvPr/>
        </p:nvPicPr>
        <p:blipFill rotWithShape="1">
          <a:blip r:embed="rId3">
            <a:alphaModFix/>
          </a:blip>
          <a:srcRect b="29638" l="56420" r="30803" t="29264"/>
          <a:stretch/>
        </p:blipFill>
        <p:spPr>
          <a:xfrm>
            <a:off x="122525" y="85500"/>
            <a:ext cx="952850" cy="10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74"/>
          <p:cNvSpPr/>
          <p:nvPr/>
        </p:nvSpPr>
        <p:spPr>
          <a:xfrm flipH="1" rot="10800000">
            <a:off x="111200" y="17889"/>
            <a:ext cx="632100" cy="3231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74"/>
          <p:cNvSpPr/>
          <p:nvPr/>
        </p:nvSpPr>
        <p:spPr>
          <a:xfrm>
            <a:off x="35000" y="869250"/>
            <a:ext cx="632100" cy="354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3" name="Google Shape;1033;p74"/>
          <p:cNvPicPr preferRelativeResize="0"/>
          <p:nvPr/>
        </p:nvPicPr>
        <p:blipFill rotWithShape="1">
          <a:blip r:embed="rId4">
            <a:alphaModFix/>
          </a:blip>
          <a:srcRect b="10746" l="56055" r="8729" t="0"/>
          <a:stretch/>
        </p:blipFill>
        <p:spPr>
          <a:xfrm>
            <a:off x="1120100" y="881575"/>
            <a:ext cx="2761349" cy="39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3200" y="1504750"/>
            <a:ext cx="4752549" cy="23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74"/>
          <p:cNvSpPr txBox="1"/>
          <p:nvPr/>
        </p:nvSpPr>
        <p:spPr>
          <a:xfrm>
            <a:off x="4334450" y="881575"/>
            <a:ext cx="457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(as are open access papers, so presumably Open Methods will be especially successful? )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What is Open Science?</a:t>
            </a:r>
            <a:endParaRPr/>
          </a:p>
        </p:txBody>
      </p:sp>
      <p:sp>
        <p:nvSpPr>
          <p:cNvPr id="1041" name="Google Shape;1041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Open Science: “transparent and accessible knowledge that is shared and developed through collaborative networks”</a:t>
            </a:r>
            <a:endParaRPr/>
          </a:p>
        </p:txBody>
      </p:sp>
      <p:pic>
        <p:nvPicPr>
          <p:cNvPr id="1042" name="Google Shape;104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52" y="1895275"/>
            <a:ext cx="7458496" cy="26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75"/>
          <p:cNvSpPr txBox="1"/>
          <p:nvPr/>
        </p:nvSpPr>
        <p:spPr>
          <a:xfrm>
            <a:off x="0" y="4824700"/>
            <a:ext cx="55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Gallagher, </a:t>
            </a:r>
            <a:r>
              <a:rPr i="1" lang="en" sz="1100"/>
              <a:t>et al.</a:t>
            </a:r>
            <a:r>
              <a:rPr lang="en" sz="1100"/>
              <a:t> (2020) </a:t>
            </a:r>
            <a:r>
              <a:rPr i="1" lang="en" sz="1100"/>
              <a:t>NEE</a:t>
            </a:r>
            <a:endParaRPr i="1" sz="1100"/>
          </a:p>
        </p:txBody>
      </p:sp>
      <p:sp>
        <p:nvSpPr>
          <p:cNvPr id="1044" name="Google Shape;1044;p75"/>
          <p:cNvSpPr txBox="1"/>
          <p:nvPr/>
        </p:nvSpPr>
        <p:spPr>
          <a:xfrm>
            <a:off x="1061750" y="2006850"/>
            <a:ext cx="2323800" cy="651300"/>
          </a:xfrm>
          <a:prstGeom prst="rect">
            <a:avLst/>
          </a:prstGeom>
          <a:solidFill>
            <a:srgbClr val="C5E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Data</a:t>
            </a:r>
            <a:endParaRPr b="1"/>
          </a:p>
        </p:txBody>
      </p:sp>
      <p:sp>
        <p:nvSpPr>
          <p:cNvPr id="1045" name="Google Shape;1045;p75"/>
          <p:cNvSpPr txBox="1"/>
          <p:nvPr/>
        </p:nvSpPr>
        <p:spPr>
          <a:xfrm>
            <a:off x="5328950" y="2006850"/>
            <a:ext cx="2323800" cy="651300"/>
          </a:xfrm>
          <a:prstGeom prst="rect">
            <a:avLst/>
          </a:prstGeom>
          <a:solidFill>
            <a:srgbClr val="D7D7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Access</a:t>
            </a:r>
            <a:endParaRPr b="1"/>
          </a:p>
        </p:txBody>
      </p:sp>
      <p:sp>
        <p:nvSpPr>
          <p:cNvPr id="1046" name="Google Shape;1046;p75"/>
          <p:cNvSpPr txBox="1"/>
          <p:nvPr/>
        </p:nvSpPr>
        <p:spPr>
          <a:xfrm>
            <a:off x="5813750" y="2906425"/>
            <a:ext cx="2323800" cy="6513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Methods</a:t>
            </a:r>
            <a:endParaRPr b="1"/>
          </a:p>
        </p:txBody>
      </p:sp>
      <p:sp>
        <p:nvSpPr>
          <p:cNvPr id="1047" name="Google Shape;1047;p75"/>
          <p:cNvSpPr txBox="1"/>
          <p:nvPr/>
        </p:nvSpPr>
        <p:spPr>
          <a:xfrm>
            <a:off x="5328950" y="3759450"/>
            <a:ext cx="2323800" cy="651300"/>
          </a:xfrm>
          <a:prstGeom prst="rect">
            <a:avLst/>
          </a:prstGeom>
          <a:solidFill>
            <a:srgbClr val="FEE8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Peer Review</a:t>
            </a:r>
            <a:endParaRPr b="1"/>
          </a:p>
        </p:txBody>
      </p:sp>
      <p:sp>
        <p:nvSpPr>
          <p:cNvPr id="1048" name="Google Shape;1048;p75"/>
          <p:cNvSpPr txBox="1"/>
          <p:nvPr/>
        </p:nvSpPr>
        <p:spPr>
          <a:xfrm>
            <a:off x="604550" y="2921250"/>
            <a:ext cx="2323800" cy="651300"/>
          </a:xfrm>
          <a:prstGeom prst="rect">
            <a:avLst/>
          </a:prstGeom>
          <a:solidFill>
            <a:srgbClr val="BBCFD3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Resources</a:t>
            </a:r>
            <a:endParaRPr b="1"/>
          </a:p>
        </p:txBody>
      </p:sp>
      <p:sp>
        <p:nvSpPr>
          <p:cNvPr id="1049" name="Google Shape;1049;p75"/>
          <p:cNvSpPr txBox="1"/>
          <p:nvPr/>
        </p:nvSpPr>
        <p:spPr>
          <a:xfrm>
            <a:off x="974250" y="3759450"/>
            <a:ext cx="2411400" cy="6513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Source</a:t>
            </a:r>
            <a:endParaRPr b="1"/>
          </a:p>
        </p:txBody>
      </p:sp>
      <p:sp>
        <p:nvSpPr>
          <p:cNvPr id="1050" name="Google Shape;1050;p75"/>
          <p:cNvSpPr/>
          <p:nvPr/>
        </p:nvSpPr>
        <p:spPr>
          <a:xfrm rot="1635982">
            <a:off x="3884841" y="2807539"/>
            <a:ext cx="964578" cy="861667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75"/>
          <p:cNvSpPr txBox="1"/>
          <p:nvPr/>
        </p:nvSpPr>
        <p:spPr>
          <a:xfrm rot="3062">
            <a:off x="3949074" y="3006424"/>
            <a:ext cx="101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Collaboration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&amp; Inclusion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052" name="Google Shape;1052;p75"/>
          <p:cNvSpPr/>
          <p:nvPr/>
        </p:nvSpPr>
        <p:spPr>
          <a:xfrm>
            <a:off x="5695475" y="2804575"/>
            <a:ext cx="2644800" cy="84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What is Open Science?</a:t>
            </a:r>
            <a:endParaRPr/>
          </a:p>
        </p:txBody>
      </p:sp>
      <p:sp>
        <p:nvSpPr>
          <p:cNvPr id="1058" name="Google Shape;1058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Open Science: “transparent and accessible knowledge that is shared and developed through collaborative networks”</a:t>
            </a:r>
            <a:endParaRPr/>
          </a:p>
        </p:txBody>
      </p:sp>
      <p:pic>
        <p:nvPicPr>
          <p:cNvPr id="1059" name="Google Shape;105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52" y="1895275"/>
            <a:ext cx="7458496" cy="26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76"/>
          <p:cNvSpPr txBox="1"/>
          <p:nvPr/>
        </p:nvSpPr>
        <p:spPr>
          <a:xfrm>
            <a:off x="0" y="4824700"/>
            <a:ext cx="55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Gallagher, </a:t>
            </a:r>
            <a:r>
              <a:rPr i="1" lang="en" sz="1100"/>
              <a:t>et al.</a:t>
            </a:r>
            <a:r>
              <a:rPr lang="en" sz="1100"/>
              <a:t> (2020) </a:t>
            </a:r>
            <a:r>
              <a:rPr i="1" lang="en" sz="1100"/>
              <a:t>NEE</a:t>
            </a:r>
            <a:endParaRPr i="1" sz="1100"/>
          </a:p>
        </p:txBody>
      </p:sp>
      <p:sp>
        <p:nvSpPr>
          <p:cNvPr id="1061" name="Google Shape;1061;p76"/>
          <p:cNvSpPr txBox="1"/>
          <p:nvPr/>
        </p:nvSpPr>
        <p:spPr>
          <a:xfrm>
            <a:off x="1061750" y="2006850"/>
            <a:ext cx="2323800" cy="651300"/>
          </a:xfrm>
          <a:prstGeom prst="rect">
            <a:avLst/>
          </a:prstGeom>
          <a:solidFill>
            <a:srgbClr val="C5E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Data</a:t>
            </a:r>
            <a:endParaRPr b="1"/>
          </a:p>
        </p:txBody>
      </p:sp>
      <p:sp>
        <p:nvSpPr>
          <p:cNvPr id="1062" name="Google Shape;1062;p76"/>
          <p:cNvSpPr txBox="1"/>
          <p:nvPr/>
        </p:nvSpPr>
        <p:spPr>
          <a:xfrm>
            <a:off x="5328950" y="2006850"/>
            <a:ext cx="2323800" cy="651300"/>
          </a:xfrm>
          <a:prstGeom prst="rect">
            <a:avLst/>
          </a:prstGeom>
          <a:solidFill>
            <a:srgbClr val="D7D7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Access</a:t>
            </a:r>
            <a:endParaRPr b="1"/>
          </a:p>
        </p:txBody>
      </p:sp>
      <p:sp>
        <p:nvSpPr>
          <p:cNvPr id="1063" name="Google Shape;1063;p76"/>
          <p:cNvSpPr txBox="1"/>
          <p:nvPr/>
        </p:nvSpPr>
        <p:spPr>
          <a:xfrm>
            <a:off x="5813750" y="2906425"/>
            <a:ext cx="2323800" cy="651300"/>
          </a:xfrm>
          <a:prstGeom prst="rect">
            <a:avLst/>
          </a:prstGeom>
          <a:solidFill>
            <a:srgbClr val="E9C0BC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Methods</a:t>
            </a:r>
            <a:endParaRPr b="1"/>
          </a:p>
        </p:txBody>
      </p:sp>
      <p:sp>
        <p:nvSpPr>
          <p:cNvPr id="1064" name="Google Shape;1064;p76"/>
          <p:cNvSpPr txBox="1"/>
          <p:nvPr/>
        </p:nvSpPr>
        <p:spPr>
          <a:xfrm>
            <a:off x="5328950" y="3759450"/>
            <a:ext cx="2323800" cy="651300"/>
          </a:xfrm>
          <a:prstGeom prst="rect">
            <a:avLst/>
          </a:prstGeom>
          <a:solidFill>
            <a:srgbClr val="FEE8C9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Peer Review</a:t>
            </a:r>
            <a:endParaRPr b="1"/>
          </a:p>
        </p:txBody>
      </p:sp>
      <p:sp>
        <p:nvSpPr>
          <p:cNvPr id="1065" name="Google Shape;1065;p76"/>
          <p:cNvSpPr txBox="1"/>
          <p:nvPr/>
        </p:nvSpPr>
        <p:spPr>
          <a:xfrm>
            <a:off x="604550" y="2921250"/>
            <a:ext cx="2323800" cy="651300"/>
          </a:xfrm>
          <a:prstGeom prst="rect">
            <a:avLst/>
          </a:prstGeom>
          <a:solidFill>
            <a:srgbClr val="BBCFD3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Resources</a:t>
            </a:r>
            <a:endParaRPr b="1"/>
          </a:p>
        </p:txBody>
      </p:sp>
      <p:sp>
        <p:nvSpPr>
          <p:cNvPr id="1066" name="Google Shape;1066;p76"/>
          <p:cNvSpPr txBox="1"/>
          <p:nvPr/>
        </p:nvSpPr>
        <p:spPr>
          <a:xfrm>
            <a:off x="974250" y="3759450"/>
            <a:ext cx="2411400" cy="651300"/>
          </a:xfrm>
          <a:prstGeom prst="rect">
            <a:avLst/>
          </a:prstGeom>
          <a:solidFill>
            <a:srgbClr val="FBEFB8"/>
          </a:solidFill>
          <a:ln cap="flat" cmpd="sng" w="9525">
            <a:solidFill>
              <a:srgbClr val="EDF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Source</a:t>
            </a:r>
            <a:endParaRPr b="1"/>
          </a:p>
        </p:txBody>
      </p:sp>
      <p:sp>
        <p:nvSpPr>
          <p:cNvPr id="1067" name="Google Shape;1067;p76"/>
          <p:cNvSpPr/>
          <p:nvPr/>
        </p:nvSpPr>
        <p:spPr>
          <a:xfrm rot="1635982">
            <a:off x="3884841" y="2807539"/>
            <a:ext cx="964578" cy="861667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76"/>
          <p:cNvSpPr txBox="1"/>
          <p:nvPr/>
        </p:nvSpPr>
        <p:spPr>
          <a:xfrm rot="3062">
            <a:off x="3949074" y="3006424"/>
            <a:ext cx="101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Collaboration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&amp; Inclusion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77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Prepare your presentations</a:t>
            </a:r>
            <a:endParaRPr/>
          </a:p>
        </p:txBody>
      </p:sp>
      <p:sp>
        <p:nvSpPr>
          <p:cNvPr id="1074" name="Google Shape;1074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