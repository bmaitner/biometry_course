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 showSpecialPlsOnTitleSld="0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10BB4402-AD9C-4EB4-99B4-DB5495FB59DA}">
  <a:tblStyle styleId="{10BB4402-AD9C-4EB4-99B4-DB5495FB59DA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  <a:tblStyle styleId="{83D94F6A-ACB0-4D7C-BF62-88D53A68579C}" styleName="Table_1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slide" Target="slides/slide23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11" Type="http://schemas.openxmlformats.org/officeDocument/2006/relationships/slide" Target="slides/slide5.xml"/><Relationship Id="rId33" Type="http://schemas.openxmlformats.org/officeDocument/2006/relationships/slide" Target="slides/slide27.xml"/><Relationship Id="rId10" Type="http://schemas.openxmlformats.org/officeDocument/2006/relationships/slide" Target="slides/slide4.xml"/><Relationship Id="rId32" Type="http://schemas.openxmlformats.org/officeDocument/2006/relationships/slide" Target="slides/slide26.xml"/><Relationship Id="rId13" Type="http://schemas.openxmlformats.org/officeDocument/2006/relationships/slide" Target="slides/slide7.xml"/><Relationship Id="rId35" Type="http://schemas.openxmlformats.org/officeDocument/2006/relationships/slide" Target="slides/slide29.xml"/><Relationship Id="rId12" Type="http://schemas.openxmlformats.org/officeDocument/2006/relationships/slide" Target="slides/slide6.xml"/><Relationship Id="rId34" Type="http://schemas.openxmlformats.org/officeDocument/2006/relationships/slide" Target="slides/slide28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36" Type="http://schemas.openxmlformats.org/officeDocument/2006/relationships/slide" Target="slides/slide30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64c02cc92f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64c02cc92f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a2062905e9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a2062905e9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3a492bc9dea_0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3a492bc9dea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3a492bc9dea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3a492bc9dea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3a492bc9dea_0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" name="Google Shape;79;g3a492bc9dea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a492bc9dea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Google Shape;86;g3a492bc9dea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3a492bc9dea_0_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g3a492bc9dea_0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3a492bc9dea_0_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3a492bc9dea_0_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3a492bc9dea_0_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3a492bc9dea_0_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a492bc9dea_0_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g3a492bc9dea_0_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3a492bc9dea_0_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" name="Google Shape;121;g3a492bc9dea_0_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3a492bc9dea_0_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" name="Google Shape;128;g3a492bc9dea_0_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3a492bc9dea_0_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g3a492bc9dea_0_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3a492bc9dea_0_7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" name="Google Shape;142;g3a492bc9dea_0_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3a492bc9dea_0_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" name="Google Shape;149;g3a492bc9dea_0_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3a492bc9dea_0_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6" name="Google Shape;156;g3a492bc9dea_0_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3a492bc9dea_0_9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" name="Google Shape;163;g3a492bc9dea_0_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g3a492bc9dea_0_1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1" name="Google Shape;171;g3a492bc9dea_0_1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3a492bc9dea_0_1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0" name="Google Shape;180;g3a492bc9dea_0_1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3a492bc9dea_0_1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" name="Google Shape;187;g3a492bc9dea_0_1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g3a492bc9dea_0_1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4" name="Google Shape;194;g3a492bc9dea_0_1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3a492bc9dea_0_1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1" name="Google Shape;201;g3a492bc9dea_0_1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g3a492bc9dea_0_1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8" name="Google Shape;208;g3a492bc9dea_0_1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g3a492bc9dea_0_1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5" name="Google Shape;215;g3a492bc9dea_0_1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g3a492bc9dea_0_1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2" name="Google Shape;222;g3a492bc9dea_0_1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g3a492bc9dea_0_1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9" name="Google Shape;229;g3a492bc9dea_0_1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g3a492bc9dea_0_19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6" name="Google Shape;236;g3a492bc9dea_0_1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g3a492bc9dea_0_20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3" name="Google Shape;243;g3a492bc9dea_0_2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g3a492bc9dea_0_20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0" name="Google Shape;250;g3a492bc9dea_0_2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g364c02cc92f_0_19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7" name="Google Shape;257;g364c02cc92f_0_1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0.xml"/><Relationship Id="rId3" Type="http://schemas.openxmlformats.org/officeDocument/2006/relationships/hyperlink" Target="https://r4ds.hadley.nz/data-visualize.html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0" y="744575"/>
            <a:ext cx="8520600" cy="996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Style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1897850"/>
            <a:ext cx="8520600" cy="255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Today’s agenda:</a:t>
            </a:r>
            <a:endParaRPr sz="1800"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Code style (R for Data Science Chapter 4)</a:t>
            </a:r>
            <a:endParaRPr sz="1800"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Data style </a:t>
            </a:r>
            <a:r>
              <a:rPr lang="en" sz="1800"/>
              <a:t>(R for Data Science Chapter 5)</a:t>
            </a:r>
            <a:endParaRPr sz="1800"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Pseudocode </a:t>
            </a:r>
            <a:endParaRPr sz="18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Code style</a:t>
            </a:r>
            <a:endParaRPr/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Makes code easier to read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Makes code more understandable (to others and future-you)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Makes it easier to get help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Makes you look impressive</a:t>
            </a:r>
            <a:endParaRPr/>
          </a:p>
        </p:txBody>
      </p:sp>
      <p:sp>
        <p:nvSpPr>
          <p:cNvPr id="62" name="Google Shape;62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Load packages and data</a:t>
            </a:r>
            <a:endParaRPr/>
          </a:p>
        </p:txBody>
      </p:sp>
      <p:sp>
        <p:nvSpPr>
          <p:cNvPr id="68" name="Google Shape;68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  library(tidyverse)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  library(styler) # style package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  library(lintr) # style package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  avo &lt;- read_rds("https://tinyurl.com/avonetdata")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>
                <a:solidFill>
                  <a:srgbClr val="980000"/>
                </a:solidFill>
              </a:rPr>
              <a:t>Run these now, installing packages if needed.</a:t>
            </a:r>
            <a:endParaRPr>
              <a:solidFill>
                <a:srgbClr val="980000"/>
              </a:solidFill>
            </a:endParaRPr>
          </a:p>
        </p:txBody>
      </p:sp>
      <p:sp>
        <p:nvSpPr>
          <p:cNvPr id="69" name="Google Shape;69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File </a:t>
            </a:r>
            <a:r>
              <a:rPr lang="en"/>
              <a:t>Names</a:t>
            </a:r>
            <a:endParaRPr/>
          </a:p>
        </p:txBody>
      </p:sp>
      <p:sp>
        <p:nvSpPr>
          <p:cNvPr id="75" name="Google Shape;75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Use “snake case”: words_separated_by_an_underscore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Name should describe file contents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Lowercase only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NO special </a:t>
            </a:r>
            <a:r>
              <a:rPr lang="en"/>
              <a:t>characters</a:t>
            </a:r>
            <a:r>
              <a:rPr lang="en"/>
              <a:t> or spaces.  Only numbers, letters, . and _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Examples: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avonet_bird_trait_data.csv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	BirdData.csv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	Bird data?.csv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>
                <a:solidFill>
                  <a:srgbClr val="980000"/>
                </a:solidFill>
              </a:rPr>
              <a:t>Which is best?</a:t>
            </a:r>
            <a:endParaRPr>
              <a:solidFill>
                <a:srgbClr val="980000"/>
              </a:solidFill>
            </a:endParaRPr>
          </a:p>
        </p:txBody>
      </p:sp>
      <p:sp>
        <p:nvSpPr>
          <p:cNvPr id="76" name="Google Shape;76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File Names</a:t>
            </a:r>
            <a:endParaRPr/>
          </a:p>
        </p:txBody>
      </p:sp>
      <p:sp>
        <p:nvSpPr>
          <p:cNvPr id="82" name="Google Shape;82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File names:</a:t>
            </a:r>
            <a:endParaRPr/>
          </a:p>
          <a:p>
            <a:pPr indent="-325755" lvl="0" marL="457200" rtl="0" algn="l">
              <a:spcBef>
                <a:spcPts val="1200"/>
              </a:spcBef>
              <a:spcAft>
                <a:spcPts val="0"/>
              </a:spcAft>
              <a:buSzPct val="100000"/>
              <a:buChar char="-"/>
            </a:pPr>
            <a:r>
              <a:rPr lang="en"/>
              <a:t>Use similar structure for similar files</a:t>
            </a:r>
            <a:endParaRPr/>
          </a:p>
          <a:p>
            <a:pPr indent="-32575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en"/>
              <a:t>If order matters:</a:t>
            </a:r>
            <a:endParaRPr/>
          </a:p>
          <a:p>
            <a:pPr indent="-304165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en"/>
              <a:t>Put numbers in front of file names (use 01 rather than 1 so they sort correctly)</a:t>
            </a:r>
            <a:endParaRPr/>
          </a:p>
          <a:p>
            <a:pPr indent="-304165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en"/>
              <a:t>If dated, use syntax yyyymmdd so they order correctly</a:t>
            </a:r>
            <a:endParaRPr/>
          </a:p>
          <a:p>
            <a:pPr indent="-32575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en"/>
              <a:t>Don’t put “final” in the name</a:t>
            </a:r>
            <a:endParaRPr/>
          </a:p>
          <a:p>
            <a:pPr indent="-304165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en"/>
              <a:t>Git will track changes for you (no need for multiple versions)</a:t>
            </a:r>
            <a:endParaRPr/>
          </a:p>
          <a:p>
            <a:pPr indent="-304165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en"/>
              <a:t>If you want multiple versions, give version number or date in the name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Examples: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01_download_data.R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02_clean_data.R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avonet_data_clean_20251117.rds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83" name="Google Shape;83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Object Names</a:t>
            </a:r>
            <a:endParaRPr/>
          </a:p>
        </p:txBody>
      </p:sp>
      <p:sp>
        <p:nvSpPr>
          <p:cNvPr id="89" name="Google Shape;89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Object names: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Use “snake case”: words_separated_by_an_underscore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Note: our book often uses “words.separated” because it uses an older naming convention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No special characters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Lowercase only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Variable names should be nouns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980000"/>
                </a:solidFill>
              </a:rPr>
              <a:t>What would be a good name for an object containing:</a:t>
            </a:r>
            <a:endParaRPr>
              <a:solidFill>
                <a:srgbClr val="980000"/>
              </a:solidFill>
            </a:endParaRPr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Avonet data subsetted to only Hawks?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Avonet data subsetted to only forest birds?</a:t>
            </a:r>
            <a:endParaRPr/>
          </a:p>
        </p:txBody>
      </p:sp>
      <p:sp>
        <p:nvSpPr>
          <p:cNvPr id="90" name="Google Shape;90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Object Names</a:t>
            </a:r>
            <a:endParaRPr/>
          </a:p>
        </p:txBody>
      </p:sp>
      <p:sp>
        <p:nvSpPr>
          <p:cNvPr id="96" name="Google Shape;96;p1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Function names: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Should be verbs explaining what the function does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Avoid using existing function names in R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980000"/>
                </a:solidFill>
              </a:rPr>
              <a:t>Suggest names for functions that:</a:t>
            </a:r>
            <a:endParaRPr>
              <a:solidFill>
                <a:srgbClr val="98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	Convert the avonet data to family-level means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	Load data from Github</a:t>
            </a:r>
            <a:endParaRPr/>
          </a:p>
        </p:txBody>
      </p:sp>
      <p:sp>
        <p:nvSpPr>
          <p:cNvPr id="97" name="Google Shape;97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Object Names</a:t>
            </a:r>
            <a:endParaRPr/>
          </a:p>
        </p:txBody>
      </p:sp>
      <p:sp>
        <p:nvSpPr>
          <p:cNvPr id="103" name="Google Shape;103;p2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Better to have long, informative names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If you have a lot of related objects, you can give them a common prefix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Examples: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Avonet_family_level_Psittacidae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Avonet_family_level_Paridae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This is clear, and autocomplete makes it fast</a:t>
            </a:r>
            <a:endParaRPr/>
          </a:p>
        </p:txBody>
      </p:sp>
      <p:sp>
        <p:nvSpPr>
          <p:cNvPr id="104" name="Google Shape;104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Object names</a:t>
            </a:r>
            <a:endParaRPr/>
          </a:p>
        </p:txBody>
      </p:sp>
      <p:sp>
        <p:nvSpPr>
          <p:cNvPr id="110" name="Google Shape;110;p2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Which of these names is good? Why?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  	parrot_data &lt;- avo |&gt; filter(Family1 == "Psittacidae")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parrot-data &lt;- avo |&gt; filter(Family1 == "Psittacidae")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parrot data &lt;- avo |&gt; filter(Family1 == "Psittacidae")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 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Spaces</a:t>
            </a:r>
            <a:endParaRPr/>
          </a:p>
        </p:txBody>
      </p:sp>
      <p:sp>
        <p:nvSpPr>
          <p:cNvPr id="117" name="Google Shape;117;p2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Aid in readability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Can break code if put in the wrong place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Put spaces between objects and mathematical/logical operators (except for ^)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Example</a:t>
            </a:r>
            <a:r>
              <a:rPr lang="en"/>
              <a:t>: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	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a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 &lt;- 1 + 2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	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b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 &lt;- 2^3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18" name="Google Shape;118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Spaces</a:t>
            </a:r>
            <a:endParaRPr/>
          </a:p>
        </p:txBody>
      </p:sp>
      <p:sp>
        <p:nvSpPr>
          <p:cNvPr id="124" name="Google Shape;124;p2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Consolas"/>
              <a:buChar char="-"/>
            </a:pPr>
            <a:r>
              <a:rPr lang="en"/>
              <a:t>Spaces after commas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No spaces next to </a:t>
            </a:r>
            <a:r>
              <a:rPr lang="en"/>
              <a:t>parentheses</a:t>
            </a:r>
            <a:r>
              <a:rPr lang="en"/>
              <a:t> in function calls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No spaces next to $ or @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Example: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mean(x = avo$Mass, na.rm =  TRUE)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25" name="Google Shape;125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Spaces</a:t>
            </a:r>
            <a:endParaRPr/>
          </a:p>
        </p:txBody>
      </p:sp>
      <p:sp>
        <p:nvSpPr>
          <p:cNvPr id="131" name="Google Shape;131;p2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Its ok to add extra spaces to improve alignment or readability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Example: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    avo |&gt;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      group_by(Family1) |&gt;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      summarise(mean_mass        = mean(Mass),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                sd_mass          = sd(Mass),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                mean_wing_length = mean(Wing.Length),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                sd_wing_length   = sd(Wing.Length))</a:t>
            </a:r>
            <a:endParaRPr/>
          </a:p>
        </p:txBody>
      </p:sp>
      <p:sp>
        <p:nvSpPr>
          <p:cNvPr id="132" name="Google Shape;132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Pipes and arguments</a:t>
            </a:r>
            <a:endParaRPr/>
          </a:p>
        </p:txBody>
      </p:sp>
      <p:sp>
        <p:nvSpPr>
          <p:cNvPr id="138" name="Google Shape;138;p2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-32575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en"/>
              <a:t>Pipes should go at the end of a line</a:t>
            </a:r>
            <a:endParaRPr/>
          </a:p>
          <a:p>
            <a:pPr indent="-32575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en"/>
              <a:t>Named arguments should each start on a new line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Example: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    avo |&gt;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      group_by(Family1) |&gt;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      summarise(mean_mass = mean(Mass),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                sd_mass = sd(Mass),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                mean_wing_length = mean(Wing.Length),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                sd_wing_length = sd(Wing.Length))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39" name="Google Shape;139;p2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Pipes and arguments</a:t>
            </a:r>
            <a:endParaRPr/>
          </a:p>
        </p:txBody>
      </p:sp>
      <p:sp>
        <p:nvSpPr>
          <p:cNvPr id="145" name="Google Shape;145;p2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-32575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en"/>
              <a:t>The “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-&gt;</a:t>
            </a:r>
            <a:r>
              <a:rPr lang="en"/>
              <a:t>” is generally frowned upon, even though it makes more sense when reading code</a:t>
            </a:r>
            <a:endParaRPr/>
          </a:p>
          <a:p>
            <a:pPr indent="-32575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en"/>
              <a:t>Putting it at the start makes it clear you’re making a new variable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Example: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    avo |&gt;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      group_by(Family1) |&gt;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      summarise(mean_mass = mean(Mass),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                sd_mass = sd(Mass),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                mean_wing_length = mean(Wing.Length),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                sd_wing_length = sd(Wing.Length)) -&gt; family_level_summary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46" name="Google Shape;146;p2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2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Breaking up code bits</a:t>
            </a:r>
            <a:endParaRPr/>
          </a:p>
        </p:txBody>
      </p:sp>
      <p:sp>
        <p:nvSpPr>
          <p:cNvPr id="152" name="Google Shape;152;p2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Putting an empty line between functions can make them more readable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You can also break up section of code using: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ctrl(cmd)+shift+R to add a section divider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A bunch of comments together to make a section divider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300">
                <a:latin typeface="Consolas"/>
                <a:ea typeface="Consolas"/>
                <a:cs typeface="Consolas"/>
                <a:sym typeface="Consolas"/>
              </a:rPr>
              <a:t># code chunks -------------------------------------------------------------    </a:t>
            </a:r>
            <a:endParaRPr sz="13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300">
                <a:latin typeface="Consolas"/>
                <a:ea typeface="Consolas"/>
                <a:cs typeface="Consolas"/>
                <a:sym typeface="Consolas"/>
              </a:rPr>
              <a:t>#################################################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98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>
                <a:solidFill>
                  <a:srgbClr val="980000"/>
                </a:solidFill>
              </a:rPr>
              <a:t>Try out ctrl(cmd)+shift+R now to create a section label</a:t>
            </a:r>
            <a:endParaRPr>
              <a:solidFill>
                <a:srgbClr val="980000"/>
              </a:solidFill>
            </a:endParaRPr>
          </a:p>
        </p:txBody>
      </p:sp>
      <p:sp>
        <p:nvSpPr>
          <p:cNvPr id="153" name="Google Shape;153;p2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2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Having R style your code for you</a:t>
            </a:r>
            <a:endParaRPr/>
          </a:p>
        </p:txBody>
      </p:sp>
      <p:sp>
        <p:nvSpPr>
          <p:cNvPr id="159" name="Google Shape;159;p2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The lintr package checks your code and gives you style feedback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The styler </a:t>
            </a:r>
            <a:r>
              <a:rPr lang="en"/>
              <a:t>package</a:t>
            </a:r>
            <a:r>
              <a:rPr lang="en"/>
              <a:t> automatically restyles your code for you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I prefer “lintr”, since there are some style conventions I ignore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980000"/>
                </a:solidFill>
              </a:rPr>
              <a:t>Try it out:</a:t>
            </a:r>
            <a:endParaRPr>
              <a:solidFill>
                <a:srgbClr val="980000"/>
              </a:solidFill>
            </a:endParaRPr>
          </a:p>
          <a:p>
            <a:pPr indent="45720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lint(“an_R_file.R”) # but obviously with your own filename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60" name="Google Shape;160;p2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2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 style</a:t>
            </a:r>
            <a:endParaRPr/>
          </a:p>
        </p:txBody>
      </p:sp>
      <p:sp>
        <p:nvSpPr>
          <p:cNvPr id="166" name="Google Shape;166;p29"/>
          <p:cNvSpPr txBox="1"/>
          <p:nvPr>
            <p:ph idx="1" type="body"/>
          </p:nvPr>
        </p:nvSpPr>
        <p:spPr>
          <a:xfrm>
            <a:off x="205650" y="1017725"/>
            <a:ext cx="8520600" cy="89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Wide vs Narrow/Long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2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aphicFrame>
        <p:nvGraphicFramePr>
          <p:cNvPr id="168" name="Google Shape;168;p29"/>
          <p:cNvGraphicFramePr/>
          <p:nvPr/>
        </p:nvGraphicFramePr>
        <p:xfrm>
          <a:off x="1143375" y="169349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{10BB4402-AD9C-4EB4-99B4-DB5495FB59DA}</a:tableStyleId>
              </a:tblPr>
              <a:tblGrid>
                <a:gridCol w="1713050"/>
                <a:gridCol w="2328150"/>
                <a:gridCol w="31978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Wide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Narrow/long</a:t>
                      </a:r>
                      <a:endParaRPr b="1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Structure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Many columns. Each row contains all the information about a subject.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Few columns.  One measurement per row. Often have ID columns to link multiple  measurements on a single individual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Pro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Easier to enter, clear how data relate to each other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Can easily add new information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Con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Can be larger when you have many unmeasured variables, harder to add new data types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Less intuitive, may not play well </a:t>
                      </a:r>
                      <a:r>
                        <a:rPr lang="en"/>
                        <a:t>with</a:t>
                      </a:r>
                      <a:r>
                        <a:rPr lang="en"/>
                        <a:t> plotting functions, requires ID fields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3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 style</a:t>
            </a:r>
            <a:endParaRPr/>
          </a:p>
        </p:txBody>
      </p:sp>
      <p:sp>
        <p:nvSpPr>
          <p:cNvPr id="174" name="Google Shape;174;p30"/>
          <p:cNvSpPr txBox="1"/>
          <p:nvPr>
            <p:ph idx="1" type="body"/>
          </p:nvPr>
        </p:nvSpPr>
        <p:spPr>
          <a:xfrm>
            <a:off x="311700" y="1152475"/>
            <a:ext cx="8520600" cy="89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Wide vs Narrow/Long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p3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aphicFrame>
        <p:nvGraphicFramePr>
          <p:cNvPr id="176" name="Google Shape;176;p30"/>
          <p:cNvGraphicFramePr/>
          <p:nvPr/>
        </p:nvGraphicFramePr>
        <p:xfrm>
          <a:off x="92682" y="1990994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{83D94F6A-ACB0-4D7C-BF62-88D53A68579C}</a:tableStyleId>
              </a:tblPr>
              <a:tblGrid>
                <a:gridCol w="295250"/>
                <a:gridCol w="1304575"/>
                <a:gridCol w="650650"/>
                <a:gridCol w="1185525"/>
              </a:tblGrid>
              <a:tr h="3394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47625" marL="476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6DAD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DAD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Species1</a:t>
                      </a:r>
                      <a:endParaRPr sz="13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47625" marL="47625">
                    <a:lnL cap="flat" cmpd="sng" w="9525">
                      <a:solidFill>
                        <a:srgbClr val="D6DAD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6DAD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DAD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Mass</a:t>
                      </a:r>
                      <a:endParaRPr sz="13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47625" marL="47625">
                    <a:lnL cap="flat" cmpd="sng" w="9525">
                      <a:solidFill>
                        <a:srgbClr val="D6DAD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6DAD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DAD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Wing.Length</a:t>
                      </a:r>
                      <a:endParaRPr sz="13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47625" marL="47625">
                    <a:lnL cap="flat" cmpd="sng" w="9525">
                      <a:solidFill>
                        <a:srgbClr val="D6DAD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6DAD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DAD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33050"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highlight>
                            <a:srgbClr val="FFFF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 b="1" sz="1300">
                        <a:highlight>
                          <a:srgbClr val="FFFFFF"/>
                        </a:highlight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38100" marB="38100" marR="47625" marL="476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6DAD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DAD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DAD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8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highlight>
                            <a:srgbClr val="FFFF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Accipiter albogularis</a:t>
                      </a:r>
                      <a:endParaRPr sz="1300">
                        <a:highlight>
                          <a:srgbClr val="FFFFFF"/>
                        </a:highlight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38100" marB="38100" marR="47625" marL="47625">
                    <a:lnL cap="flat" cmpd="sng" w="9525">
                      <a:solidFill>
                        <a:srgbClr val="D6DAD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6DAD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DAD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DAD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highlight>
                            <a:srgbClr val="FFFF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248.8</a:t>
                      </a:r>
                      <a:endParaRPr sz="1300">
                        <a:highlight>
                          <a:srgbClr val="FFFFFF"/>
                        </a:highlight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38100" marB="38100" marR="47625" marL="47625">
                    <a:lnL cap="flat" cmpd="sng" w="9525">
                      <a:solidFill>
                        <a:srgbClr val="D6DAD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6DAD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DAD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DAD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highlight>
                            <a:srgbClr val="FFFF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235.2</a:t>
                      </a:r>
                      <a:endParaRPr sz="1300">
                        <a:highlight>
                          <a:srgbClr val="FFFFFF"/>
                        </a:highlight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38100" marB="38100" marR="47625" marL="47625">
                    <a:lnL cap="flat" cmpd="sng" w="9525">
                      <a:solidFill>
                        <a:srgbClr val="D6DAD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6DAD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DAD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DAD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4000"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highlight>
                            <a:srgbClr val="FFFF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</a:t>
                      </a:r>
                      <a:endParaRPr b="1" sz="1300">
                        <a:highlight>
                          <a:srgbClr val="FFFFFF"/>
                        </a:highlight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38100" marB="38100" marR="47625" marL="476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6DAD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DAD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DAD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8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highlight>
                            <a:srgbClr val="FFFF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Accipiter badius</a:t>
                      </a:r>
                      <a:endParaRPr sz="1300">
                        <a:highlight>
                          <a:srgbClr val="FFFFFF"/>
                        </a:highlight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38100" marB="38100" marR="47625" marL="47625">
                    <a:lnL cap="flat" cmpd="sng" w="9525">
                      <a:solidFill>
                        <a:srgbClr val="D6DAD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6DAD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DAD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DAD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highlight>
                            <a:srgbClr val="FFFF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131.2</a:t>
                      </a:r>
                      <a:endParaRPr sz="1300">
                        <a:highlight>
                          <a:srgbClr val="FFFFFF"/>
                        </a:highlight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38100" marB="38100" marR="47625" marL="47625">
                    <a:lnL cap="flat" cmpd="sng" w="9525">
                      <a:solidFill>
                        <a:srgbClr val="D6DAD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6DAD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DAD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DAD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highlight>
                            <a:srgbClr val="FFFF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186.7</a:t>
                      </a:r>
                      <a:endParaRPr sz="1300">
                        <a:highlight>
                          <a:srgbClr val="FFFFFF"/>
                        </a:highlight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38100" marB="38100" marR="47625" marL="47625">
                    <a:lnL cap="flat" cmpd="sng" w="9525">
                      <a:solidFill>
                        <a:srgbClr val="D6DAD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6DAD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DAD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DAD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00000"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highlight>
                            <a:srgbClr val="FFFF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3</a:t>
                      </a:r>
                      <a:endParaRPr b="1" sz="1300">
                        <a:highlight>
                          <a:srgbClr val="FFFFFF"/>
                        </a:highlight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38100" marB="38100" marR="47625" marL="476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6DAD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DAD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DAD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8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highlight>
                            <a:srgbClr val="FFFF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Accipiter bicolor</a:t>
                      </a:r>
                      <a:endParaRPr sz="1300">
                        <a:highlight>
                          <a:srgbClr val="FFFFFF"/>
                        </a:highlight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38100" marB="38100" marR="47625" marL="47625">
                    <a:lnL cap="flat" cmpd="sng" w="9525">
                      <a:solidFill>
                        <a:srgbClr val="D6DAD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6DAD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DAD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DAD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highlight>
                            <a:srgbClr val="FFFF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287.5</a:t>
                      </a:r>
                      <a:endParaRPr sz="1300">
                        <a:highlight>
                          <a:srgbClr val="FFFFFF"/>
                        </a:highlight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38100" marB="38100" marR="47625" marL="47625">
                    <a:lnL cap="flat" cmpd="sng" w="9525">
                      <a:solidFill>
                        <a:srgbClr val="D6DAD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6DAD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DAD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DAD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highlight>
                            <a:srgbClr val="FFFF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229.6</a:t>
                      </a:r>
                      <a:endParaRPr sz="1300">
                        <a:highlight>
                          <a:srgbClr val="FFFFFF"/>
                        </a:highlight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38100" marB="38100" marR="47625" marL="47625">
                    <a:lnL cap="flat" cmpd="sng" w="9525">
                      <a:solidFill>
                        <a:srgbClr val="D6DAD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6DAD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DAD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DAD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77" name="Google Shape;177;p30"/>
          <p:cNvGraphicFramePr/>
          <p:nvPr/>
        </p:nvGraphicFramePr>
        <p:xfrm>
          <a:off x="4497167" y="6953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{83D94F6A-ACB0-4D7C-BF62-88D53A68579C}</a:tableStyleId>
              </a:tblPr>
              <a:tblGrid>
                <a:gridCol w="430025"/>
                <a:gridCol w="1355200"/>
                <a:gridCol w="1165325"/>
                <a:gridCol w="1459525"/>
              </a:tblGrid>
              <a:tr h="4762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47625" marL="476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DAD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20320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Species1</a:t>
                      </a:r>
                      <a:endParaRPr sz="1300">
                        <a:solidFill>
                          <a:schemeClr val="dk1"/>
                        </a:solidFill>
                        <a:highlight>
                          <a:srgbClr val="FFFFFF"/>
                        </a:highlight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47625" marB="47625" marR="47625" marL="476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6DAD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DAD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20320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trait</a:t>
                      </a:r>
                      <a:endParaRPr sz="1300">
                        <a:solidFill>
                          <a:schemeClr val="dk1"/>
                        </a:solidFill>
                        <a:highlight>
                          <a:srgbClr val="FFFFFF"/>
                        </a:highlight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47625" marB="47625" marR="47625" marL="47625">
                    <a:lnL cap="flat" cmpd="sng" w="9525">
                      <a:solidFill>
                        <a:srgbClr val="D6DAD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6DAD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DAD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20320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trait_value</a:t>
                      </a:r>
                      <a:endParaRPr sz="1300">
                        <a:solidFill>
                          <a:schemeClr val="dk1"/>
                        </a:solidFill>
                        <a:highlight>
                          <a:srgbClr val="FFFFFF"/>
                        </a:highlight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47625" marB="47625" marR="47625" marL="47625">
                    <a:lnL cap="flat" cmpd="sng" w="9525">
                      <a:solidFill>
                        <a:srgbClr val="D6DAD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6DAD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DAD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9075"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 sz="1300">
                        <a:solidFill>
                          <a:schemeClr val="dk1"/>
                        </a:solidFill>
                        <a:highlight>
                          <a:srgbClr val="FFFFFF"/>
                        </a:highlight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38100" marB="38100" marR="47625" marL="476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6DAD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DAD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DAD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8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Accipiter albogularis</a:t>
                      </a:r>
                      <a:endParaRPr sz="1300">
                        <a:solidFill>
                          <a:schemeClr val="dk1"/>
                        </a:solidFill>
                        <a:highlight>
                          <a:srgbClr val="FFFFFF"/>
                        </a:highlight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38100" marB="38100" marR="47625" marL="47625">
                    <a:lnL cap="flat" cmpd="sng" w="9525">
                      <a:solidFill>
                        <a:srgbClr val="D6DAD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6DAD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DAD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DAD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Mass</a:t>
                      </a:r>
                      <a:endParaRPr sz="1300">
                        <a:solidFill>
                          <a:schemeClr val="dk1"/>
                        </a:solidFill>
                        <a:highlight>
                          <a:srgbClr val="FFFFFF"/>
                        </a:highlight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38100" marB="38100" marR="47625" marL="47625">
                    <a:lnL cap="flat" cmpd="sng" w="9525">
                      <a:solidFill>
                        <a:srgbClr val="D6DAD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6DAD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DAD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DAD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248.8</a:t>
                      </a:r>
                      <a:endParaRPr sz="1300">
                        <a:solidFill>
                          <a:schemeClr val="dk1"/>
                        </a:solidFill>
                        <a:highlight>
                          <a:srgbClr val="FFFFFF"/>
                        </a:highlight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38100" marB="38100" marR="47625" marL="47625">
                    <a:lnL cap="flat" cmpd="sng" w="9525">
                      <a:solidFill>
                        <a:srgbClr val="D6DAD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6DAD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DAD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DAD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9075"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</a:t>
                      </a:r>
                      <a:endParaRPr sz="1300">
                        <a:solidFill>
                          <a:schemeClr val="dk1"/>
                        </a:solidFill>
                        <a:highlight>
                          <a:srgbClr val="FFFFFF"/>
                        </a:highlight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38100" marB="38100" marR="47625" marL="476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6DAD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DAD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DAD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8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Accipiter albogularis</a:t>
                      </a:r>
                      <a:endParaRPr sz="1300">
                        <a:solidFill>
                          <a:schemeClr val="dk1"/>
                        </a:solidFill>
                        <a:highlight>
                          <a:srgbClr val="FFFFFF"/>
                        </a:highlight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38100" marB="38100" marR="47625" marL="47625">
                    <a:lnL cap="flat" cmpd="sng" w="9525">
                      <a:solidFill>
                        <a:srgbClr val="D6DAD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6DAD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DAD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DAD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Wing.Length</a:t>
                      </a:r>
                      <a:endParaRPr sz="1300">
                        <a:solidFill>
                          <a:schemeClr val="dk1"/>
                        </a:solidFill>
                        <a:highlight>
                          <a:srgbClr val="FFFFFF"/>
                        </a:highlight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38100" marB="38100" marR="47625" marL="47625">
                    <a:lnL cap="flat" cmpd="sng" w="9525">
                      <a:solidFill>
                        <a:srgbClr val="D6DAD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6DAD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DAD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DAD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235.2</a:t>
                      </a:r>
                      <a:endParaRPr sz="1300">
                        <a:solidFill>
                          <a:schemeClr val="dk1"/>
                        </a:solidFill>
                        <a:highlight>
                          <a:srgbClr val="FFFFFF"/>
                        </a:highlight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38100" marB="38100" marR="47625" marL="47625">
                    <a:lnL cap="flat" cmpd="sng" w="9525">
                      <a:solidFill>
                        <a:srgbClr val="D6DAD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6DAD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DAD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DAD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9075"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3</a:t>
                      </a:r>
                      <a:endParaRPr sz="1300">
                        <a:solidFill>
                          <a:schemeClr val="dk1"/>
                        </a:solidFill>
                        <a:highlight>
                          <a:srgbClr val="FFFFFF"/>
                        </a:highlight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38100" marB="38100" marR="47625" marL="476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6DAD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DAD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DAD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8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Accipiter badius</a:t>
                      </a:r>
                      <a:endParaRPr sz="1300">
                        <a:solidFill>
                          <a:schemeClr val="dk1"/>
                        </a:solidFill>
                        <a:highlight>
                          <a:srgbClr val="FFFFFF"/>
                        </a:highlight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38100" marB="38100" marR="47625" marL="47625">
                    <a:lnL cap="flat" cmpd="sng" w="9525">
                      <a:solidFill>
                        <a:srgbClr val="D6DAD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6DAD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DAD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DAD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Mass</a:t>
                      </a:r>
                      <a:endParaRPr sz="1300">
                        <a:solidFill>
                          <a:schemeClr val="dk1"/>
                        </a:solidFill>
                        <a:highlight>
                          <a:srgbClr val="FFFFFF"/>
                        </a:highlight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38100" marB="38100" marR="47625" marL="47625">
                    <a:lnL cap="flat" cmpd="sng" w="9525">
                      <a:solidFill>
                        <a:srgbClr val="D6DAD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6DAD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DAD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DAD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131.2</a:t>
                      </a:r>
                      <a:endParaRPr sz="1300">
                        <a:solidFill>
                          <a:schemeClr val="dk1"/>
                        </a:solidFill>
                        <a:highlight>
                          <a:srgbClr val="FFFFFF"/>
                        </a:highlight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38100" marB="38100" marR="47625" marL="47625">
                    <a:lnL cap="flat" cmpd="sng" w="9525">
                      <a:solidFill>
                        <a:srgbClr val="D6DAD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6DAD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DAD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DAD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9075"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4</a:t>
                      </a:r>
                      <a:endParaRPr sz="1300">
                        <a:solidFill>
                          <a:schemeClr val="dk1"/>
                        </a:solidFill>
                        <a:highlight>
                          <a:srgbClr val="FFFFFF"/>
                        </a:highlight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38100" marB="38100" marR="47625" marL="476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6DAD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DAD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DAD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8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Accipiter badius</a:t>
                      </a:r>
                      <a:endParaRPr sz="1300">
                        <a:solidFill>
                          <a:schemeClr val="dk1"/>
                        </a:solidFill>
                        <a:highlight>
                          <a:srgbClr val="FFFFFF"/>
                        </a:highlight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38100" marB="38100" marR="47625" marL="47625">
                    <a:lnL cap="flat" cmpd="sng" w="9525">
                      <a:solidFill>
                        <a:srgbClr val="D6DAD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6DAD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DAD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DAD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Wing.Length</a:t>
                      </a:r>
                      <a:endParaRPr sz="1300">
                        <a:solidFill>
                          <a:schemeClr val="dk1"/>
                        </a:solidFill>
                        <a:highlight>
                          <a:srgbClr val="FFFFFF"/>
                        </a:highlight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38100" marB="38100" marR="47625" marL="47625">
                    <a:lnL cap="flat" cmpd="sng" w="9525">
                      <a:solidFill>
                        <a:srgbClr val="D6DAD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6DAD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DAD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DAD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186.7</a:t>
                      </a:r>
                      <a:endParaRPr sz="1300">
                        <a:solidFill>
                          <a:schemeClr val="dk1"/>
                        </a:solidFill>
                        <a:highlight>
                          <a:srgbClr val="FFFFFF"/>
                        </a:highlight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38100" marB="38100" marR="47625" marL="47625">
                    <a:lnL cap="flat" cmpd="sng" w="9525">
                      <a:solidFill>
                        <a:srgbClr val="D6DAD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6DAD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DAD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DAD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9075"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5</a:t>
                      </a:r>
                      <a:endParaRPr sz="1300">
                        <a:solidFill>
                          <a:schemeClr val="dk1"/>
                        </a:solidFill>
                        <a:highlight>
                          <a:srgbClr val="FFFFFF"/>
                        </a:highlight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38100" marB="38100" marR="47625" marL="476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6DAD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DAD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DAD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8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Accipiter bicolor</a:t>
                      </a:r>
                      <a:endParaRPr sz="1300">
                        <a:solidFill>
                          <a:schemeClr val="dk1"/>
                        </a:solidFill>
                        <a:highlight>
                          <a:srgbClr val="FFFFFF"/>
                        </a:highlight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38100" marB="38100" marR="47625" marL="47625">
                    <a:lnL cap="flat" cmpd="sng" w="9525">
                      <a:solidFill>
                        <a:srgbClr val="D6DAD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6DAD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DAD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DAD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Mass</a:t>
                      </a:r>
                      <a:endParaRPr sz="1300">
                        <a:solidFill>
                          <a:schemeClr val="dk1"/>
                        </a:solidFill>
                        <a:highlight>
                          <a:srgbClr val="FFFFFF"/>
                        </a:highlight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38100" marB="38100" marR="47625" marL="47625">
                    <a:lnL cap="flat" cmpd="sng" w="9525">
                      <a:solidFill>
                        <a:srgbClr val="D6DAD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6DAD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DAD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DAD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287.5</a:t>
                      </a:r>
                      <a:endParaRPr sz="1300">
                        <a:solidFill>
                          <a:schemeClr val="dk1"/>
                        </a:solidFill>
                        <a:highlight>
                          <a:srgbClr val="FFFFFF"/>
                        </a:highlight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38100" marB="38100" marR="47625" marL="47625">
                    <a:lnL cap="flat" cmpd="sng" w="9525">
                      <a:solidFill>
                        <a:srgbClr val="D6DAD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6DAD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DAD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DAD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9075"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6</a:t>
                      </a:r>
                      <a:endParaRPr sz="1300">
                        <a:solidFill>
                          <a:schemeClr val="dk1"/>
                        </a:solidFill>
                        <a:highlight>
                          <a:srgbClr val="FFFFFF"/>
                        </a:highlight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38100" marB="38100" marR="47625" marL="476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6DAD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DAD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DAD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8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Accipiter bicolor</a:t>
                      </a:r>
                      <a:endParaRPr sz="1300">
                        <a:solidFill>
                          <a:schemeClr val="dk1"/>
                        </a:solidFill>
                        <a:highlight>
                          <a:srgbClr val="FFFFFF"/>
                        </a:highlight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38100" marB="38100" marR="47625" marL="47625">
                    <a:lnL cap="flat" cmpd="sng" w="9525">
                      <a:solidFill>
                        <a:srgbClr val="D6DAD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6DAD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DAD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DAD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Wing.Length</a:t>
                      </a:r>
                      <a:endParaRPr sz="1300">
                        <a:solidFill>
                          <a:schemeClr val="dk1"/>
                        </a:solidFill>
                        <a:highlight>
                          <a:srgbClr val="FFFFFF"/>
                        </a:highlight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38100" marB="38100" marR="47625" marL="47625">
                    <a:lnL cap="flat" cmpd="sng" w="9525">
                      <a:solidFill>
                        <a:srgbClr val="D6DAD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6DAD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DAD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DAD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229.6</a:t>
                      </a:r>
                      <a:endParaRPr sz="1300">
                        <a:solidFill>
                          <a:schemeClr val="dk1"/>
                        </a:solidFill>
                        <a:highlight>
                          <a:srgbClr val="FFFFFF"/>
                        </a:highlight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38100" marB="38100" marR="47625" marL="47625">
                    <a:lnL cap="flat" cmpd="sng" w="9525">
                      <a:solidFill>
                        <a:srgbClr val="D6DAD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6DAD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DAD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DAD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3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 style</a:t>
            </a:r>
            <a:endParaRPr/>
          </a:p>
        </p:txBody>
      </p:sp>
      <p:sp>
        <p:nvSpPr>
          <p:cNvPr id="183" name="Google Shape;183;p31"/>
          <p:cNvSpPr txBox="1"/>
          <p:nvPr>
            <p:ph idx="1" type="body"/>
          </p:nvPr>
        </p:nvSpPr>
        <p:spPr>
          <a:xfrm>
            <a:off x="311700" y="1152475"/>
            <a:ext cx="8520600" cy="3062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Tidy data: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Every row is an observation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Every column is a variable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Each cell has a single value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This structure is intuitive and plays well with tidyverse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There may be multiple different “tidy” options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Getting your data into tidy format may require some work</a:t>
            </a:r>
            <a:endParaRPr/>
          </a:p>
        </p:txBody>
      </p:sp>
      <p:sp>
        <p:nvSpPr>
          <p:cNvPr id="184" name="Google Shape;184;p3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3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Converting between styles</a:t>
            </a:r>
            <a:endParaRPr/>
          </a:p>
        </p:txBody>
      </p:sp>
      <p:sp>
        <p:nvSpPr>
          <p:cNvPr id="190" name="Google Shape;190;p3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pivot_longer() # lengthens data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pivot_wider() # widens data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980000"/>
                </a:solidFill>
              </a:rPr>
              <a:t>Let’s grab some data to work with:</a:t>
            </a:r>
            <a:endParaRPr>
              <a:solidFill>
                <a:srgbClr val="980000"/>
              </a:solidFill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avo_wide &lt;- 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  avo |&gt;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9144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select(Species1, Mass, Wing.Length, Beak.Width, Beak.Length_Culmen)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>
                <a:solidFill>
                  <a:srgbClr val="980000"/>
                </a:solidFill>
              </a:rPr>
              <a:t>Inspect the avo_wide dataset. Is this tidy?</a:t>
            </a:r>
            <a:endParaRPr>
              <a:solidFill>
                <a:srgbClr val="980000"/>
              </a:solidFill>
            </a:endParaRPr>
          </a:p>
        </p:txBody>
      </p:sp>
      <p:sp>
        <p:nvSpPr>
          <p:cNvPr id="191" name="Google Shape;191;p3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3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Converting between styles</a:t>
            </a:r>
            <a:endParaRPr/>
          </a:p>
        </p:txBody>
      </p:sp>
      <p:sp>
        <p:nvSpPr>
          <p:cNvPr id="197" name="Google Shape;197;p3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Convert to long format: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avo_long &lt;-  </a:t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avo_wide |&gt;</a:t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pivot_longer(cols = Mass:Beak.Length_Culmen,</a:t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         names_to = "trait",</a:t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         values_to = "trait_value")</a:t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980000"/>
                </a:solidFill>
              </a:rPr>
              <a:t>How many lines are there per species?</a:t>
            </a:r>
            <a:endParaRPr>
              <a:solidFill>
                <a:srgbClr val="98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>
                <a:solidFill>
                  <a:srgbClr val="980000"/>
                </a:solidFill>
              </a:rPr>
              <a:t>How could we convert back to the original format?</a:t>
            </a:r>
            <a:endParaRPr>
              <a:solidFill>
                <a:srgbClr val="980000"/>
              </a:solidFill>
            </a:endParaRPr>
          </a:p>
        </p:txBody>
      </p:sp>
      <p:sp>
        <p:nvSpPr>
          <p:cNvPr id="198" name="Google Shape;198;p3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3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Converting between styles</a:t>
            </a:r>
            <a:endParaRPr/>
          </a:p>
        </p:txBody>
      </p:sp>
      <p:sp>
        <p:nvSpPr>
          <p:cNvPr id="204" name="Google Shape;204;p3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Convert to wide format: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avo_wide2 &lt;-</a:t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avo_long |&gt;</a:t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pivot_wider(id_cols = Species1,</a:t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        names_from = trait,</a:t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        values_from = trait_value)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>
                <a:solidFill>
                  <a:srgbClr val="980000"/>
                </a:solidFill>
              </a:rPr>
              <a:t>Does avo_wide2 contain the same thing as avo_wide?</a:t>
            </a:r>
            <a:endParaRPr>
              <a:solidFill>
                <a:srgbClr val="980000"/>
              </a:solidFill>
            </a:endParaRPr>
          </a:p>
        </p:txBody>
      </p:sp>
      <p:sp>
        <p:nvSpPr>
          <p:cNvPr id="205" name="Google Shape;205;p3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3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Pseudocode</a:t>
            </a:r>
            <a:endParaRPr/>
          </a:p>
        </p:txBody>
      </p:sp>
      <p:sp>
        <p:nvSpPr>
          <p:cNvPr id="211" name="Google Shape;211;p3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A powerful coding technique that works with </a:t>
            </a:r>
            <a:r>
              <a:rPr b="1" lang="en"/>
              <a:t>any</a:t>
            </a:r>
            <a:r>
              <a:rPr lang="en"/>
              <a:t> code language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Informal, high-level description of an other algorithm.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Uses the structural conventions of programming language, but is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Intended for human reading rather than machine reading.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Very helpful when your code gets more complicated!</a:t>
            </a:r>
            <a:endParaRPr/>
          </a:p>
        </p:txBody>
      </p:sp>
      <p:sp>
        <p:nvSpPr>
          <p:cNvPr id="212" name="Google Shape;212;p3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3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Pseudocode</a:t>
            </a:r>
            <a:endParaRPr/>
          </a:p>
        </p:txBody>
      </p:sp>
      <p:sp>
        <p:nvSpPr>
          <p:cNvPr id="218" name="Google Shape;218;p3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Essentially, you write out each code step of your workflow before writing the code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Forces you to think about the whole algorithm/approach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Pseudocode can be added as comments to a new file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Then you just have to figure out how to address each step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Breaks down workflows into Google-able chunks</a:t>
            </a:r>
            <a:endParaRPr/>
          </a:p>
        </p:txBody>
      </p:sp>
      <p:sp>
        <p:nvSpPr>
          <p:cNvPr id="219" name="Google Shape;219;p3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3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Pseudocode</a:t>
            </a:r>
            <a:endParaRPr/>
          </a:p>
        </p:txBody>
      </p:sp>
      <p:sp>
        <p:nvSpPr>
          <p:cNvPr id="225" name="Google Shape;225;p3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Say we wanted to identify largest, mass-corrected, difference in beak lengths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Our pseudocode might be: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# Calculate difference in beak lengths (culmen vs nares)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# Divide difference by body mass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# Identify largest mass-corrected difference in beak lengths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26" name="Google Shape;226;p3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3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Pseudocode</a:t>
            </a:r>
            <a:endParaRPr/>
          </a:p>
        </p:txBody>
      </p:sp>
      <p:sp>
        <p:nvSpPr>
          <p:cNvPr id="232" name="Google Shape;232;p3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Then we fill in the code: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rgbClr val="980000"/>
                </a:solidFill>
              </a:rPr>
              <a:t>avo |&gt;</a:t>
            </a:r>
            <a:endParaRPr>
              <a:solidFill>
                <a:srgbClr val="98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# Calculate difference in beak lengths (culmen vs nares)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rgbClr val="980000"/>
                </a:solidFill>
              </a:rPr>
              <a:t>  mutate(delta_beak_length = Beak.Length_Culmen - Beak.Length_Nares) |&gt;</a:t>
            </a:r>
            <a:endParaRPr>
              <a:solidFill>
                <a:srgbClr val="98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# Divide difference by body mass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rgbClr val="980000"/>
                </a:solidFill>
              </a:rPr>
              <a:t>  mutate(mass_corrected_delta_beak_length = delta_beak_length / Mass) |&gt;</a:t>
            </a:r>
            <a:endParaRPr>
              <a:solidFill>
                <a:srgbClr val="98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# Identify largest mass-corrected difference in beak lengths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 </a:t>
            </a:r>
            <a:r>
              <a:rPr lang="en">
                <a:solidFill>
                  <a:srgbClr val="980000"/>
                </a:solidFill>
              </a:rPr>
              <a:t> slice_max(order_by = mass_corrected_delta_beak_length,</a:t>
            </a:r>
            <a:endParaRPr>
              <a:solidFill>
                <a:srgbClr val="98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rgbClr val="980000"/>
                </a:solidFill>
              </a:rPr>
              <a:t>            	     n = 1) |&gt;</a:t>
            </a:r>
            <a:endParaRPr>
              <a:solidFill>
                <a:srgbClr val="98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980000"/>
                </a:solidFill>
              </a:rPr>
              <a:t>    select(Species1, mass_corrected_delta_beak_length)</a:t>
            </a:r>
            <a:endParaRPr>
              <a:solidFill>
                <a:srgbClr val="98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33" name="Google Shape;233;p3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3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Comments</a:t>
            </a:r>
            <a:endParaRPr/>
          </a:p>
        </p:txBody>
      </p:sp>
      <p:sp>
        <p:nvSpPr>
          <p:cNvPr id="239" name="Google Shape;239;p3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We’ve been using comments for a while now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You can use them to “turn off” bits of code temporarily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Can also make useful </a:t>
            </a:r>
            <a:r>
              <a:rPr lang="en"/>
              <a:t>notes</a:t>
            </a:r>
            <a:r>
              <a:rPr lang="en"/>
              <a:t> on your code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One of the most important things to remember to note is “why”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Why did you make a particular decision in your code?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Why did you use one package and not another?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Why did you exclude some data?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240" name="Google Shape;240;p3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4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Comments</a:t>
            </a:r>
            <a:endParaRPr/>
          </a:p>
        </p:txBody>
      </p:sp>
      <p:sp>
        <p:nvSpPr>
          <p:cNvPr id="246" name="Google Shape;246;p4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Well-commented code is super helpful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Makes it easier for others to use it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Makes it easier for you to find parts to change it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Makes it easier to write a “Methods” section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I often start by transcribing my comments and then cleaning up the text a bit</a:t>
            </a:r>
            <a:endParaRPr/>
          </a:p>
        </p:txBody>
      </p:sp>
      <p:sp>
        <p:nvSpPr>
          <p:cNvPr id="247" name="Google Shape;247;p4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4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Combined use of comments and pseudocode</a:t>
            </a:r>
            <a:endParaRPr/>
          </a:p>
        </p:txBody>
      </p:sp>
      <p:sp>
        <p:nvSpPr>
          <p:cNvPr id="253" name="Google Shape;253;p4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Here’s what I often do: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AutoNum type="arabicParenR"/>
            </a:pPr>
            <a:r>
              <a:rPr lang="en"/>
              <a:t>Start a new R script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arenR"/>
            </a:pPr>
            <a:r>
              <a:rPr lang="en"/>
              <a:t>Add comments documenting what the file is for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arenR"/>
            </a:pPr>
            <a:r>
              <a:rPr lang="en"/>
              <a:t>Add in pseudocode of the intended workflow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arenR"/>
            </a:pPr>
            <a:r>
              <a:rPr lang="en"/>
              <a:t>Write out your full workflow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AutoNum type="alphaLcParenR"/>
            </a:pPr>
            <a:r>
              <a:rPr lang="en"/>
              <a:t>Add comments where needed to clarify decisions you made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arenR"/>
            </a:pPr>
            <a:r>
              <a:rPr lang="en"/>
              <a:t>Run the workflow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arenR"/>
            </a:pPr>
            <a:r>
              <a:rPr lang="en"/>
              <a:t>Use the comments to write the methods section of the paper</a:t>
            </a:r>
            <a:endParaRPr/>
          </a:p>
        </p:txBody>
      </p:sp>
      <p:sp>
        <p:nvSpPr>
          <p:cNvPr id="254" name="Google Shape;254;p4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42"/>
          <p:cNvSpPr txBox="1"/>
          <p:nvPr>
            <p:ph idx="1" type="body"/>
          </p:nvPr>
        </p:nvSpPr>
        <p:spPr>
          <a:xfrm>
            <a:off x="311700" y="390475"/>
            <a:ext cx="8520600" cy="4178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Before next class:</a:t>
            </a:r>
            <a:endParaRPr b="1"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Read “R for Data Science” chapter 1: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 u="sng">
                <a:solidFill>
                  <a:schemeClr val="hlink"/>
                </a:solidFill>
                <a:hlinkClick r:id="rId3"/>
              </a:rPr>
              <a:t>https://r4ds.hadley.nz/data-visualize.html</a:t>
            </a:r>
            <a:r>
              <a:rPr lang="en"/>
              <a:t> 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May be a quiz</a:t>
            </a:r>
            <a:endParaRPr/>
          </a:p>
        </p:txBody>
      </p:sp>
      <p:sp>
        <p:nvSpPr>
          <p:cNvPr id="260" name="Google Shape;260;p4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